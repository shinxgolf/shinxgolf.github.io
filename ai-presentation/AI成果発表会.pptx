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今回の発表のように、課題を見つけ、AIで解決し、その土台として自分の情報を貯めていく。この3つを続けてほしい。特に3つ目のコンテキストを貯めることは全員にやってほしい。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今回のように、どのような課題があるかを常に考え続けることが大事。日々どんなことで困っているか、他の人がどんなことで困っているか、どんな課題を解決すればいいかを常に考えておく。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見つけた課題について、何か解決できる方法があるかを常にAIと対話し続けることが重要。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つ目は全員やっておいた方がいい。今後AIがどれだけ発展しても、自分自身の一次情報を貯めておかないと宝の持ち腐れになりやすい。今のAIはどんな大学にも簡単に入学できるぐらいの頭がある。ただ、知らない人が付くよりも、自分の親兄弟や親友のように自分のことをずっと知っている人が頭が良くなった方が、提案自体は良く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コンテキストを貯めるのに理想は動画。自分が何を見て何を感じたかを音声と動画で残しておくと、例えば何月何日にどこそこのゴルフショップを30秒見ていた、ゴルフに興味があるので講師を探しますか、どこどこの会社の役員がプロとつながっているのでそちらに依頼するといい、といった提案ができる。ただしそれにはしっかりとしたデータが載っていないといけ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動画で残すのは難しいので音声データがいい。データが小さい。デスクトップにフォルダを作って、そこにコンテキストをどんどん貯めていく。細かな要約は不要。自分の音声データの文字起こしをテキストファイルとして一つのフォルダにまとめておく。商談の音声データや文字起こしも、許可されていれば入れる。また、一つのAIにどんどん質問しまくる。後々そのAIからコンテキスト部分だけを抜き出せるので、自分のコンテキストを取り出すのに向いている。見積もりの作り方、提案の際に注意していること、プロジェクトで重要だと思っていること、プライベートなことなどをまとめておけば、どんなAIが出てきてもそのコンテキストを載せるだけで自分のAIにな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今後のAI推進チームについては、まだ細かなところを詰め切れていないので、役員に相談しながら決めていく。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77240" y="6355080"/>
            <a:ext cx="10637215" cy="0"/>
          </a:xfrm>
          <a:prstGeom prst="line">
            <a:avLst/>
          </a:prstGeom>
          <a:noFill/>
          <a:ln w="9525">
            <a:solidFill>
              <a:srgbClr val="D3D7DE"/>
            </a:solidFill>
            <a:prstDash val="solid"/>
          </a:ln>
        </p:spPr>
      </p:sp>
      <p:sp>
        <p:nvSpPr>
          <p:cNvPr id="3" name="Text 1"/>
          <p:cNvSpPr/>
          <p:nvPr/>
        </p:nvSpPr>
        <p:spPr>
          <a:xfrm>
            <a:off x="777240" y="6400800"/>
            <a:ext cx="5486400" cy="274320"/>
          </a:xfrm>
          <a:prstGeom prst="rect">
            <a:avLst/>
          </a:prstGeom>
          <a:noFill/>
          <a:ln/>
        </p:spPr>
        <p:txBody>
          <a:bodyPr wrap="square" lIns="0" tIns="0" rIns="0" bIns="0" rtlCol="0" anchor="ctr"/>
          <a:lstStyle/>
          <a:p>
            <a:pPr indent="0" marL="0">
              <a:buNone/>
            </a:pPr>
            <a:r>
              <a:rPr lang="en-US" sz="950" dirty="0">
                <a:solidFill>
                  <a:srgbClr val="6B7180"/>
                </a:solidFill>
                <a:latin typeface="BIZ UDPGothic" pitchFamily="34" charset="0"/>
                <a:ea typeface="BIZ UDPGothic" pitchFamily="34" charset="-122"/>
                <a:cs typeface="BIZ UDPGothic" pitchFamily="34" charset="-120"/>
              </a:rPr>
              <a:t>AI成果発表会  ／  AI推進</a:t>
            </a:r>
            <a:endParaRPr lang="en-US" sz="95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22252E"/>
                </a:solidFill>
                <a:latin typeface="Cambria"/>
                <a:ea typeface="Cambria"/>
                <a:cs typeface="Cambria"/>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5181C"/>
        </a:solidFill>
      </p:bgPr>
    </p:bg>
    <p:spTree>
      <p:nvGrpSpPr>
        <p:cNvPr id="1" name=""/>
        <p:cNvGrpSpPr/>
        <p:nvPr/>
      </p:nvGrpSpPr>
      <p:grpSpPr>
        <a:xfrm>
          <a:off x="0" y="0"/>
          <a:ext cx="0" cy="0"/>
          <a:chOff x="0" y="0"/>
          <a:chExt cx="0" cy="0"/>
        </a:xfrm>
      </p:grpSpPr>
      <p:sp>
        <p:nvSpPr>
          <p:cNvPr id="2" name="Shape 0"/>
          <p:cNvSpPr/>
          <p:nvPr/>
        </p:nvSpPr>
        <p:spPr>
          <a:xfrm>
            <a:off x="777240" y="6355080"/>
            <a:ext cx="10637215" cy="0"/>
          </a:xfrm>
          <a:prstGeom prst="line">
            <a:avLst/>
          </a:prstGeom>
          <a:noFill/>
          <a:ln w="9525">
            <a:solidFill>
              <a:srgbClr val="3A404A"/>
            </a:solidFill>
            <a:prstDash val="solid"/>
          </a:ln>
        </p:spPr>
      </p:sp>
      <p:sp>
        <p:nvSpPr>
          <p:cNvPr id="3" name="Text 1"/>
          <p:cNvSpPr/>
          <p:nvPr/>
        </p:nvSpPr>
        <p:spPr>
          <a:xfrm>
            <a:off x="777240" y="6400800"/>
            <a:ext cx="5486400" cy="274320"/>
          </a:xfrm>
          <a:prstGeom prst="rect">
            <a:avLst/>
          </a:prstGeom>
          <a:noFill/>
          <a:ln/>
        </p:spPr>
        <p:txBody>
          <a:bodyPr wrap="square" lIns="0" tIns="0" rIns="0" bIns="0" rtlCol="0" anchor="ctr"/>
          <a:lstStyle/>
          <a:p>
            <a:pPr indent="0" marL="0">
              <a:buNone/>
            </a:pPr>
            <a:r>
              <a:rPr lang="en-US" sz="950" dirty="0">
                <a:solidFill>
                  <a:srgbClr val="9AA1AD"/>
                </a:solidFill>
                <a:latin typeface="BIZ UDPGothic" pitchFamily="34" charset="0"/>
                <a:ea typeface="BIZ UDPGothic" pitchFamily="34" charset="-122"/>
                <a:cs typeface="BIZ UDPGothic" pitchFamily="34" charset="-120"/>
              </a:rPr>
              <a:t>AI成果発表会  ／  AI推進</a:t>
            </a:r>
            <a:endParaRPr lang="en-US" sz="95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FFFF"/>
                </a:solidFill>
                <a:latin typeface="Cambria"/>
                <a:ea typeface="Cambria"/>
                <a:cs typeface="Cambria"/>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22252E"/>
                </a:solidFill>
                <a:latin typeface="Cambria"/>
                <a:ea typeface="Cambria"/>
                <a:cs typeface="Cambria"/>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85800" y="-228600"/>
            <a:ext cx="7315200" cy="3291840"/>
          </a:xfrm>
          <a:prstGeom prst="rect">
            <a:avLst/>
          </a:prstGeom>
          <a:noFill/>
          <a:ln/>
        </p:spPr>
        <p:txBody>
          <a:bodyPr wrap="square" lIns="0" tIns="0" rIns="0" bIns="0" rtlCol="0" anchor="t"/>
          <a:lstStyle/>
          <a:p>
            <a:pPr indent="0" marL="0">
              <a:buNone/>
            </a:pPr>
            <a:r>
              <a:rPr lang="en-US" sz="25000" b="1" dirty="0">
                <a:solidFill>
                  <a:srgbClr val="2A2F36"/>
                </a:solidFill>
                <a:latin typeface="Cambria" pitchFamily="34" charset="0"/>
                <a:ea typeface="Cambria" pitchFamily="34" charset="-122"/>
                <a:cs typeface="Cambria" pitchFamily="34" charset="-120"/>
              </a:rPr>
              <a:t>AI</a:t>
            </a:r>
            <a:endParaRPr lang="en-US" sz="25000" dirty="0"/>
          </a:p>
        </p:txBody>
      </p:sp>
      <p:sp>
        <p:nvSpPr>
          <p:cNvPr id="3" name="Text 1"/>
          <p:cNvSpPr txBox="1"/>
          <p:nvPr/>
        </p:nvSpPr>
        <p:spPr>
          <a:xfrm>
            <a:off x="777240" y="2514600"/>
            <a:ext cx="8229600" cy="292608"/>
          </a:xfrm>
          <a:prstGeom prst="rect">
            <a:avLst/>
          </a:prstGeom>
          <a:noFill/>
          <a:ln/>
        </p:spPr>
        <p:txBody>
          <a:bodyPr wrap="square" lIns="0" tIns="0" rIns="0" bIns="0" rtlCol="0" anchor="t"/>
          <a:lstStyle/>
          <a:p>
            <a:pPr indent="0" marL="0">
              <a:buNone/>
            </a:pPr>
            <a:r>
              <a:rPr lang="en-US" sz="1300" b="1" i="1" spc="200" kern="0" dirty="0">
                <a:solidFill>
                  <a:srgbClr val="7FD1CC"/>
                </a:solidFill>
                <a:latin typeface="Cambria" pitchFamily="34" charset="0"/>
                <a:ea typeface="Cambria" pitchFamily="34" charset="-122"/>
                <a:cs typeface="Cambria" pitchFamily="34" charset="-120"/>
              </a:rPr>
              <a:t>AI SHOWCASE  —  WHAT WE BUILT</a:t>
            </a:r>
            <a:endParaRPr lang="en-US" sz="1300" dirty="0"/>
          </a:p>
        </p:txBody>
      </p:sp>
      <p:sp>
        <p:nvSpPr>
          <p:cNvPr id="4" name="Text 2"/>
          <p:cNvSpPr txBox="1"/>
          <p:nvPr/>
        </p:nvSpPr>
        <p:spPr>
          <a:xfrm>
            <a:off x="777240" y="2880360"/>
            <a:ext cx="9144000" cy="1097280"/>
          </a:xfrm>
          <a:prstGeom prst="rect">
            <a:avLst/>
          </a:prstGeom>
          <a:noFill/>
          <a:ln/>
        </p:spPr>
        <p:txBody>
          <a:bodyPr wrap="square" lIns="0" tIns="0" rIns="0" bIns="0" rtlCol="0" anchor="t"/>
          <a:lstStyle/>
          <a:p>
            <a:pPr indent="0" marL="0">
              <a:buNone/>
            </a:pPr>
            <a:r>
              <a:rPr lang="en-US" sz="6000" b="1" dirty="0">
                <a:solidFill>
                  <a:srgbClr val="FFFFFF"/>
                </a:solidFill>
                <a:latin typeface="BIZ UDPGothic" pitchFamily="34" charset="0"/>
                <a:ea typeface="BIZ UDPGothic" pitchFamily="34" charset="-122"/>
                <a:cs typeface="BIZ UDPGothic" pitchFamily="34" charset="-120"/>
              </a:rPr>
              <a:t>AI成果発表会</a:t>
            </a:r>
            <a:endParaRPr lang="en-US" sz="6000" dirty="0"/>
          </a:p>
        </p:txBody>
      </p:sp>
      <p:sp>
        <p:nvSpPr>
          <p:cNvPr id="5" name="Shape 3"/>
          <p:cNvSpPr/>
          <p:nvPr/>
        </p:nvSpPr>
        <p:spPr>
          <a:xfrm>
            <a:off x="777240" y="4041648"/>
            <a:ext cx="2011680" cy="54864"/>
          </a:xfrm>
          <a:prstGeom prst="rect">
            <a:avLst/>
          </a:prstGeom>
          <a:solidFill>
            <a:srgbClr val="0E8C88"/>
          </a:solidFill>
          <a:ln/>
        </p:spPr>
      </p:sp>
      <p:sp>
        <p:nvSpPr>
          <p:cNvPr id="6" name="Text 4"/>
          <p:cNvSpPr txBox="1"/>
          <p:nvPr/>
        </p:nvSpPr>
        <p:spPr>
          <a:xfrm>
            <a:off x="777240" y="4297680"/>
            <a:ext cx="9144000" cy="457200"/>
          </a:xfrm>
          <a:prstGeom prst="rect">
            <a:avLst/>
          </a:prstGeom>
          <a:noFill/>
          <a:ln/>
        </p:spPr>
        <p:txBody>
          <a:bodyPr wrap="square" lIns="0" tIns="0" rIns="0" bIns="0" rtlCol="0" anchor="t"/>
          <a:lstStyle/>
          <a:p>
            <a:pPr indent="0" marL="0">
              <a:buNone/>
            </a:pPr>
            <a:r>
              <a:rPr lang="en-US" sz="2000" dirty="0">
                <a:solidFill>
                  <a:srgbClr val="D7DBE1"/>
                </a:solidFill>
                <a:latin typeface="BIZ UDPGothic" pitchFamily="34" charset="0"/>
                <a:ea typeface="BIZ UDPGothic" pitchFamily="34" charset="-122"/>
                <a:cs typeface="BIZ UDPGothic" pitchFamily="34" charset="-120"/>
              </a:rPr>
              <a:t>つくったもの、そこにあった課題、これからのこと</a:t>
            </a:r>
            <a:endParaRPr lang="en-US" sz="2000" dirty="0"/>
          </a:p>
        </p:txBody>
      </p:sp>
      <p:sp>
        <p:nvSpPr>
          <p:cNvPr id="7" name="Text 5"/>
          <p:cNvSpPr txBox="1"/>
          <p:nvPr/>
        </p:nvSpPr>
        <p:spPr>
          <a:xfrm>
            <a:off x="777240" y="5120640"/>
            <a:ext cx="7315200" cy="731520"/>
          </a:xfrm>
          <a:prstGeom prst="rect">
            <a:avLst/>
          </a:prstGeom>
          <a:noFill/>
          <a:ln/>
        </p:spPr>
        <p:txBody>
          <a:bodyPr wrap="square" lIns="0" tIns="0" rIns="0" bIns="0" rtlCol="0" anchor="t"/>
          <a:lstStyle/>
          <a:p>
            <a:pPr indent="0" marL="0">
              <a:spcAft>
                <a:spcPts val="400"/>
              </a:spcAft>
              <a:buNone/>
            </a:pPr>
            <a:r>
              <a:rPr lang="en-US" sz="1400" dirty="0">
                <a:solidFill>
                  <a:srgbClr val="9AA1AD"/>
                </a:solidFill>
                <a:latin typeface="BIZ UDPGothic" pitchFamily="34" charset="0"/>
                <a:ea typeface="BIZ UDPGothic" pitchFamily="34" charset="-122"/>
                <a:cs typeface="BIZ UDPGothic" pitchFamily="34" charset="-120"/>
              </a:rPr>
              <a:t>日時　</a:t>
            </a:r>
            <a:pPr indent="0" marL="0">
              <a:spcAft>
                <a:spcPts val="400"/>
              </a:spcAft>
              <a:buNone/>
            </a:pPr>
            <a:r>
              <a:rPr lang="en-US" sz="1400" dirty="0">
                <a:solidFill>
                  <a:srgbClr val="7FD1CC"/>
                </a:solidFill>
                <a:latin typeface="BIZ UDPGothic" pitchFamily="34" charset="0"/>
                <a:ea typeface="BIZ UDPGothic" pitchFamily="34" charset="-122"/>
                <a:cs typeface="BIZ UDPGothic" pitchFamily="34" charset="-120"/>
              </a:rPr>
              <a:t>20XX年 ○月 ○日（○）</a:t>
            </a:r>
            <a:endParaRPr lang="en-US" sz="1400" dirty="0"/>
          </a:p>
          <a:p>
            <a:pPr indent="0" marL="0">
              <a:spcAft>
                <a:spcPts val="400"/>
              </a:spcAft>
              <a:buNone/>
            </a:pPr>
            <a:r>
              <a:rPr lang="en-US" sz="1400" dirty="0">
                <a:solidFill>
                  <a:srgbClr val="9AA1AD"/>
                </a:solidFill>
                <a:latin typeface="BIZ UDPGothic" pitchFamily="34" charset="0"/>
                <a:ea typeface="BIZ UDPGothic" pitchFamily="34" charset="-122"/>
                <a:cs typeface="BIZ UDPGothic" pitchFamily="34" charset="-120"/>
              </a:rPr>
              <a:t>主催　</a:t>
            </a:r>
            <a:pPr indent="0" marL="0">
              <a:spcAft>
                <a:spcPts val="400"/>
              </a:spcAft>
              <a:buNone/>
            </a:pPr>
            <a:r>
              <a:rPr lang="en-US" sz="1400" dirty="0">
                <a:solidFill>
                  <a:srgbClr val="D7DBE1"/>
                </a:solidFill>
                <a:latin typeface="BIZ UDPGothic" pitchFamily="34" charset="0"/>
                <a:ea typeface="BIZ UDPGothic" pitchFamily="34" charset="-122"/>
                <a:cs typeface="BIZ UDPGothic" pitchFamily="34" charset="-120"/>
              </a:rPr>
              <a:t>AI推進担当</a:t>
            </a:r>
            <a:endParaRPr lang="en-US" sz="14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FFFF"/>
                </a:solidFill>
                <a:latin typeface="Cambria"/>
                <a:ea typeface="Cambria"/>
                <a:cs typeface="Cambria"/>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0E8C88"/>
                </a:solidFill>
                <a:latin typeface="Cambria" pitchFamily="34" charset="0"/>
                <a:ea typeface="Cambria" pitchFamily="34" charset="-122"/>
                <a:cs typeface="Cambria" pitchFamily="34" charset="-120"/>
              </a:rPr>
              <a:t>TODAY'S AGENDA</a:t>
            </a:r>
            <a:endParaRPr lang="en-US" sz="1300" dirty="0"/>
          </a:p>
        </p:txBody>
      </p:sp>
      <p:sp>
        <p:nvSpPr>
          <p:cNvPr id="3" name="Text 1"/>
          <p:cNvSpPr txBox="1"/>
          <p:nvPr/>
        </p:nvSpPr>
        <p:spPr>
          <a:xfrm>
            <a:off x="777240" y="896112"/>
            <a:ext cx="10637215" cy="685800"/>
          </a:xfrm>
          <a:prstGeom prst="rect">
            <a:avLst/>
          </a:prstGeom>
          <a:noFill/>
          <a:ln/>
        </p:spPr>
        <p:txBody>
          <a:bodyPr wrap="square" lIns="0" tIns="0" rIns="0" bIns="0" rtlCol="0" anchor="t"/>
          <a:lstStyle/>
          <a:p>
            <a:pPr indent="0" marL="0">
              <a:buNone/>
            </a:pPr>
            <a:r>
              <a:rPr lang="en-US" sz="3200" b="1" dirty="0">
                <a:solidFill>
                  <a:srgbClr val="22252E"/>
                </a:solidFill>
                <a:latin typeface="BIZ UDPGothic" pitchFamily="34" charset="0"/>
                <a:ea typeface="BIZ UDPGothic" pitchFamily="34" charset="-122"/>
                <a:cs typeface="BIZ UDPGothic" pitchFamily="34" charset="-120"/>
              </a:rPr>
              <a:t>本日の流れ</a:t>
            </a:r>
            <a:endParaRPr lang="en-US" sz="3200" dirty="0"/>
          </a:p>
        </p:txBody>
      </p:sp>
      <p:sp>
        <p:nvSpPr>
          <p:cNvPr id="4" name="Shape 2"/>
          <p:cNvSpPr/>
          <p:nvPr/>
        </p:nvSpPr>
        <p:spPr>
          <a:xfrm>
            <a:off x="777240" y="1965960"/>
            <a:ext cx="10637215" cy="0"/>
          </a:xfrm>
          <a:prstGeom prst="line">
            <a:avLst/>
          </a:prstGeom>
          <a:noFill/>
          <a:ln w="12700">
            <a:solidFill>
              <a:srgbClr val="22252E"/>
            </a:solidFill>
            <a:prstDash val="solid"/>
          </a:ln>
        </p:spPr>
      </p:sp>
      <p:sp>
        <p:nvSpPr>
          <p:cNvPr id="5" name="Text 3"/>
          <p:cNvSpPr txBox="1"/>
          <p:nvPr/>
        </p:nvSpPr>
        <p:spPr>
          <a:xfrm>
            <a:off x="777240" y="2075688"/>
            <a:ext cx="1097280" cy="731520"/>
          </a:xfrm>
          <a:prstGeom prst="rect">
            <a:avLst/>
          </a:prstGeom>
          <a:noFill/>
          <a:ln/>
        </p:spPr>
        <p:txBody>
          <a:bodyPr wrap="square" lIns="0" tIns="0" rIns="0" bIns="0" rtlCol="0" anchor="t"/>
          <a:lstStyle/>
          <a:p>
            <a:pPr indent="0" marL="0">
              <a:buNone/>
            </a:pPr>
            <a:r>
              <a:rPr lang="en-US" sz="4000" b="1" dirty="0">
                <a:solidFill>
                  <a:srgbClr val="B8BEC8"/>
                </a:solidFill>
                <a:latin typeface="Cambria" pitchFamily="34" charset="0"/>
                <a:ea typeface="Cambria" pitchFamily="34" charset="-122"/>
                <a:cs typeface="Cambria" pitchFamily="34" charset="-120"/>
              </a:rPr>
              <a:t>01</a:t>
            </a:r>
            <a:endParaRPr lang="en-US" sz="4000" dirty="0"/>
          </a:p>
        </p:txBody>
      </p:sp>
      <p:sp>
        <p:nvSpPr>
          <p:cNvPr id="6" name="Text 4"/>
          <p:cNvSpPr txBox="1"/>
          <p:nvPr/>
        </p:nvSpPr>
        <p:spPr>
          <a:xfrm>
            <a:off x="2148840" y="2167128"/>
            <a:ext cx="5029200" cy="41148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開会・趣旨説明</a:t>
            </a:r>
            <a:endParaRPr lang="en-US" sz="2200" dirty="0"/>
          </a:p>
        </p:txBody>
      </p:sp>
      <p:sp>
        <p:nvSpPr>
          <p:cNvPr id="7" name="Text 5"/>
          <p:cNvSpPr txBox="1"/>
          <p:nvPr/>
        </p:nvSpPr>
        <p:spPr>
          <a:xfrm>
            <a:off x="2148840" y="2551176"/>
            <a:ext cx="5486400" cy="274320"/>
          </a:xfrm>
          <a:prstGeom prst="rect">
            <a:avLst/>
          </a:prstGeom>
          <a:noFill/>
          <a:ln/>
        </p:spPr>
        <p:txBody>
          <a:bodyPr wrap="square" lIns="0" tIns="0" rIns="0" bIns="0" rtlCol="0" anchor="t"/>
          <a:lstStyle/>
          <a:p>
            <a:pPr indent="0" marL="0">
              <a:buNone/>
            </a:pPr>
            <a:r>
              <a:rPr lang="en-US" sz="1300" dirty="0">
                <a:solidFill>
                  <a:srgbClr val="6B7180"/>
                </a:solidFill>
                <a:latin typeface="BIZ UDPGothic" pitchFamily="34" charset="0"/>
                <a:ea typeface="BIZ UDPGothic" pitchFamily="34" charset="-122"/>
                <a:cs typeface="BIZ UDPGothic" pitchFamily="34" charset="-120"/>
              </a:rPr>
              <a:t>本日の目的と進め方</a:t>
            </a:r>
            <a:endParaRPr lang="en-US" sz="1300" dirty="0"/>
          </a:p>
        </p:txBody>
      </p:sp>
      <p:sp>
        <p:nvSpPr>
          <p:cNvPr id="8" name="Text 6"/>
          <p:cNvSpPr txBox="1"/>
          <p:nvPr/>
        </p:nvSpPr>
        <p:spPr>
          <a:xfrm>
            <a:off x="9128455" y="2240280"/>
            <a:ext cx="2286000" cy="411480"/>
          </a:xfrm>
          <a:prstGeom prst="rect">
            <a:avLst/>
          </a:prstGeom>
          <a:noFill/>
          <a:ln/>
        </p:spPr>
        <p:txBody>
          <a:bodyPr wrap="square" lIns="0" tIns="0" rIns="0" bIns="0" rtlCol="0" anchor="t"/>
          <a:lstStyle/>
          <a:p>
            <a:pPr algn="r" indent="0" marL="0">
              <a:buNone/>
            </a:pPr>
            <a:r>
              <a:rPr lang="en-US" sz="1800" b="1" dirty="0">
                <a:solidFill>
                  <a:srgbClr val="22252E"/>
                </a:solidFill>
                <a:latin typeface="BIZ UDPGothic" pitchFamily="34" charset="0"/>
                <a:ea typeface="BIZ UDPGothic" pitchFamily="34" charset="-122"/>
                <a:cs typeface="BIZ UDPGothic" pitchFamily="34" charset="-120"/>
              </a:rPr>
              <a:t>5分</a:t>
            </a:r>
            <a:endParaRPr lang="en-US" sz="1800" dirty="0"/>
          </a:p>
        </p:txBody>
      </p:sp>
      <p:sp>
        <p:nvSpPr>
          <p:cNvPr id="9" name="Shape 7"/>
          <p:cNvSpPr/>
          <p:nvPr/>
        </p:nvSpPr>
        <p:spPr>
          <a:xfrm>
            <a:off x="777240" y="2926080"/>
            <a:ext cx="10637215" cy="0"/>
          </a:xfrm>
          <a:prstGeom prst="line">
            <a:avLst/>
          </a:prstGeom>
          <a:noFill/>
          <a:ln w="9525">
            <a:solidFill>
              <a:srgbClr val="D3D7DE"/>
            </a:solidFill>
            <a:prstDash val="solid"/>
          </a:ln>
        </p:spPr>
      </p:sp>
      <p:sp>
        <p:nvSpPr>
          <p:cNvPr id="10" name="Text 8"/>
          <p:cNvSpPr txBox="1"/>
          <p:nvPr/>
        </p:nvSpPr>
        <p:spPr>
          <a:xfrm>
            <a:off x="777240" y="3035808"/>
            <a:ext cx="1097280" cy="731520"/>
          </a:xfrm>
          <a:prstGeom prst="rect">
            <a:avLst/>
          </a:prstGeom>
          <a:noFill/>
          <a:ln/>
        </p:spPr>
        <p:txBody>
          <a:bodyPr wrap="square" lIns="0" tIns="0" rIns="0" bIns="0" rtlCol="0" anchor="t"/>
          <a:lstStyle/>
          <a:p>
            <a:pPr indent="0" marL="0">
              <a:buNone/>
            </a:pPr>
            <a:r>
              <a:rPr lang="en-US" sz="4000" b="1" dirty="0">
                <a:solidFill>
                  <a:srgbClr val="0E8C88"/>
                </a:solidFill>
                <a:latin typeface="Cambria" pitchFamily="34" charset="0"/>
                <a:ea typeface="Cambria" pitchFamily="34" charset="-122"/>
                <a:cs typeface="Cambria" pitchFamily="34" charset="-120"/>
              </a:rPr>
              <a:t>02</a:t>
            </a:r>
            <a:endParaRPr lang="en-US" sz="4000" dirty="0"/>
          </a:p>
        </p:txBody>
      </p:sp>
      <p:sp>
        <p:nvSpPr>
          <p:cNvPr id="11" name="Text 9"/>
          <p:cNvSpPr txBox="1"/>
          <p:nvPr/>
        </p:nvSpPr>
        <p:spPr>
          <a:xfrm>
            <a:off x="2148840" y="3127248"/>
            <a:ext cx="5029200" cy="41148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成果発表</a:t>
            </a:r>
            <a:endParaRPr lang="en-US" sz="2200" dirty="0"/>
          </a:p>
        </p:txBody>
      </p:sp>
      <p:sp>
        <p:nvSpPr>
          <p:cNvPr id="12" name="Text 10"/>
          <p:cNvSpPr txBox="1"/>
          <p:nvPr/>
        </p:nvSpPr>
        <p:spPr>
          <a:xfrm>
            <a:off x="2148840" y="3511296"/>
            <a:ext cx="5486400" cy="274320"/>
          </a:xfrm>
          <a:prstGeom prst="rect">
            <a:avLst/>
          </a:prstGeom>
          <a:noFill/>
          <a:ln/>
        </p:spPr>
        <p:txBody>
          <a:bodyPr wrap="square" lIns="0" tIns="0" rIns="0" bIns="0" rtlCol="0" anchor="t"/>
          <a:lstStyle/>
          <a:p>
            <a:pPr indent="0" marL="0">
              <a:buNone/>
            </a:pPr>
            <a:r>
              <a:rPr lang="en-US" sz="1300" dirty="0">
                <a:solidFill>
                  <a:srgbClr val="6B7180"/>
                </a:solidFill>
                <a:latin typeface="BIZ UDPGothic" pitchFamily="34" charset="0"/>
                <a:ea typeface="BIZ UDPGothic" pitchFamily="34" charset="-122"/>
                <a:cs typeface="BIZ UDPGothic" pitchFamily="34" charset="-120"/>
              </a:rPr>
              <a:t>1人5分 × 5〜6名</a:t>
            </a:r>
            <a:endParaRPr lang="en-US" sz="1300" dirty="0"/>
          </a:p>
        </p:txBody>
      </p:sp>
      <p:sp>
        <p:nvSpPr>
          <p:cNvPr id="13" name="Text 11"/>
          <p:cNvSpPr txBox="1"/>
          <p:nvPr/>
        </p:nvSpPr>
        <p:spPr>
          <a:xfrm>
            <a:off x="9128455" y="3200400"/>
            <a:ext cx="2286000" cy="411480"/>
          </a:xfrm>
          <a:prstGeom prst="rect">
            <a:avLst/>
          </a:prstGeom>
          <a:noFill/>
          <a:ln/>
        </p:spPr>
        <p:txBody>
          <a:bodyPr wrap="square" lIns="0" tIns="0" rIns="0" bIns="0" rtlCol="0" anchor="t"/>
          <a:lstStyle/>
          <a:p>
            <a:pPr algn="r" indent="0" marL="0">
              <a:buNone/>
            </a:pPr>
            <a:r>
              <a:rPr lang="en-US" sz="1800" b="1" dirty="0">
                <a:solidFill>
                  <a:srgbClr val="0E8C88"/>
                </a:solidFill>
                <a:latin typeface="BIZ UDPGothic" pitchFamily="34" charset="0"/>
                <a:ea typeface="BIZ UDPGothic" pitchFamily="34" charset="-122"/>
                <a:cs typeface="BIZ UDPGothic" pitchFamily="34" charset="-120"/>
              </a:rPr>
              <a:t>約30分</a:t>
            </a:r>
            <a:endParaRPr lang="en-US" sz="1800" dirty="0"/>
          </a:p>
        </p:txBody>
      </p:sp>
      <p:sp>
        <p:nvSpPr>
          <p:cNvPr id="14" name="Shape 12"/>
          <p:cNvSpPr/>
          <p:nvPr/>
        </p:nvSpPr>
        <p:spPr>
          <a:xfrm>
            <a:off x="777240" y="3886200"/>
            <a:ext cx="10637215" cy="0"/>
          </a:xfrm>
          <a:prstGeom prst="line">
            <a:avLst/>
          </a:prstGeom>
          <a:noFill/>
          <a:ln w="9525">
            <a:solidFill>
              <a:srgbClr val="D3D7DE"/>
            </a:solidFill>
            <a:prstDash val="solid"/>
          </a:ln>
        </p:spPr>
      </p:sp>
      <p:sp>
        <p:nvSpPr>
          <p:cNvPr id="15" name="Text 13"/>
          <p:cNvSpPr txBox="1"/>
          <p:nvPr/>
        </p:nvSpPr>
        <p:spPr>
          <a:xfrm>
            <a:off x="777240" y="3995928"/>
            <a:ext cx="1097280" cy="731520"/>
          </a:xfrm>
          <a:prstGeom prst="rect">
            <a:avLst/>
          </a:prstGeom>
          <a:noFill/>
          <a:ln/>
        </p:spPr>
        <p:txBody>
          <a:bodyPr wrap="square" lIns="0" tIns="0" rIns="0" bIns="0" rtlCol="0" anchor="t"/>
          <a:lstStyle/>
          <a:p>
            <a:pPr indent="0" marL="0">
              <a:buNone/>
            </a:pPr>
            <a:r>
              <a:rPr lang="en-US" sz="4000" b="1" dirty="0">
                <a:solidFill>
                  <a:srgbClr val="B8BEC8"/>
                </a:solidFill>
                <a:latin typeface="Cambria" pitchFamily="34" charset="0"/>
                <a:ea typeface="Cambria" pitchFamily="34" charset="-122"/>
                <a:cs typeface="Cambria" pitchFamily="34" charset="-120"/>
              </a:rPr>
              <a:t>03</a:t>
            </a:r>
            <a:endParaRPr lang="en-US" sz="4000" dirty="0"/>
          </a:p>
        </p:txBody>
      </p:sp>
      <p:sp>
        <p:nvSpPr>
          <p:cNvPr id="16" name="Text 14"/>
          <p:cNvSpPr txBox="1"/>
          <p:nvPr/>
        </p:nvSpPr>
        <p:spPr>
          <a:xfrm>
            <a:off x="2148840" y="4087368"/>
            <a:ext cx="5029200" cy="41148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今後に向けて</a:t>
            </a:r>
            <a:endParaRPr lang="en-US" sz="2200" dirty="0"/>
          </a:p>
        </p:txBody>
      </p:sp>
      <p:sp>
        <p:nvSpPr>
          <p:cNvPr id="17" name="Text 15"/>
          <p:cNvSpPr txBox="1"/>
          <p:nvPr/>
        </p:nvSpPr>
        <p:spPr>
          <a:xfrm>
            <a:off x="2148840" y="4471416"/>
            <a:ext cx="5486400" cy="274320"/>
          </a:xfrm>
          <a:prstGeom prst="rect">
            <a:avLst/>
          </a:prstGeom>
          <a:noFill/>
          <a:ln/>
        </p:spPr>
        <p:txBody>
          <a:bodyPr wrap="square" lIns="0" tIns="0" rIns="0" bIns="0" rtlCol="0" anchor="t"/>
          <a:lstStyle/>
          <a:p>
            <a:pPr indent="0" marL="0">
              <a:buNone/>
            </a:pPr>
            <a:r>
              <a:rPr lang="en-US" sz="1300" dirty="0">
                <a:solidFill>
                  <a:srgbClr val="6B7180"/>
                </a:solidFill>
                <a:latin typeface="BIZ UDPGothic" pitchFamily="34" charset="0"/>
                <a:ea typeface="BIZ UDPGothic" pitchFamily="34" charset="-122"/>
                <a:cs typeface="BIZ UDPGothic" pitchFamily="34" charset="-120"/>
              </a:rPr>
              <a:t>これから続けてほしい3つのこと</a:t>
            </a:r>
            <a:endParaRPr lang="en-US" sz="1300" dirty="0"/>
          </a:p>
        </p:txBody>
      </p:sp>
      <p:sp>
        <p:nvSpPr>
          <p:cNvPr id="18" name="Text 16"/>
          <p:cNvSpPr txBox="1"/>
          <p:nvPr/>
        </p:nvSpPr>
        <p:spPr>
          <a:xfrm>
            <a:off x="9128455" y="4160520"/>
            <a:ext cx="2286000" cy="411480"/>
          </a:xfrm>
          <a:prstGeom prst="rect">
            <a:avLst/>
          </a:prstGeom>
          <a:noFill/>
          <a:ln/>
        </p:spPr>
        <p:txBody>
          <a:bodyPr wrap="square" lIns="0" tIns="0" rIns="0" bIns="0" rtlCol="0" anchor="t"/>
          <a:lstStyle/>
          <a:p>
            <a:pPr algn="r" indent="0" marL="0">
              <a:buNone/>
            </a:pPr>
            <a:r>
              <a:rPr lang="en-US" sz="1800" b="1" dirty="0">
                <a:solidFill>
                  <a:srgbClr val="22252E"/>
                </a:solidFill>
                <a:latin typeface="BIZ UDPGothic" pitchFamily="34" charset="0"/>
                <a:ea typeface="BIZ UDPGothic" pitchFamily="34" charset="-122"/>
                <a:cs typeface="BIZ UDPGothic" pitchFamily="34" charset="-120"/>
              </a:rPr>
              <a:t>10分</a:t>
            </a:r>
            <a:endParaRPr lang="en-US" sz="1800" dirty="0"/>
          </a:p>
        </p:txBody>
      </p:sp>
      <p:sp>
        <p:nvSpPr>
          <p:cNvPr id="19" name="Shape 17"/>
          <p:cNvSpPr/>
          <p:nvPr/>
        </p:nvSpPr>
        <p:spPr>
          <a:xfrm>
            <a:off x="777240" y="4846320"/>
            <a:ext cx="10637215" cy="0"/>
          </a:xfrm>
          <a:prstGeom prst="line">
            <a:avLst/>
          </a:prstGeom>
          <a:noFill/>
          <a:ln w="9525">
            <a:solidFill>
              <a:srgbClr val="D3D7DE"/>
            </a:solidFill>
            <a:prstDash val="solid"/>
          </a:ln>
        </p:spPr>
      </p:sp>
      <p:sp>
        <p:nvSpPr>
          <p:cNvPr id="20" name="Text 18"/>
          <p:cNvSpPr txBox="1"/>
          <p:nvPr/>
        </p:nvSpPr>
        <p:spPr>
          <a:xfrm>
            <a:off x="777240" y="4956048"/>
            <a:ext cx="1097280" cy="731520"/>
          </a:xfrm>
          <a:prstGeom prst="rect">
            <a:avLst/>
          </a:prstGeom>
          <a:noFill/>
          <a:ln/>
        </p:spPr>
        <p:txBody>
          <a:bodyPr wrap="square" lIns="0" tIns="0" rIns="0" bIns="0" rtlCol="0" anchor="t"/>
          <a:lstStyle/>
          <a:p>
            <a:pPr indent="0" marL="0">
              <a:buNone/>
            </a:pPr>
            <a:r>
              <a:rPr lang="en-US" sz="4000" b="1" dirty="0">
                <a:solidFill>
                  <a:srgbClr val="B8BEC8"/>
                </a:solidFill>
                <a:latin typeface="Cambria" pitchFamily="34" charset="0"/>
                <a:ea typeface="Cambria" pitchFamily="34" charset="-122"/>
                <a:cs typeface="Cambria" pitchFamily="34" charset="-120"/>
              </a:rPr>
              <a:t>04</a:t>
            </a:r>
            <a:endParaRPr lang="en-US" sz="4000" dirty="0"/>
          </a:p>
        </p:txBody>
      </p:sp>
      <p:sp>
        <p:nvSpPr>
          <p:cNvPr id="21" name="Text 19"/>
          <p:cNvSpPr txBox="1"/>
          <p:nvPr/>
        </p:nvSpPr>
        <p:spPr>
          <a:xfrm>
            <a:off x="2148840" y="5047488"/>
            <a:ext cx="5029200" cy="41148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AI推進チームについて・閉会</a:t>
            </a:r>
            <a:endParaRPr lang="en-US" sz="2200" dirty="0"/>
          </a:p>
        </p:txBody>
      </p:sp>
      <p:sp>
        <p:nvSpPr>
          <p:cNvPr id="22" name="Text 20"/>
          <p:cNvSpPr txBox="1"/>
          <p:nvPr/>
        </p:nvSpPr>
        <p:spPr>
          <a:xfrm>
            <a:off x="2148840" y="5431536"/>
            <a:ext cx="5486400" cy="274320"/>
          </a:xfrm>
          <a:prstGeom prst="rect">
            <a:avLst/>
          </a:prstGeom>
          <a:noFill/>
          <a:ln/>
        </p:spPr>
        <p:txBody>
          <a:bodyPr wrap="square" lIns="0" tIns="0" rIns="0" bIns="0" rtlCol="0" anchor="t"/>
          <a:lstStyle/>
          <a:p>
            <a:pPr indent="0" marL="0">
              <a:buNone/>
            </a:pPr>
            <a:r>
              <a:rPr lang="en-US" sz="1300" dirty="0">
                <a:solidFill>
                  <a:srgbClr val="6B7180"/>
                </a:solidFill>
                <a:latin typeface="BIZ UDPGothic" pitchFamily="34" charset="0"/>
                <a:ea typeface="BIZ UDPGothic" pitchFamily="34" charset="-122"/>
                <a:cs typeface="BIZ UDPGothic" pitchFamily="34" charset="-120"/>
              </a:rPr>
              <a:t>今後の進め方（検討中）</a:t>
            </a:r>
            <a:endParaRPr lang="en-US" sz="1300" dirty="0"/>
          </a:p>
        </p:txBody>
      </p:sp>
      <p:sp>
        <p:nvSpPr>
          <p:cNvPr id="23" name="Text 21"/>
          <p:cNvSpPr txBox="1"/>
          <p:nvPr/>
        </p:nvSpPr>
        <p:spPr>
          <a:xfrm>
            <a:off x="9128455" y="5120640"/>
            <a:ext cx="2286000" cy="411480"/>
          </a:xfrm>
          <a:prstGeom prst="rect">
            <a:avLst/>
          </a:prstGeom>
          <a:noFill/>
          <a:ln/>
        </p:spPr>
        <p:txBody>
          <a:bodyPr wrap="square" lIns="0" tIns="0" rIns="0" bIns="0" rtlCol="0" anchor="t"/>
          <a:lstStyle/>
          <a:p>
            <a:pPr algn="r" indent="0" marL="0">
              <a:buNone/>
            </a:pPr>
            <a:r>
              <a:rPr lang="en-US" sz="1800" b="1" dirty="0">
                <a:solidFill>
                  <a:srgbClr val="22252E"/>
                </a:solidFill>
                <a:latin typeface="BIZ UDPGothic" pitchFamily="34" charset="0"/>
                <a:ea typeface="BIZ UDPGothic" pitchFamily="34" charset="-122"/>
                <a:cs typeface="BIZ UDPGothic" pitchFamily="34" charset="-120"/>
              </a:rPr>
              <a:t>5分</a:t>
            </a:r>
            <a:endParaRPr lang="en-US" sz="1800" dirty="0"/>
          </a:p>
        </p:txBody>
      </p:sp>
      <p:sp>
        <p:nvSpPr>
          <p:cNvPr id="24" name="Shape 22"/>
          <p:cNvSpPr/>
          <p:nvPr/>
        </p:nvSpPr>
        <p:spPr>
          <a:xfrm>
            <a:off x="777240" y="5806440"/>
            <a:ext cx="10637215" cy="0"/>
          </a:xfrm>
          <a:prstGeom prst="line">
            <a:avLst/>
          </a:prstGeom>
          <a:noFill/>
          <a:ln w="9525">
            <a:solidFill>
              <a:srgbClr val="D3D7DE"/>
            </a:solidFill>
            <a:prstDash val="solid"/>
          </a:ln>
        </p:spPr>
      </p:sp>
      <p:sp>
        <p:nvSpPr>
          <p:cNvPr id="25" name="Text 23"/>
          <p:cNvSpPr txBox="1"/>
          <p:nvPr/>
        </p:nvSpPr>
        <p:spPr>
          <a:xfrm>
            <a:off x="777240" y="5943600"/>
            <a:ext cx="7315200" cy="274320"/>
          </a:xfrm>
          <a:prstGeom prst="rect">
            <a:avLst/>
          </a:prstGeom>
          <a:noFill/>
          <a:ln/>
        </p:spPr>
        <p:txBody>
          <a:bodyPr wrap="square" lIns="0" tIns="0" rIns="0" bIns="0" rtlCol="0" anchor="t"/>
          <a:lstStyle/>
          <a:p>
            <a:pPr indent="0" marL="0">
              <a:buNone/>
            </a:pPr>
            <a:r>
              <a:rPr lang="en-US" sz="1100" dirty="0">
                <a:solidFill>
                  <a:srgbClr val="6B7180"/>
                </a:solidFill>
                <a:latin typeface="BIZ UDPGothic" pitchFamily="34" charset="0"/>
                <a:ea typeface="BIZ UDPGothic" pitchFamily="34" charset="-122"/>
                <a:cs typeface="BIZ UDPGothic" pitchFamily="34" charset="-120"/>
              </a:rPr>
              <a:t>※ 時間配分は目安。発表人数の確定後に調整。</a:t>
            </a:r>
            <a:endParaRPr lang="en-US" sz="11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22252E"/>
                </a:solidFill>
                <a:latin typeface="Cambria"/>
                <a:ea typeface="Cambria"/>
                <a:cs typeface="Cambria"/>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0E8C88"/>
                </a:solidFill>
                <a:latin typeface="Cambria" pitchFamily="34" charset="0"/>
                <a:ea typeface="Cambria" pitchFamily="34" charset="-122"/>
                <a:cs typeface="Cambria" pitchFamily="34" charset="-120"/>
              </a:rPr>
              <a:t>PRESENTATION FORMAT</a:t>
            </a:r>
            <a:endParaRPr lang="en-US" sz="1300" dirty="0"/>
          </a:p>
        </p:txBody>
      </p:sp>
      <p:sp>
        <p:nvSpPr>
          <p:cNvPr id="3" name="Text 1"/>
          <p:cNvSpPr txBox="1"/>
          <p:nvPr/>
        </p:nvSpPr>
        <p:spPr>
          <a:xfrm>
            <a:off x="777240" y="896112"/>
            <a:ext cx="10637215" cy="685800"/>
          </a:xfrm>
          <a:prstGeom prst="rect">
            <a:avLst/>
          </a:prstGeom>
          <a:noFill/>
          <a:ln/>
        </p:spPr>
        <p:txBody>
          <a:bodyPr wrap="square" lIns="0" tIns="0" rIns="0" bIns="0" rtlCol="0" anchor="t"/>
          <a:lstStyle/>
          <a:p>
            <a:pPr indent="0" marL="0">
              <a:buNone/>
            </a:pPr>
            <a:r>
              <a:rPr lang="en-US" sz="3200" b="1" dirty="0">
                <a:solidFill>
                  <a:srgbClr val="22252E"/>
                </a:solidFill>
                <a:latin typeface="BIZ UDPGothic" pitchFamily="34" charset="0"/>
                <a:ea typeface="BIZ UDPGothic" pitchFamily="34" charset="-122"/>
                <a:cs typeface="BIZ UDPGothic" pitchFamily="34" charset="-120"/>
              </a:rPr>
              <a:t>発表してもらう4つのこと</a:t>
            </a:r>
            <a:endParaRPr lang="en-US" sz="3200" dirty="0"/>
          </a:p>
        </p:txBody>
      </p:sp>
      <p:sp>
        <p:nvSpPr>
          <p:cNvPr id="4" name="Text 2"/>
          <p:cNvSpPr txBox="1"/>
          <p:nvPr/>
        </p:nvSpPr>
        <p:spPr>
          <a:xfrm>
            <a:off x="731520" y="1737360"/>
            <a:ext cx="2011680" cy="2377440"/>
          </a:xfrm>
          <a:prstGeom prst="rect">
            <a:avLst/>
          </a:prstGeom>
          <a:noFill/>
          <a:ln/>
        </p:spPr>
        <p:txBody>
          <a:bodyPr wrap="square" lIns="0" tIns="0" rIns="0" bIns="0" rtlCol="0" anchor="t"/>
          <a:lstStyle/>
          <a:p>
            <a:pPr indent="0" marL="0">
              <a:buNone/>
            </a:pPr>
            <a:r>
              <a:rPr lang="en-US" sz="19000" b="1" dirty="0">
                <a:solidFill>
                  <a:srgbClr val="0E8C88"/>
                </a:solidFill>
                <a:latin typeface="Cambria" pitchFamily="34" charset="0"/>
                <a:ea typeface="Cambria" pitchFamily="34" charset="-122"/>
                <a:cs typeface="Cambria" pitchFamily="34" charset="-120"/>
              </a:rPr>
              <a:t>5</a:t>
            </a:r>
            <a:endParaRPr lang="en-US" sz="19000" dirty="0"/>
          </a:p>
        </p:txBody>
      </p:sp>
      <p:sp>
        <p:nvSpPr>
          <p:cNvPr id="5" name="Text 3"/>
          <p:cNvSpPr txBox="1"/>
          <p:nvPr/>
        </p:nvSpPr>
        <p:spPr>
          <a:xfrm>
            <a:off x="2468880" y="3246120"/>
            <a:ext cx="1097280" cy="548640"/>
          </a:xfrm>
          <a:prstGeom prst="rect">
            <a:avLst/>
          </a:prstGeom>
          <a:noFill/>
          <a:ln/>
        </p:spPr>
        <p:txBody>
          <a:bodyPr wrap="square" lIns="0" tIns="0" rIns="0" bIns="0" rtlCol="0" anchor="t"/>
          <a:lstStyle/>
          <a:p>
            <a:pPr indent="0" marL="0">
              <a:buNone/>
            </a:pPr>
            <a:r>
              <a:rPr lang="en-US" sz="3000" b="1" i="1" dirty="0">
                <a:solidFill>
                  <a:srgbClr val="22252E"/>
                </a:solidFill>
                <a:latin typeface="Cambria" pitchFamily="34" charset="0"/>
                <a:ea typeface="Cambria" pitchFamily="34" charset="-122"/>
                <a:cs typeface="Cambria" pitchFamily="34" charset="-120"/>
              </a:rPr>
              <a:t>min</a:t>
            </a:r>
            <a:endParaRPr lang="en-US" sz="3000" dirty="0"/>
          </a:p>
        </p:txBody>
      </p:sp>
      <p:sp>
        <p:nvSpPr>
          <p:cNvPr id="6" name="Text 4"/>
          <p:cNvSpPr txBox="1"/>
          <p:nvPr/>
        </p:nvSpPr>
        <p:spPr>
          <a:xfrm>
            <a:off x="777240" y="4160520"/>
            <a:ext cx="3291840" cy="320040"/>
          </a:xfrm>
          <a:prstGeom prst="rect">
            <a:avLst/>
          </a:prstGeom>
          <a:noFill/>
          <a:ln/>
        </p:spPr>
        <p:txBody>
          <a:bodyPr wrap="square" lIns="0" tIns="0" rIns="0" bIns="0" rtlCol="0" anchor="t"/>
          <a:lstStyle/>
          <a:p>
            <a:pPr indent="0" marL="0">
              <a:buNone/>
            </a:pPr>
            <a:r>
              <a:rPr lang="en-US" sz="1400" b="1" dirty="0">
                <a:solidFill>
                  <a:srgbClr val="22252E"/>
                </a:solidFill>
                <a:latin typeface="BIZ UDPGothic" pitchFamily="34" charset="0"/>
                <a:ea typeface="BIZ UDPGothic" pitchFamily="34" charset="-122"/>
                <a:cs typeface="BIZ UDPGothic" pitchFamily="34" charset="-120"/>
              </a:rPr>
              <a:t>1人あたりの持ち時間（目安）</a:t>
            </a:r>
            <a:endParaRPr lang="en-US" sz="1400" dirty="0"/>
          </a:p>
        </p:txBody>
      </p:sp>
      <p:sp>
        <p:nvSpPr>
          <p:cNvPr id="7" name="Text 5"/>
          <p:cNvSpPr txBox="1"/>
          <p:nvPr/>
        </p:nvSpPr>
        <p:spPr>
          <a:xfrm>
            <a:off x="777240" y="4526280"/>
            <a:ext cx="3200400" cy="1188720"/>
          </a:xfrm>
          <a:prstGeom prst="rect">
            <a:avLst/>
          </a:prstGeom>
          <a:noFill/>
          <a:ln/>
        </p:spPr>
        <p:txBody>
          <a:bodyPr wrap="square" lIns="0" tIns="0" rIns="0" bIns="0" rtlCol="0" anchor="t"/>
          <a:lstStyle/>
          <a:p>
            <a:pPr indent="0" marL="0">
              <a:lnSpc>
                <a:spcPct val="130000"/>
              </a:lnSpc>
              <a:buNone/>
            </a:pPr>
            <a:r>
              <a:rPr lang="en-US" sz="1300" dirty="0">
                <a:solidFill>
                  <a:srgbClr val="6B7180"/>
                </a:solidFill>
                <a:latin typeface="BIZ UDPGothic" pitchFamily="34" charset="0"/>
                <a:ea typeface="BIZ UDPGothic" pitchFamily="34" charset="-122"/>
                <a:cs typeface="BIZ UDPGothic" pitchFamily="34" charset="-120"/>
              </a:rPr>
              <a:t>4項目を順番に話せば、自然と5分に収まる構成です。資料の形式は自由。画面共有・実演も歓迎します。</a:t>
            </a:r>
            <a:endParaRPr lang="en-US" sz="1300" dirty="0"/>
          </a:p>
        </p:txBody>
      </p:sp>
      <p:sp>
        <p:nvSpPr>
          <p:cNvPr id="8" name="Shape 6"/>
          <p:cNvSpPr/>
          <p:nvPr/>
        </p:nvSpPr>
        <p:spPr>
          <a:xfrm>
            <a:off x="4572000" y="1783080"/>
            <a:ext cx="0" cy="4160520"/>
          </a:xfrm>
          <a:prstGeom prst="line">
            <a:avLst/>
          </a:prstGeom>
          <a:noFill/>
          <a:ln w="9525">
            <a:solidFill>
              <a:srgbClr val="D3D7DE"/>
            </a:solidFill>
            <a:prstDash val="solid"/>
          </a:ln>
        </p:spPr>
      </p:sp>
      <p:sp>
        <p:nvSpPr>
          <p:cNvPr id="9" name="Text 7"/>
          <p:cNvSpPr txBox="1"/>
          <p:nvPr/>
        </p:nvSpPr>
        <p:spPr>
          <a:xfrm>
            <a:off x="4983480" y="1892808"/>
            <a:ext cx="640080" cy="548640"/>
          </a:xfrm>
          <a:prstGeom prst="rect">
            <a:avLst/>
          </a:prstGeom>
          <a:noFill/>
          <a:ln/>
        </p:spPr>
        <p:txBody>
          <a:bodyPr wrap="square" lIns="0" tIns="0" rIns="0" bIns="0" rtlCol="0" anchor="t"/>
          <a:lstStyle/>
          <a:p>
            <a:pPr indent="0" marL="0">
              <a:buNone/>
            </a:pPr>
            <a:r>
              <a:rPr lang="en-US" sz="3000" b="1" dirty="0">
                <a:solidFill>
                  <a:srgbClr val="0E8C88"/>
                </a:solidFill>
                <a:latin typeface="BIZ UDPGothic" pitchFamily="34" charset="0"/>
                <a:ea typeface="BIZ UDPGothic" pitchFamily="34" charset="-122"/>
                <a:cs typeface="BIZ UDPGothic" pitchFamily="34" charset="-120"/>
              </a:rPr>
              <a:t>①</a:t>
            </a:r>
            <a:endParaRPr lang="en-US" sz="3000" dirty="0"/>
          </a:p>
        </p:txBody>
      </p:sp>
      <p:sp>
        <p:nvSpPr>
          <p:cNvPr id="10" name="Text 8"/>
          <p:cNvSpPr txBox="1"/>
          <p:nvPr/>
        </p:nvSpPr>
        <p:spPr>
          <a:xfrm>
            <a:off x="5760720" y="1911096"/>
            <a:ext cx="5653735" cy="41148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何を作ったか</a:t>
            </a:r>
            <a:endParaRPr lang="en-US" sz="2200" dirty="0"/>
          </a:p>
        </p:txBody>
      </p:sp>
      <p:sp>
        <p:nvSpPr>
          <p:cNvPr id="11" name="Text 9"/>
          <p:cNvSpPr txBox="1"/>
          <p:nvPr/>
        </p:nvSpPr>
        <p:spPr>
          <a:xfrm>
            <a:off x="5760720" y="2331720"/>
            <a:ext cx="5653735" cy="320040"/>
          </a:xfrm>
          <a:prstGeom prst="rect">
            <a:avLst/>
          </a:prstGeom>
          <a:noFill/>
          <a:ln/>
        </p:spPr>
        <p:txBody>
          <a:bodyPr wrap="square" lIns="0" tIns="0" rIns="0" bIns="0" rtlCol="0" anchor="t"/>
          <a:lstStyle/>
          <a:p>
            <a:pPr indent="0" marL="0">
              <a:buNone/>
            </a:pPr>
            <a:r>
              <a:rPr lang="en-US" sz="1400" dirty="0">
                <a:solidFill>
                  <a:srgbClr val="6B7180"/>
                </a:solidFill>
                <a:latin typeface="BIZ UDPGothic" pitchFamily="34" charset="0"/>
                <a:ea typeface="BIZ UDPGothic" pitchFamily="34" charset="-122"/>
                <a:cs typeface="BIZ UDPGothic" pitchFamily="34" charset="-120"/>
              </a:rPr>
              <a:t>作ったもの・使ったAIツールを一言で</a:t>
            </a:r>
            <a:endParaRPr lang="en-US" sz="1400" dirty="0"/>
          </a:p>
        </p:txBody>
      </p:sp>
      <p:sp>
        <p:nvSpPr>
          <p:cNvPr id="12" name="Shape 10"/>
          <p:cNvSpPr/>
          <p:nvPr/>
        </p:nvSpPr>
        <p:spPr>
          <a:xfrm>
            <a:off x="4983480" y="2807208"/>
            <a:ext cx="6430975" cy="0"/>
          </a:xfrm>
          <a:prstGeom prst="line">
            <a:avLst/>
          </a:prstGeom>
          <a:noFill/>
          <a:ln w="9525">
            <a:solidFill>
              <a:srgbClr val="D3D7DE"/>
            </a:solidFill>
            <a:prstDash val="solid"/>
          </a:ln>
        </p:spPr>
      </p:sp>
      <p:sp>
        <p:nvSpPr>
          <p:cNvPr id="13" name="Text 11"/>
          <p:cNvSpPr txBox="1"/>
          <p:nvPr/>
        </p:nvSpPr>
        <p:spPr>
          <a:xfrm>
            <a:off x="4983480" y="2916936"/>
            <a:ext cx="640080" cy="548640"/>
          </a:xfrm>
          <a:prstGeom prst="rect">
            <a:avLst/>
          </a:prstGeom>
          <a:noFill/>
          <a:ln/>
        </p:spPr>
        <p:txBody>
          <a:bodyPr wrap="square" lIns="0" tIns="0" rIns="0" bIns="0" rtlCol="0" anchor="t"/>
          <a:lstStyle/>
          <a:p>
            <a:pPr indent="0" marL="0">
              <a:buNone/>
            </a:pPr>
            <a:r>
              <a:rPr lang="en-US" sz="3000" b="1" dirty="0">
                <a:solidFill>
                  <a:srgbClr val="0E8C88"/>
                </a:solidFill>
                <a:latin typeface="BIZ UDPGothic" pitchFamily="34" charset="0"/>
                <a:ea typeface="BIZ UDPGothic" pitchFamily="34" charset="-122"/>
                <a:cs typeface="BIZ UDPGothic" pitchFamily="34" charset="-120"/>
              </a:rPr>
              <a:t>②</a:t>
            </a:r>
            <a:endParaRPr lang="en-US" sz="3000" dirty="0"/>
          </a:p>
        </p:txBody>
      </p:sp>
      <p:sp>
        <p:nvSpPr>
          <p:cNvPr id="14" name="Text 12"/>
          <p:cNvSpPr txBox="1"/>
          <p:nvPr/>
        </p:nvSpPr>
        <p:spPr>
          <a:xfrm>
            <a:off x="5760720" y="2935224"/>
            <a:ext cx="5653735" cy="41148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どんな課題があって作ったか</a:t>
            </a:r>
            <a:endParaRPr lang="en-US" sz="2200" dirty="0"/>
          </a:p>
        </p:txBody>
      </p:sp>
      <p:sp>
        <p:nvSpPr>
          <p:cNvPr id="15" name="Text 13"/>
          <p:cNvSpPr txBox="1"/>
          <p:nvPr/>
        </p:nvSpPr>
        <p:spPr>
          <a:xfrm>
            <a:off x="5760720" y="3355848"/>
            <a:ext cx="5653735" cy="320040"/>
          </a:xfrm>
          <a:prstGeom prst="rect">
            <a:avLst/>
          </a:prstGeom>
          <a:noFill/>
          <a:ln/>
        </p:spPr>
        <p:txBody>
          <a:bodyPr wrap="square" lIns="0" tIns="0" rIns="0" bIns="0" rtlCol="0" anchor="t"/>
          <a:lstStyle/>
          <a:p>
            <a:pPr indent="0" marL="0">
              <a:buNone/>
            </a:pPr>
            <a:r>
              <a:rPr lang="en-US" sz="1400" dirty="0">
                <a:solidFill>
                  <a:srgbClr val="6B7180"/>
                </a:solidFill>
                <a:latin typeface="BIZ UDPGothic" pitchFamily="34" charset="0"/>
                <a:ea typeface="BIZ UDPGothic" pitchFamily="34" charset="-122"/>
                <a:cs typeface="BIZ UDPGothic" pitchFamily="34" charset="-120"/>
              </a:rPr>
              <a:t>誰が・何に困っていたのか</a:t>
            </a:r>
            <a:endParaRPr lang="en-US" sz="1400" dirty="0"/>
          </a:p>
        </p:txBody>
      </p:sp>
      <p:sp>
        <p:nvSpPr>
          <p:cNvPr id="16" name="Shape 14"/>
          <p:cNvSpPr/>
          <p:nvPr/>
        </p:nvSpPr>
        <p:spPr>
          <a:xfrm>
            <a:off x="4983480" y="3831336"/>
            <a:ext cx="6430975" cy="0"/>
          </a:xfrm>
          <a:prstGeom prst="line">
            <a:avLst/>
          </a:prstGeom>
          <a:noFill/>
          <a:ln w="9525">
            <a:solidFill>
              <a:srgbClr val="D3D7DE"/>
            </a:solidFill>
            <a:prstDash val="solid"/>
          </a:ln>
        </p:spPr>
      </p:sp>
      <p:sp>
        <p:nvSpPr>
          <p:cNvPr id="17" name="Text 15"/>
          <p:cNvSpPr txBox="1"/>
          <p:nvPr/>
        </p:nvSpPr>
        <p:spPr>
          <a:xfrm>
            <a:off x="4983480" y="3941064"/>
            <a:ext cx="640080" cy="548640"/>
          </a:xfrm>
          <a:prstGeom prst="rect">
            <a:avLst/>
          </a:prstGeom>
          <a:noFill/>
          <a:ln/>
        </p:spPr>
        <p:txBody>
          <a:bodyPr wrap="square" lIns="0" tIns="0" rIns="0" bIns="0" rtlCol="0" anchor="t"/>
          <a:lstStyle/>
          <a:p>
            <a:pPr indent="0" marL="0">
              <a:buNone/>
            </a:pPr>
            <a:r>
              <a:rPr lang="en-US" sz="3000" b="1" dirty="0">
                <a:solidFill>
                  <a:srgbClr val="0E8C88"/>
                </a:solidFill>
                <a:latin typeface="BIZ UDPGothic" pitchFamily="34" charset="0"/>
                <a:ea typeface="BIZ UDPGothic" pitchFamily="34" charset="-122"/>
                <a:cs typeface="BIZ UDPGothic" pitchFamily="34" charset="-120"/>
              </a:rPr>
              <a:t>③</a:t>
            </a:r>
            <a:endParaRPr lang="en-US" sz="3000" dirty="0"/>
          </a:p>
        </p:txBody>
      </p:sp>
      <p:sp>
        <p:nvSpPr>
          <p:cNvPr id="18" name="Text 16"/>
          <p:cNvSpPr txBox="1"/>
          <p:nvPr/>
        </p:nvSpPr>
        <p:spPr>
          <a:xfrm>
            <a:off x="5760720" y="3959352"/>
            <a:ext cx="5653735" cy="41148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工夫した点</a:t>
            </a:r>
            <a:endParaRPr lang="en-US" sz="2200" dirty="0"/>
          </a:p>
        </p:txBody>
      </p:sp>
      <p:sp>
        <p:nvSpPr>
          <p:cNvPr id="19" name="Text 17"/>
          <p:cNvSpPr txBox="1"/>
          <p:nvPr/>
        </p:nvSpPr>
        <p:spPr>
          <a:xfrm>
            <a:off x="5760720" y="4379976"/>
            <a:ext cx="5653735" cy="320040"/>
          </a:xfrm>
          <a:prstGeom prst="rect">
            <a:avLst/>
          </a:prstGeom>
          <a:noFill/>
          <a:ln/>
        </p:spPr>
        <p:txBody>
          <a:bodyPr wrap="square" lIns="0" tIns="0" rIns="0" bIns="0" rtlCol="0" anchor="t"/>
          <a:lstStyle/>
          <a:p>
            <a:pPr indent="0" marL="0">
              <a:buNone/>
            </a:pPr>
            <a:r>
              <a:rPr lang="en-US" sz="1400" dirty="0">
                <a:solidFill>
                  <a:srgbClr val="6B7180"/>
                </a:solidFill>
                <a:latin typeface="BIZ UDPGothic" pitchFamily="34" charset="0"/>
                <a:ea typeface="BIZ UDPGothic" pitchFamily="34" charset="-122"/>
                <a:cs typeface="BIZ UDPGothic" pitchFamily="34" charset="-120"/>
              </a:rPr>
              <a:t>使いやすくするために考えたこと</a:t>
            </a:r>
            <a:endParaRPr lang="en-US" sz="1400" dirty="0"/>
          </a:p>
        </p:txBody>
      </p:sp>
      <p:sp>
        <p:nvSpPr>
          <p:cNvPr id="20" name="Shape 18"/>
          <p:cNvSpPr/>
          <p:nvPr/>
        </p:nvSpPr>
        <p:spPr>
          <a:xfrm>
            <a:off x="4983480" y="4855464"/>
            <a:ext cx="6430975" cy="0"/>
          </a:xfrm>
          <a:prstGeom prst="line">
            <a:avLst/>
          </a:prstGeom>
          <a:noFill/>
          <a:ln w="9525">
            <a:solidFill>
              <a:srgbClr val="D3D7DE"/>
            </a:solidFill>
            <a:prstDash val="solid"/>
          </a:ln>
        </p:spPr>
      </p:sp>
      <p:sp>
        <p:nvSpPr>
          <p:cNvPr id="21" name="Text 19"/>
          <p:cNvSpPr txBox="1"/>
          <p:nvPr/>
        </p:nvSpPr>
        <p:spPr>
          <a:xfrm>
            <a:off x="4983480" y="4965192"/>
            <a:ext cx="640080" cy="548640"/>
          </a:xfrm>
          <a:prstGeom prst="rect">
            <a:avLst/>
          </a:prstGeom>
          <a:noFill/>
          <a:ln/>
        </p:spPr>
        <p:txBody>
          <a:bodyPr wrap="square" lIns="0" tIns="0" rIns="0" bIns="0" rtlCol="0" anchor="t"/>
          <a:lstStyle/>
          <a:p>
            <a:pPr indent="0" marL="0">
              <a:buNone/>
            </a:pPr>
            <a:r>
              <a:rPr lang="en-US" sz="3000" b="1" dirty="0">
                <a:solidFill>
                  <a:srgbClr val="0E8C88"/>
                </a:solidFill>
                <a:latin typeface="BIZ UDPGothic" pitchFamily="34" charset="0"/>
                <a:ea typeface="BIZ UDPGothic" pitchFamily="34" charset="-122"/>
                <a:cs typeface="BIZ UDPGothic" pitchFamily="34" charset="-120"/>
              </a:rPr>
              <a:t>④</a:t>
            </a:r>
            <a:endParaRPr lang="en-US" sz="3000" dirty="0"/>
          </a:p>
        </p:txBody>
      </p:sp>
      <p:sp>
        <p:nvSpPr>
          <p:cNvPr id="22" name="Text 20"/>
          <p:cNvSpPr txBox="1"/>
          <p:nvPr/>
        </p:nvSpPr>
        <p:spPr>
          <a:xfrm>
            <a:off x="5760720" y="4983480"/>
            <a:ext cx="5653735" cy="41148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困難だった点</a:t>
            </a:r>
            <a:endParaRPr lang="en-US" sz="2200" dirty="0"/>
          </a:p>
        </p:txBody>
      </p:sp>
      <p:sp>
        <p:nvSpPr>
          <p:cNvPr id="23" name="Text 21"/>
          <p:cNvSpPr txBox="1"/>
          <p:nvPr/>
        </p:nvSpPr>
        <p:spPr>
          <a:xfrm>
            <a:off x="5760720" y="5404104"/>
            <a:ext cx="5653735" cy="320040"/>
          </a:xfrm>
          <a:prstGeom prst="rect">
            <a:avLst/>
          </a:prstGeom>
          <a:noFill/>
          <a:ln/>
        </p:spPr>
        <p:txBody>
          <a:bodyPr wrap="square" lIns="0" tIns="0" rIns="0" bIns="0" rtlCol="0" anchor="t"/>
          <a:lstStyle/>
          <a:p>
            <a:pPr indent="0" marL="0">
              <a:buNone/>
            </a:pPr>
            <a:r>
              <a:rPr lang="en-US" sz="1400" dirty="0">
                <a:solidFill>
                  <a:srgbClr val="6B7180"/>
                </a:solidFill>
                <a:latin typeface="BIZ UDPGothic" pitchFamily="34" charset="0"/>
                <a:ea typeface="BIZ UDPGothic" pitchFamily="34" charset="-122"/>
                <a:cs typeface="BIZ UDPGothic" pitchFamily="34" charset="-120"/>
              </a:rPr>
              <a:t>つまずいた所と、どう乗り越えたか</a:t>
            </a:r>
            <a:endParaRPr lang="en-US" sz="14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22252E"/>
                </a:solidFill>
                <a:latin typeface="Cambria"/>
                <a:ea typeface="Cambria"/>
                <a:cs typeface="Cambria"/>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0E8C88"/>
                </a:solidFill>
                <a:latin typeface="Cambria" pitchFamily="34" charset="0"/>
                <a:ea typeface="Cambria" pitchFamily="34" charset="-122"/>
                <a:cs typeface="Cambria" pitchFamily="34" charset="-120"/>
              </a:rPr>
              <a:t>RUNNING ORDER</a:t>
            </a:r>
            <a:endParaRPr lang="en-US" sz="1300" dirty="0"/>
          </a:p>
        </p:txBody>
      </p:sp>
      <p:sp>
        <p:nvSpPr>
          <p:cNvPr id="3" name="Text 1"/>
          <p:cNvSpPr txBox="1"/>
          <p:nvPr/>
        </p:nvSpPr>
        <p:spPr>
          <a:xfrm>
            <a:off x="777240" y="896112"/>
            <a:ext cx="10637215" cy="685800"/>
          </a:xfrm>
          <a:prstGeom prst="rect">
            <a:avLst/>
          </a:prstGeom>
          <a:noFill/>
          <a:ln/>
        </p:spPr>
        <p:txBody>
          <a:bodyPr wrap="square" lIns="0" tIns="0" rIns="0" bIns="0" rtlCol="0" anchor="t"/>
          <a:lstStyle/>
          <a:p>
            <a:pPr indent="0" marL="0">
              <a:buNone/>
            </a:pPr>
            <a:r>
              <a:rPr lang="en-US" sz="3200" b="1" dirty="0">
                <a:solidFill>
                  <a:srgbClr val="22252E"/>
                </a:solidFill>
                <a:latin typeface="BIZ UDPGothic" pitchFamily="34" charset="0"/>
                <a:ea typeface="BIZ UDPGothic" pitchFamily="34" charset="-122"/>
                <a:cs typeface="BIZ UDPGothic" pitchFamily="34" charset="-120"/>
              </a:rPr>
              <a:t>発表順</a:t>
            </a:r>
            <a:endParaRPr lang="en-US" sz="3200" dirty="0"/>
          </a:p>
        </p:txBody>
      </p:sp>
      <p:sp>
        <p:nvSpPr>
          <p:cNvPr id="4" name="Text 2"/>
          <p:cNvSpPr txBox="1"/>
          <p:nvPr/>
        </p:nvSpPr>
        <p:spPr>
          <a:xfrm>
            <a:off x="6842455" y="1078992"/>
            <a:ext cx="4572000" cy="365760"/>
          </a:xfrm>
          <a:prstGeom prst="rect">
            <a:avLst/>
          </a:prstGeom>
          <a:noFill/>
          <a:ln/>
        </p:spPr>
        <p:txBody>
          <a:bodyPr wrap="square" lIns="0" tIns="0" rIns="0" bIns="0" rtlCol="0" anchor="t"/>
          <a:lstStyle/>
          <a:p>
            <a:pPr algn="r" indent="0" marL="0">
              <a:buNone/>
            </a:pPr>
            <a:r>
              <a:rPr lang="en-US" sz="1400" dirty="0">
                <a:solidFill>
                  <a:srgbClr val="6B7180"/>
                </a:solidFill>
                <a:latin typeface="BIZ UDPGothic" pitchFamily="34" charset="0"/>
                <a:ea typeface="BIZ UDPGothic" pitchFamily="34" charset="-122"/>
                <a:cs typeface="BIZ UDPGothic" pitchFamily="34" charset="-120"/>
              </a:rPr>
              <a:t>1人5分目安 ／ 5〜6名想定</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77240" y="1691640"/>
          <a:ext cx="10637215" cy="914400"/>
        </p:xfrm>
        <a:graphic>
          <a:graphicData uri="http://schemas.openxmlformats.org/drawingml/2006/table">
            <a:tbl>
              <a:tblPr/>
              <a:tblGrid>
                <a:gridCol w="1005840"/>
                <a:gridCol w="1463040"/>
                <a:gridCol w="2377440"/>
                <a:gridCol w="2194560"/>
                <a:gridCol w="3596335"/>
              </a:tblGrid>
              <a:tr h="384048">
                <a:tc>
                  <a:txBody>
                    <a:bodyPr/>
                    <a:lstStyle/>
                    <a:p>
                      <a:pPr algn="l" indent="0" marL="0">
                        <a:buNone/>
                      </a:pPr>
                      <a:r>
                        <a:rPr lang="en-US" sz="1200" b="1" dirty="0">
                          <a:solidFill>
                            <a:srgbClr val="6B7180"/>
                          </a:solidFill>
                          <a:latin typeface="BIZ UDPGothic" pitchFamily="34" charset="0"/>
                          <a:ea typeface="BIZ UDPGothic" pitchFamily="34" charset="-122"/>
                          <a:cs typeface="BIZ UDPGothic" pitchFamily="34" charset="-120"/>
                        </a:rPr>
                        <a:t>順番</a:t>
                      </a:r>
                      <a:endParaRPr lang="en-US" sz="12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12700" cap="flat" cmpd="sng" algn="ctr">
                      <a:solidFill>
                        <a:srgbClr val="22252E"/>
                      </a:solidFill>
                      <a:prstDash val="solid"/>
                      <a:round/>
                      <a:headEnd type="none" w="med" len="med"/>
                      <a:tailEnd type="none" w="med" len="med"/>
                    </a:lnB>
                  </a:tcPr>
                </a:tc>
                <a:tc>
                  <a:txBody>
                    <a:bodyPr/>
                    <a:lstStyle/>
                    <a:p>
                      <a:pPr algn="l" indent="0" marL="0">
                        <a:buNone/>
                      </a:pPr>
                      <a:r>
                        <a:rPr lang="en-US" sz="1200" b="1" dirty="0">
                          <a:solidFill>
                            <a:srgbClr val="6B7180"/>
                          </a:solidFill>
                          <a:latin typeface="BIZ UDPGothic" pitchFamily="34" charset="0"/>
                          <a:ea typeface="BIZ UDPGothic" pitchFamily="34" charset="-122"/>
                          <a:cs typeface="BIZ UDPGothic" pitchFamily="34" charset="-120"/>
                        </a:rPr>
                        <a:t>開始目安</a:t>
                      </a:r>
                      <a:endParaRPr lang="en-US" sz="12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12700" cap="flat" cmpd="sng" algn="ctr">
                      <a:solidFill>
                        <a:srgbClr val="22252E"/>
                      </a:solidFill>
                      <a:prstDash val="solid"/>
                      <a:round/>
                      <a:headEnd type="none" w="med" len="med"/>
                      <a:tailEnd type="none" w="med" len="med"/>
                    </a:lnB>
                  </a:tcPr>
                </a:tc>
                <a:tc>
                  <a:txBody>
                    <a:bodyPr/>
                    <a:lstStyle/>
                    <a:p>
                      <a:pPr algn="l" indent="0" marL="0">
                        <a:buNone/>
                      </a:pPr>
                      <a:r>
                        <a:rPr lang="en-US" sz="1200" b="1" dirty="0">
                          <a:solidFill>
                            <a:srgbClr val="6B7180"/>
                          </a:solidFill>
                          <a:latin typeface="BIZ UDPGothic" pitchFamily="34" charset="0"/>
                          <a:ea typeface="BIZ UDPGothic" pitchFamily="34" charset="-122"/>
                          <a:cs typeface="BIZ UDPGothic" pitchFamily="34" charset="-120"/>
                        </a:rPr>
                        <a:t>氏名</a:t>
                      </a:r>
                      <a:endParaRPr lang="en-US" sz="12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12700" cap="flat" cmpd="sng" algn="ctr">
                      <a:solidFill>
                        <a:srgbClr val="22252E"/>
                      </a:solidFill>
                      <a:prstDash val="solid"/>
                      <a:round/>
                      <a:headEnd type="none" w="med" len="med"/>
                      <a:tailEnd type="none" w="med" len="med"/>
                    </a:lnB>
                  </a:tcPr>
                </a:tc>
                <a:tc>
                  <a:txBody>
                    <a:bodyPr/>
                    <a:lstStyle/>
                    <a:p>
                      <a:pPr algn="l" indent="0" marL="0">
                        <a:buNone/>
                      </a:pPr>
                      <a:r>
                        <a:rPr lang="en-US" sz="1200" b="1" dirty="0">
                          <a:solidFill>
                            <a:srgbClr val="6B7180"/>
                          </a:solidFill>
                          <a:latin typeface="BIZ UDPGothic" pitchFamily="34" charset="0"/>
                          <a:ea typeface="BIZ UDPGothic" pitchFamily="34" charset="-122"/>
                          <a:cs typeface="BIZ UDPGothic" pitchFamily="34" charset="-120"/>
                        </a:rPr>
                        <a:t>所属</a:t>
                      </a:r>
                      <a:endParaRPr lang="en-US" sz="12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12700" cap="flat" cmpd="sng" algn="ctr">
                      <a:solidFill>
                        <a:srgbClr val="22252E"/>
                      </a:solidFill>
                      <a:prstDash val="solid"/>
                      <a:round/>
                      <a:headEnd type="none" w="med" len="med"/>
                      <a:tailEnd type="none" w="med" len="med"/>
                    </a:lnB>
                  </a:tcPr>
                </a:tc>
                <a:tc>
                  <a:txBody>
                    <a:bodyPr/>
                    <a:lstStyle/>
                    <a:p>
                      <a:pPr algn="l" indent="0" marL="0">
                        <a:buNone/>
                      </a:pPr>
                      <a:r>
                        <a:rPr lang="en-US" sz="1200" b="1" dirty="0">
                          <a:solidFill>
                            <a:srgbClr val="6B7180"/>
                          </a:solidFill>
                          <a:latin typeface="BIZ UDPGothic" pitchFamily="34" charset="0"/>
                          <a:ea typeface="BIZ UDPGothic" pitchFamily="34" charset="-122"/>
                          <a:cs typeface="BIZ UDPGothic" pitchFamily="34" charset="-120"/>
                        </a:rPr>
                        <a:t>テーマ（作ったもの）</a:t>
                      </a:r>
                      <a:endParaRPr lang="en-US" sz="12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12700" cap="flat" cmpd="sng" algn="ctr">
                      <a:solidFill>
                        <a:srgbClr val="22252E"/>
                      </a:solidFill>
                      <a:prstDash val="solid"/>
                      <a:round/>
                      <a:headEnd type="none" w="med" len="med"/>
                      <a:tailEnd type="none" w="med" len="med"/>
                    </a:lnB>
                  </a:tcPr>
                </a:tc>
              </a:tr>
              <a:tr h="640080">
                <a:tc>
                  <a:txBody>
                    <a:bodyPr/>
                    <a:lstStyle/>
                    <a:p>
                      <a:pPr indent="0" marL="0">
                        <a:buNone/>
                      </a:pPr>
                      <a:r>
                        <a:rPr lang="en-US" sz="2400" b="1" dirty="0">
                          <a:solidFill>
                            <a:srgbClr val="0E8C88"/>
                          </a:solidFill>
                          <a:latin typeface="Cambria" pitchFamily="34" charset="0"/>
                          <a:ea typeface="Cambria" pitchFamily="34" charset="-122"/>
                          <a:cs typeface="Cambria" pitchFamily="34" charset="-120"/>
                        </a:rPr>
                        <a:t>01</a:t>
                      </a:r>
                      <a:endParaRPr lang="en-US" sz="2400" dirty="0">
                        <a:latin typeface="Cambria" charset="0"/>
                        <a:ea typeface="Cambria" charset="0"/>
                        <a:cs typeface="Cambria"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r>
                        <a:rPr lang="en-US" sz="1500" dirty="0">
                          <a:solidFill>
                            <a:srgbClr val="C00000"/>
                          </a:solidFill>
                          <a:latin typeface="BIZ UDPGothic" pitchFamily="34" charset="0"/>
                          <a:ea typeface="BIZ UDPGothic" pitchFamily="34" charset="-122"/>
                          <a:cs typeface="BIZ UDPGothic" pitchFamily="34" charset="-120"/>
                        </a:rPr>
                        <a:t>○○:○○</a:t>
                      </a: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r>
              <a:tr h="640080">
                <a:tc>
                  <a:txBody>
                    <a:bodyPr/>
                    <a:lstStyle/>
                    <a:p>
                      <a:pPr indent="0" marL="0">
                        <a:buNone/>
                      </a:pPr>
                      <a:r>
                        <a:rPr lang="en-US" sz="2400" b="1" dirty="0">
                          <a:solidFill>
                            <a:srgbClr val="0E8C88"/>
                          </a:solidFill>
                          <a:latin typeface="Cambria" pitchFamily="34" charset="0"/>
                          <a:ea typeface="Cambria" pitchFamily="34" charset="-122"/>
                          <a:cs typeface="Cambria" pitchFamily="34" charset="-120"/>
                        </a:rPr>
                        <a:t>02</a:t>
                      </a:r>
                      <a:endParaRPr lang="en-US" sz="2400" dirty="0">
                        <a:latin typeface="Cambria" charset="0"/>
                        <a:ea typeface="Cambria" charset="0"/>
                        <a:cs typeface="Cambria"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r>
                        <a:rPr lang="en-US" sz="1500" dirty="0">
                          <a:solidFill>
                            <a:srgbClr val="C00000"/>
                          </a:solidFill>
                          <a:latin typeface="BIZ UDPGothic" pitchFamily="34" charset="0"/>
                          <a:ea typeface="BIZ UDPGothic" pitchFamily="34" charset="-122"/>
                          <a:cs typeface="BIZ UDPGothic" pitchFamily="34" charset="-120"/>
                        </a:rPr>
                        <a:t>○○:○○</a:t>
                      </a: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r>
              <a:tr h="640080">
                <a:tc>
                  <a:txBody>
                    <a:bodyPr/>
                    <a:lstStyle/>
                    <a:p>
                      <a:pPr indent="0" marL="0">
                        <a:buNone/>
                      </a:pPr>
                      <a:r>
                        <a:rPr lang="en-US" sz="2400" b="1" dirty="0">
                          <a:solidFill>
                            <a:srgbClr val="0E8C88"/>
                          </a:solidFill>
                          <a:latin typeface="Cambria" pitchFamily="34" charset="0"/>
                          <a:ea typeface="Cambria" pitchFamily="34" charset="-122"/>
                          <a:cs typeface="Cambria" pitchFamily="34" charset="-120"/>
                        </a:rPr>
                        <a:t>03</a:t>
                      </a:r>
                      <a:endParaRPr lang="en-US" sz="2400" dirty="0">
                        <a:latin typeface="Cambria" charset="0"/>
                        <a:ea typeface="Cambria" charset="0"/>
                        <a:cs typeface="Cambria"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r>
                        <a:rPr lang="en-US" sz="1500" dirty="0">
                          <a:solidFill>
                            <a:srgbClr val="C00000"/>
                          </a:solidFill>
                          <a:latin typeface="BIZ UDPGothic" pitchFamily="34" charset="0"/>
                          <a:ea typeface="BIZ UDPGothic" pitchFamily="34" charset="-122"/>
                          <a:cs typeface="BIZ UDPGothic" pitchFamily="34" charset="-120"/>
                        </a:rPr>
                        <a:t>○○:○○</a:t>
                      </a: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r>
              <a:tr h="640080">
                <a:tc>
                  <a:txBody>
                    <a:bodyPr/>
                    <a:lstStyle/>
                    <a:p>
                      <a:pPr indent="0" marL="0">
                        <a:buNone/>
                      </a:pPr>
                      <a:r>
                        <a:rPr lang="en-US" sz="2400" b="1" dirty="0">
                          <a:solidFill>
                            <a:srgbClr val="0E8C88"/>
                          </a:solidFill>
                          <a:latin typeface="Cambria" pitchFamily="34" charset="0"/>
                          <a:ea typeface="Cambria" pitchFamily="34" charset="-122"/>
                          <a:cs typeface="Cambria" pitchFamily="34" charset="-120"/>
                        </a:rPr>
                        <a:t>04</a:t>
                      </a:r>
                      <a:endParaRPr lang="en-US" sz="2400" dirty="0">
                        <a:latin typeface="Cambria" charset="0"/>
                        <a:ea typeface="Cambria" charset="0"/>
                        <a:cs typeface="Cambria"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r>
                        <a:rPr lang="en-US" sz="1500" dirty="0">
                          <a:solidFill>
                            <a:srgbClr val="C00000"/>
                          </a:solidFill>
                          <a:latin typeface="BIZ UDPGothic" pitchFamily="34" charset="0"/>
                          <a:ea typeface="BIZ UDPGothic" pitchFamily="34" charset="-122"/>
                          <a:cs typeface="BIZ UDPGothic" pitchFamily="34" charset="-120"/>
                        </a:rPr>
                        <a:t>○○:○○</a:t>
                      </a: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r>
              <a:tr h="640080">
                <a:tc>
                  <a:txBody>
                    <a:bodyPr/>
                    <a:lstStyle/>
                    <a:p>
                      <a:pPr indent="0" marL="0">
                        <a:buNone/>
                      </a:pPr>
                      <a:r>
                        <a:rPr lang="en-US" sz="2400" b="1" dirty="0">
                          <a:solidFill>
                            <a:srgbClr val="0E8C88"/>
                          </a:solidFill>
                          <a:latin typeface="Cambria" pitchFamily="34" charset="0"/>
                          <a:ea typeface="Cambria" pitchFamily="34" charset="-122"/>
                          <a:cs typeface="Cambria" pitchFamily="34" charset="-120"/>
                        </a:rPr>
                        <a:t>05</a:t>
                      </a:r>
                      <a:endParaRPr lang="en-US" sz="2400" dirty="0">
                        <a:latin typeface="Cambria" charset="0"/>
                        <a:ea typeface="Cambria" charset="0"/>
                        <a:cs typeface="Cambria"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r>
                        <a:rPr lang="en-US" sz="1500" dirty="0">
                          <a:solidFill>
                            <a:srgbClr val="C00000"/>
                          </a:solidFill>
                          <a:latin typeface="BIZ UDPGothic" pitchFamily="34" charset="0"/>
                          <a:ea typeface="BIZ UDPGothic" pitchFamily="34" charset="-122"/>
                          <a:cs typeface="BIZ UDPGothic" pitchFamily="34" charset="-120"/>
                        </a:rPr>
                        <a:t>○○:○○</a:t>
                      </a: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r>
              <a:tr h="640080">
                <a:tc>
                  <a:txBody>
                    <a:bodyPr/>
                    <a:lstStyle/>
                    <a:p>
                      <a:pPr indent="0" marL="0">
                        <a:buNone/>
                      </a:pPr>
                      <a:r>
                        <a:rPr lang="en-US" sz="2400" b="1" dirty="0">
                          <a:solidFill>
                            <a:srgbClr val="B8BEC8"/>
                          </a:solidFill>
                          <a:latin typeface="Cambria" pitchFamily="34" charset="0"/>
                          <a:ea typeface="Cambria" pitchFamily="34" charset="-122"/>
                          <a:cs typeface="Cambria" pitchFamily="34" charset="-120"/>
                        </a:rPr>
                        <a:t>06</a:t>
                      </a:r>
                      <a:endParaRPr lang="en-US" sz="2400" dirty="0">
                        <a:latin typeface="Cambria" charset="0"/>
                        <a:ea typeface="Cambria" charset="0"/>
                        <a:cs typeface="Cambria"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r>
                        <a:rPr lang="en-US" sz="1500" dirty="0">
                          <a:solidFill>
                            <a:srgbClr val="C00000"/>
                          </a:solidFill>
                          <a:latin typeface="BIZ UDPGothic" pitchFamily="34" charset="0"/>
                          <a:ea typeface="BIZ UDPGothic" pitchFamily="34" charset="-122"/>
                          <a:cs typeface="BIZ UDPGothic" pitchFamily="34" charset="-120"/>
                        </a:rPr>
                        <a:t>○○:○○</a:t>
                      </a: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r>
                        <a:rPr lang="en-US" sz="1500" dirty="0">
                          <a:solidFill>
                            <a:srgbClr val="6B7180"/>
                          </a:solidFill>
                          <a:latin typeface="BIZ UDPGothic" pitchFamily="34" charset="0"/>
                          <a:ea typeface="BIZ UDPGothic" pitchFamily="34" charset="-122"/>
                          <a:cs typeface="BIZ UDPGothic" pitchFamily="34" charset="-120"/>
                        </a:rPr>
                        <a:t>（予備枠）</a:t>
                      </a: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c>
                  <a:txBody>
                    <a:bodyPr/>
                    <a:lstStyle/>
                    <a:p>
                      <a:pPr indent="0" marL="0">
                        <a:buNone/>
                      </a:pPr>
                      <a:endParaRPr lang="en-US" sz="1500" dirty="0">
                        <a:latin typeface="BIZ UDPGothic" charset="0"/>
                        <a:ea typeface="BIZ UDPGothic" charset="0"/>
                        <a:cs typeface="BIZ UDPGothic" charset="0"/>
                      </a:endParaRPr>
                    </a:p>
                  </a:txBody>
                  <a:tcPr marL="73152" marR="73152" marT="0" marB="0" anchor="ctr">
                    <a:lnL w="0" cap="flat" cmpd="sng" algn="ctr">
                      <a:noFill/>
                    </a:lnL>
                    <a:lnR w="0" cap="flat" cmpd="sng" algn="ctr">
                      <a:noFill/>
                    </a:lnR>
                    <a:lnT w="0" cap="flat" cmpd="sng" algn="ctr">
                      <a:noFill/>
                    </a:lnT>
                    <a:lnB w="9525" cap="flat" cmpd="sng" algn="ctr">
                      <a:solidFill>
                        <a:srgbClr val="D3D7DE"/>
                      </a:solidFill>
                      <a:prstDash val="solid"/>
                      <a:round/>
                      <a:headEnd type="none" w="med" len="med"/>
                      <a:tailEnd type="none" w="med" len="med"/>
                    </a:lnB>
                  </a:tcPr>
                </a:tc>
              </a:tr>
            </a:tbl>
          </a:graphicData>
        </a:graphic>
      </p:graphicFrame>
      <p:sp>
        <p:nvSpPr>
          <p:cNvPr id="6" name="Text 3"/>
          <p:cNvSpPr txBox="1"/>
          <p:nvPr/>
        </p:nvSpPr>
        <p:spPr>
          <a:xfrm>
            <a:off x="777240" y="5989320"/>
            <a:ext cx="7315200" cy="274320"/>
          </a:xfrm>
          <a:prstGeom prst="rect">
            <a:avLst/>
          </a:prstGeom>
          <a:noFill/>
          <a:ln/>
        </p:spPr>
        <p:txBody>
          <a:bodyPr wrap="square" lIns="0" tIns="0" rIns="0" bIns="0" rtlCol="0" anchor="t"/>
          <a:lstStyle/>
          <a:p>
            <a:pPr indent="0" marL="0">
              <a:buNone/>
            </a:pPr>
            <a:r>
              <a:rPr lang="en-US" sz="1100" dirty="0">
                <a:solidFill>
                  <a:srgbClr val="6B7180"/>
                </a:solidFill>
                <a:latin typeface="BIZ UDPGothic" pitchFamily="34" charset="0"/>
                <a:ea typeface="BIZ UDPGothic" pitchFamily="34" charset="-122"/>
                <a:cs typeface="BIZ UDPGothic" pitchFamily="34" charset="-120"/>
              </a:rPr>
              <a:t>※ 赤字は未定。参加メンバー確定後に記入。</a:t>
            </a:r>
            <a:endParaRPr lang="en-US" sz="11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22252E"/>
                </a:solidFill>
                <a:latin typeface="Cambria"/>
                <a:ea typeface="Cambria"/>
                <a:cs typeface="Cambria"/>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640080" y="685800"/>
            <a:ext cx="4572000" cy="3108960"/>
          </a:xfrm>
          <a:prstGeom prst="rect">
            <a:avLst/>
          </a:prstGeom>
          <a:noFill/>
          <a:ln/>
        </p:spPr>
        <p:txBody>
          <a:bodyPr wrap="square" lIns="0" tIns="0" rIns="0" bIns="0" rtlCol="0" anchor="t"/>
          <a:lstStyle/>
          <a:p>
            <a:pPr indent="0" marL="0">
              <a:buNone/>
            </a:pPr>
            <a:r>
              <a:rPr lang="en-US" sz="23000" b="1" dirty="0">
                <a:solidFill>
                  <a:srgbClr val="2A2F36"/>
                </a:solidFill>
                <a:latin typeface="Cambria" pitchFamily="34" charset="0"/>
                <a:ea typeface="Cambria" pitchFamily="34" charset="-122"/>
                <a:cs typeface="Cambria" pitchFamily="34" charset="-120"/>
              </a:rPr>
              <a:t>01</a:t>
            </a:r>
            <a:endParaRPr lang="en-US" sz="23000" dirty="0"/>
          </a:p>
        </p:txBody>
      </p:sp>
      <p:sp>
        <p:nvSpPr>
          <p:cNvPr id="3" name="Text 1"/>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7FD1CC"/>
                </a:solidFill>
                <a:latin typeface="Cambria" pitchFamily="34" charset="0"/>
                <a:ea typeface="Cambria" pitchFamily="34" charset="-122"/>
                <a:cs typeface="Cambria" pitchFamily="34" charset="-120"/>
              </a:rPr>
              <a:t>PRESENTER 01  ／  5 MIN</a:t>
            </a:r>
            <a:endParaRPr lang="en-US" sz="1300" dirty="0"/>
          </a:p>
        </p:txBody>
      </p:sp>
      <p:sp>
        <p:nvSpPr>
          <p:cNvPr id="4" name="Text 2"/>
          <p:cNvSpPr txBox="1"/>
          <p:nvPr/>
        </p:nvSpPr>
        <p:spPr>
          <a:xfrm>
            <a:off x="777240" y="3840480"/>
            <a:ext cx="5943600" cy="822960"/>
          </a:xfrm>
          <a:prstGeom prst="rect">
            <a:avLst/>
          </a:prstGeom>
          <a:noFill/>
          <a:ln/>
        </p:spPr>
        <p:txBody>
          <a:bodyPr wrap="square" lIns="0" tIns="0" rIns="0" bIns="0" rtlCol="0" anchor="t"/>
          <a:lstStyle/>
          <a:p>
            <a:pPr indent="0" marL="0">
              <a:buNone/>
            </a:pPr>
            <a:r>
              <a:rPr lang="en-US" sz="4400" b="1" dirty="0">
                <a:solidFill>
                  <a:srgbClr val="FFFFFF"/>
                </a:solidFill>
                <a:latin typeface="BIZ UDPGothic" pitchFamily="34" charset="0"/>
                <a:ea typeface="BIZ UDPGothic" pitchFamily="34" charset="-122"/>
                <a:cs typeface="BIZ UDPGothic" pitchFamily="34" charset="-120"/>
              </a:rPr>
              <a:t>氏名</a:t>
            </a:r>
            <a:endParaRPr lang="en-US" sz="4400" dirty="0"/>
          </a:p>
        </p:txBody>
      </p:sp>
      <p:sp>
        <p:nvSpPr>
          <p:cNvPr id="5" name="Text 3"/>
          <p:cNvSpPr txBox="1"/>
          <p:nvPr/>
        </p:nvSpPr>
        <p:spPr>
          <a:xfrm>
            <a:off x="777240" y="4709160"/>
            <a:ext cx="5943600" cy="365760"/>
          </a:xfrm>
          <a:prstGeom prst="rect">
            <a:avLst/>
          </a:prstGeom>
          <a:noFill/>
          <a:ln/>
        </p:spPr>
        <p:txBody>
          <a:bodyPr wrap="square" lIns="0" tIns="0" rIns="0" bIns="0" rtlCol="0" anchor="t"/>
          <a:lstStyle/>
          <a:p>
            <a:pPr indent="0" marL="0">
              <a:buNone/>
            </a:pPr>
            <a:r>
              <a:rPr lang="en-US" sz="1600" dirty="0">
                <a:solidFill>
                  <a:srgbClr val="9AA1AD"/>
                </a:solidFill>
                <a:latin typeface="BIZ UDPGothic" pitchFamily="34" charset="0"/>
                <a:ea typeface="BIZ UDPGothic" pitchFamily="34" charset="-122"/>
                <a:cs typeface="BIZ UDPGothic" pitchFamily="34" charset="-120"/>
              </a:rPr>
              <a:t>所属：　　　　　　</a:t>
            </a:r>
            <a:endParaRPr lang="en-US" sz="1600" dirty="0"/>
          </a:p>
        </p:txBody>
      </p:sp>
      <p:sp>
        <p:nvSpPr>
          <p:cNvPr id="6" name="Text 4"/>
          <p:cNvSpPr txBox="1"/>
          <p:nvPr/>
        </p:nvSpPr>
        <p:spPr>
          <a:xfrm>
            <a:off x="777240" y="5212080"/>
            <a:ext cx="1097280" cy="457200"/>
          </a:xfrm>
          <a:prstGeom prst="rect">
            <a:avLst/>
          </a:prstGeom>
          <a:noFill/>
          <a:ln/>
        </p:spPr>
        <p:txBody>
          <a:bodyPr wrap="square" lIns="0" tIns="0" rIns="0" bIns="0" rtlCol="0" anchor="t"/>
          <a:lstStyle/>
          <a:p>
            <a:pPr indent="0" marL="0">
              <a:buNone/>
            </a:pPr>
            <a:r>
              <a:rPr lang="en-US" sz="1800" dirty="0">
                <a:solidFill>
                  <a:srgbClr val="9AA1AD"/>
                </a:solidFill>
                <a:latin typeface="BIZ UDPGothic" pitchFamily="34" charset="0"/>
                <a:ea typeface="BIZ UDPGothic" pitchFamily="34" charset="-122"/>
                <a:cs typeface="BIZ UDPGothic" pitchFamily="34" charset="-120"/>
              </a:rPr>
              <a:t>テーマ：</a:t>
            </a:r>
            <a:endParaRPr lang="en-US" sz="1800" dirty="0"/>
          </a:p>
        </p:txBody>
      </p:sp>
      <p:sp>
        <p:nvSpPr>
          <p:cNvPr id="7" name="Text 5"/>
          <p:cNvSpPr txBox="1"/>
          <p:nvPr/>
        </p:nvSpPr>
        <p:spPr>
          <a:xfrm>
            <a:off x="1874520" y="5212080"/>
            <a:ext cx="4937760" cy="457200"/>
          </a:xfrm>
          <a:prstGeom prst="rect">
            <a:avLst/>
          </a:prstGeom>
          <a:noFill/>
          <a:ln/>
        </p:spPr>
        <p:txBody>
          <a:bodyPr wrap="square" lIns="0" tIns="0" rIns="0" bIns="0" rtlCol="0" anchor="t"/>
          <a:lstStyle/>
          <a:p>
            <a:pPr indent="0" marL="0">
              <a:buNone/>
            </a:pPr>
            <a:r>
              <a:rPr lang="en-US" sz="1800" dirty="0">
                <a:solidFill>
                  <a:srgbClr val="7FD1CC"/>
                </a:solidFill>
                <a:latin typeface="BIZ UDPGothic" pitchFamily="34" charset="0"/>
                <a:ea typeface="BIZ UDPGothic" pitchFamily="34" charset="-122"/>
                <a:cs typeface="BIZ UDPGothic" pitchFamily="34" charset="-120"/>
              </a:rPr>
              <a:t>（作ったものの名前）</a:t>
            </a:r>
            <a:endParaRPr lang="en-US" sz="1800" dirty="0"/>
          </a:p>
        </p:txBody>
      </p:sp>
      <p:sp>
        <p:nvSpPr>
          <p:cNvPr id="8" name="Shape 6"/>
          <p:cNvSpPr/>
          <p:nvPr/>
        </p:nvSpPr>
        <p:spPr>
          <a:xfrm>
            <a:off x="6812280" y="1188720"/>
            <a:ext cx="0" cy="4663440"/>
          </a:xfrm>
          <a:prstGeom prst="line">
            <a:avLst/>
          </a:prstGeom>
          <a:noFill/>
          <a:ln w="9525">
            <a:solidFill>
              <a:srgbClr val="3A404A"/>
            </a:solidFill>
            <a:prstDash val="solid"/>
          </a:ln>
        </p:spPr>
      </p:sp>
      <p:sp>
        <p:nvSpPr>
          <p:cNvPr id="9" name="Text 7"/>
          <p:cNvSpPr txBox="1"/>
          <p:nvPr/>
        </p:nvSpPr>
        <p:spPr>
          <a:xfrm>
            <a:off x="7223760" y="1188720"/>
            <a:ext cx="4190695" cy="320040"/>
          </a:xfrm>
          <a:prstGeom prst="rect">
            <a:avLst/>
          </a:prstGeom>
          <a:noFill/>
          <a:ln/>
        </p:spPr>
        <p:txBody>
          <a:bodyPr wrap="square" lIns="0" tIns="0" rIns="0" bIns="0" rtlCol="0" anchor="t"/>
          <a:lstStyle/>
          <a:p>
            <a:pPr indent="0" marL="0">
              <a:buNone/>
            </a:pPr>
            <a:r>
              <a:rPr lang="en-US" sz="1300" b="1" dirty="0">
                <a:solidFill>
                  <a:srgbClr val="9AA1AD"/>
                </a:solidFill>
                <a:latin typeface="BIZ UDPGothic" pitchFamily="34" charset="0"/>
                <a:ea typeface="BIZ UDPGothic" pitchFamily="34" charset="-122"/>
                <a:cs typeface="BIZ UDPGothic" pitchFamily="34" charset="-120"/>
              </a:rPr>
              <a:t>話してほしいこと</a:t>
            </a:r>
            <a:endParaRPr lang="en-US" sz="1300" dirty="0"/>
          </a:p>
        </p:txBody>
      </p:sp>
      <p:sp>
        <p:nvSpPr>
          <p:cNvPr id="10" name="Text 8"/>
          <p:cNvSpPr txBox="1"/>
          <p:nvPr/>
        </p:nvSpPr>
        <p:spPr>
          <a:xfrm>
            <a:off x="7223760" y="178308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①</a:t>
            </a:r>
            <a:endParaRPr lang="en-US" sz="2400" dirty="0"/>
          </a:p>
        </p:txBody>
      </p:sp>
      <p:sp>
        <p:nvSpPr>
          <p:cNvPr id="11" name="Text 9"/>
          <p:cNvSpPr txBox="1"/>
          <p:nvPr/>
        </p:nvSpPr>
        <p:spPr>
          <a:xfrm>
            <a:off x="7818120" y="181051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何を作ったか</a:t>
            </a:r>
            <a:endParaRPr lang="en-US" sz="1900" dirty="0"/>
          </a:p>
        </p:txBody>
      </p:sp>
      <p:sp>
        <p:nvSpPr>
          <p:cNvPr id="12" name="Text 10"/>
          <p:cNvSpPr txBox="1"/>
          <p:nvPr/>
        </p:nvSpPr>
        <p:spPr>
          <a:xfrm>
            <a:off x="7818120" y="224028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作ったもの・使ったAIツールを一言で</a:t>
            </a:r>
            <a:endParaRPr lang="en-US" sz="1200" dirty="0"/>
          </a:p>
        </p:txBody>
      </p:sp>
      <p:sp>
        <p:nvSpPr>
          <p:cNvPr id="13" name="Text 11"/>
          <p:cNvSpPr txBox="1"/>
          <p:nvPr/>
        </p:nvSpPr>
        <p:spPr>
          <a:xfrm>
            <a:off x="7223760" y="283464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②</a:t>
            </a:r>
            <a:endParaRPr lang="en-US" sz="2400" dirty="0"/>
          </a:p>
        </p:txBody>
      </p:sp>
      <p:sp>
        <p:nvSpPr>
          <p:cNvPr id="14" name="Text 12"/>
          <p:cNvSpPr txBox="1"/>
          <p:nvPr/>
        </p:nvSpPr>
        <p:spPr>
          <a:xfrm>
            <a:off x="7818120" y="286207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どんな課題があって作ったか</a:t>
            </a:r>
            <a:endParaRPr lang="en-US" sz="1900" dirty="0"/>
          </a:p>
        </p:txBody>
      </p:sp>
      <p:sp>
        <p:nvSpPr>
          <p:cNvPr id="15" name="Text 13"/>
          <p:cNvSpPr txBox="1"/>
          <p:nvPr/>
        </p:nvSpPr>
        <p:spPr>
          <a:xfrm>
            <a:off x="7818120" y="329184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誰が・何に困っていたのか</a:t>
            </a:r>
            <a:endParaRPr lang="en-US" sz="1200" dirty="0"/>
          </a:p>
        </p:txBody>
      </p:sp>
      <p:sp>
        <p:nvSpPr>
          <p:cNvPr id="16" name="Text 14"/>
          <p:cNvSpPr txBox="1"/>
          <p:nvPr/>
        </p:nvSpPr>
        <p:spPr>
          <a:xfrm>
            <a:off x="7223760" y="388620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③</a:t>
            </a:r>
            <a:endParaRPr lang="en-US" sz="2400" dirty="0"/>
          </a:p>
        </p:txBody>
      </p:sp>
      <p:sp>
        <p:nvSpPr>
          <p:cNvPr id="17" name="Text 15"/>
          <p:cNvSpPr txBox="1"/>
          <p:nvPr/>
        </p:nvSpPr>
        <p:spPr>
          <a:xfrm>
            <a:off x="7818120" y="391363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工夫した点</a:t>
            </a:r>
            <a:endParaRPr lang="en-US" sz="1900" dirty="0"/>
          </a:p>
        </p:txBody>
      </p:sp>
      <p:sp>
        <p:nvSpPr>
          <p:cNvPr id="18" name="Text 16"/>
          <p:cNvSpPr txBox="1"/>
          <p:nvPr/>
        </p:nvSpPr>
        <p:spPr>
          <a:xfrm>
            <a:off x="7818120" y="434340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使いやすくするために考えたこと</a:t>
            </a:r>
            <a:endParaRPr lang="en-US" sz="1200" dirty="0"/>
          </a:p>
        </p:txBody>
      </p:sp>
      <p:sp>
        <p:nvSpPr>
          <p:cNvPr id="19" name="Text 17"/>
          <p:cNvSpPr txBox="1"/>
          <p:nvPr/>
        </p:nvSpPr>
        <p:spPr>
          <a:xfrm>
            <a:off x="7223760" y="493776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④</a:t>
            </a:r>
            <a:endParaRPr lang="en-US" sz="2400" dirty="0"/>
          </a:p>
        </p:txBody>
      </p:sp>
      <p:sp>
        <p:nvSpPr>
          <p:cNvPr id="20" name="Text 18"/>
          <p:cNvSpPr txBox="1"/>
          <p:nvPr/>
        </p:nvSpPr>
        <p:spPr>
          <a:xfrm>
            <a:off x="7818120" y="496519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困難だった点</a:t>
            </a:r>
            <a:endParaRPr lang="en-US" sz="1900" dirty="0"/>
          </a:p>
        </p:txBody>
      </p:sp>
      <p:sp>
        <p:nvSpPr>
          <p:cNvPr id="21" name="Text 19"/>
          <p:cNvSpPr txBox="1"/>
          <p:nvPr/>
        </p:nvSpPr>
        <p:spPr>
          <a:xfrm>
            <a:off x="7818120" y="539496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つまずいた所と、どう乗り越えたか</a:t>
            </a:r>
            <a:endParaRPr lang="en-US" sz="12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FFFF"/>
                </a:solidFill>
                <a:latin typeface="Cambria"/>
                <a:ea typeface="Cambria"/>
                <a:cs typeface="Cambria"/>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685800"/>
            <a:ext cx="4572000" cy="3108960"/>
          </a:xfrm>
          <a:prstGeom prst="rect">
            <a:avLst/>
          </a:prstGeom>
          <a:noFill/>
          <a:ln/>
        </p:spPr>
        <p:txBody>
          <a:bodyPr wrap="square" lIns="0" tIns="0" rIns="0" bIns="0" rtlCol="0" anchor="t"/>
          <a:lstStyle/>
          <a:p>
            <a:pPr indent="0" marL="0">
              <a:buNone/>
            </a:pPr>
            <a:r>
              <a:rPr lang="en-US" sz="23000" b="1" dirty="0">
                <a:solidFill>
                  <a:srgbClr val="2A2F36"/>
                </a:solidFill>
                <a:latin typeface="Cambria" pitchFamily="34" charset="0"/>
                <a:ea typeface="Cambria" pitchFamily="34" charset="-122"/>
                <a:cs typeface="Cambria" pitchFamily="34" charset="-120"/>
              </a:rPr>
              <a:t>02</a:t>
            </a:r>
            <a:endParaRPr lang="en-US" sz="23000" dirty="0"/>
          </a:p>
        </p:txBody>
      </p:sp>
      <p:sp>
        <p:nvSpPr>
          <p:cNvPr id="3" name="Text 1"/>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7FD1CC"/>
                </a:solidFill>
                <a:latin typeface="Cambria" pitchFamily="34" charset="0"/>
                <a:ea typeface="Cambria" pitchFamily="34" charset="-122"/>
                <a:cs typeface="Cambria" pitchFamily="34" charset="-120"/>
              </a:rPr>
              <a:t>PRESENTER 02  ／  5 MIN</a:t>
            </a:r>
            <a:endParaRPr lang="en-US" sz="1300" dirty="0"/>
          </a:p>
        </p:txBody>
      </p:sp>
      <p:sp>
        <p:nvSpPr>
          <p:cNvPr id="4" name="Text 2"/>
          <p:cNvSpPr txBox="1"/>
          <p:nvPr/>
        </p:nvSpPr>
        <p:spPr>
          <a:xfrm>
            <a:off x="777240" y="3840480"/>
            <a:ext cx="5943600" cy="822960"/>
          </a:xfrm>
          <a:prstGeom prst="rect">
            <a:avLst/>
          </a:prstGeom>
          <a:noFill/>
          <a:ln/>
        </p:spPr>
        <p:txBody>
          <a:bodyPr wrap="square" lIns="0" tIns="0" rIns="0" bIns="0" rtlCol="0" anchor="t"/>
          <a:lstStyle/>
          <a:p>
            <a:pPr indent="0" marL="0">
              <a:buNone/>
            </a:pPr>
            <a:r>
              <a:rPr lang="en-US" sz="4400" b="1" dirty="0">
                <a:solidFill>
                  <a:srgbClr val="FFFFFF"/>
                </a:solidFill>
                <a:latin typeface="BIZ UDPGothic" pitchFamily="34" charset="0"/>
                <a:ea typeface="BIZ UDPGothic" pitchFamily="34" charset="-122"/>
                <a:cs typeface="BIZ UDPGothic" pitchFamily="34" charset="-120"/>
              </a:rPr>
              <a:t>氏名</a:t>
            </a:r>
            <a:endParaRPr lang="en-US" sz="4400" dirty="0"/>
          </a:p>
        </p:txBody>
      </p:sp>
      <p:sp>
        <p:nvSpPr>
          <p:cNvPr id="5" name="Text 3"/>
          <p:cNvSpPr txBox="1"/>
          <p:nvPr/>
        </p:nvSpPr>
        <p:spPr>
          <a:xfrm>
            <a:off x="777240" y="4709160"/>
            <a:ext cx="5943600" cy="365760"/>
          </a:xfrm>
          <a:prstGeom prst="rect">
            <a:avLst/>
          </a:prstGeom>
          <a:noFill/>
          <a:ln/>
        </p:spPr>
        <p:txBody>
          <a:bodyPr wrap="square" lIns="0" tIns="0" rIns="0" bIns="0" rtlCol="0" anchor="t"/>
          <a:lstStyle/>
          <a:p>
            <a:pPr indent="0" marL="0">
              <a:buNone/>
            </a:pPr>
            <a:r>
              <a:rPr lang="en-US" sz="1600" dirty="0">
                <a:solidFill>
                  <a:srgbClr val="9AA1AD"/>
                </a:solidFill>
                <a:latin typeface="BIZ UDPGothic" pitchFamily="34" charset="0"/>
                <a:ea typeface="BIZ UDPGothic" pitchFamily="34" charset="-122"/>
                <a:cs typeface="BIZ UDPGothic" pitchFamily="34" charset="-120"/>
              </a:rPr>
              <a:t>所属：　　　　　　</a:t>
            </a:r>
            <a:endParaRPr lang="en-US" sz="1600" dirty="0"/>
          </a:p>
        </p:txBody>
      </p:sp>
      <p:sp>
        <p:nvSpPr>
          <p:cNvPr id="6" name="Text 4"/>
          <p:cNvSpPr txBox="1"/>
          <p:nvPr/>
        </p:nvSpPr>
        <p:spPr>
          <a:xfrm>
            <a:off x="777240" y="5212080"/>
            <a:ext cx="1097280" cy="457200"/>
          </a:xfrm>
          <a:prstGeom prst="rect">
            <a:avLst/>
          </a:prstGeom>
          <a:noFill/>
          <a:ln/>
        </p:spPr>
        <p:txBody>
          <a:bodyPr wrap="square" lIns="0" tIns="0" rIns="0" bIns="0" rtlCol="0" anchor="t"/>
          <a:lstStyle/>
          <a:p>
            <a:pPr indent="0" marL="0">
              <a:buNone/>
            </a:pPr>
            <a:r>
              <a:rPr lang="en-US" sz="1800" dirty="0">
                <a:solidFill>
                  <a:srgbClr val="9AA1AD"/>
                </a:solidFill>
                <a:latin typeface="BIZ UDPGothic" pitchFamily="34" charset="0"/>
                <a:ea typeface="BIZ UDPGothic" pitchFamily="34" charset="-122"/>
                <a:cs typeface="BIZ UDPGothic" pitchFamily="34" charset="-120"/>
              </a:rPr>
              <a:t>テーマ：</a:t>
            </a:r>
            <a:endParaRPr lang="en-US" sz="1800" dirty="0"/>
          </a:p>
        </p:txBody>
      </p:sp>
      <p:sp>
        <p:nvSpPr>
          <p:cNvPr id="7" name="Text 5"/>
          <p:cNvSpPr txBox="1"/>
          <p:nvPr/>
        </p:nvSpPr>
        <p:spPr>
          <a:xfrm>
            <a:off x="1874520" y="5212080"/>
            <a:ext cx="4937760" cy="457200"/>
          </a:xfrm>
          <a:prstGeom prst="rect">
            <a:avLst/>
          </a:prstGeom>
          <a:noFill/>
          <a:ln/>
        </p:spPr>
        <p:txBody>
          <a:bodyPr wrap="square" lIns="0" tIns="0" rIns="0" bIns="0" rtlCol="0" anchor="t"/>
          <a:lstStyle/>
          <a:p>
            <a:pPr indent="0" marL="0">
              <a:buNone/>
            </a:pPr>
            <a:r>
              <a:rPr lang="en-US" sz="1800" dirty="0">
                <a:solidFill>
                  <a:srgbClr val="7FD1CC"/>
                </a:solidFill>
                <a:latin typeface="BIZ UDPGothic" pitchFamily="34" charset="0"/>
                <a:ea typeface="BIZ UDPGothic" pitchFamily="34" charset="-122"/>
                <a:cs typeface="BIZ UDPGothic" pitchFamily="34" charset="-120"/>
              </a:rPr>
              <a:t>（作ったものの名前）</a:t>
            </a:r>
            <a:endParaRPr lang="en-US" sz="1800" dirty="0"/>
          </a:p>
        </p:txBody>
      </p:sp>
      <p:sp>
        <p:nvSpPr>
          <p:cNvPr id="8" name="Shape 6"/>
          <p:cNvSpPr/>
          <p:nvPr/>
        </p:nvSpPr>
        <p:spPr>
          <a:xfrm>
            <a:off x="6812280" y="1188720"/>
            <a:ext cx="0" cy="4663440"/>
          </a:xfrm>
          <a:prstGeom prst="line">
            <a:avLst/>
          </a:prstGeom>
          <a:noFill/>
          <a:ln w="9525">
            <a:solidFill>
              <a:srgbClr val="3A404A"/>
            </a:solidFill>
            <a:prstDash val="solid"/>
          </a:ln>
        </p:spPr>
      </p:sp>
      <p:sp>
        <p:nvSpPr>
          <p:cNvPr id="9" name="Text 7"/>
          <p:cNvSpPr txBox="1"/>
          <p:nvPr/>
        </p:nvSpPr>
        <p:spPr>
          <a:xfrm>
            <a:off x="7223760" y="1188720"/>
            <a:ext cx="4190695" cy="320040"/>
          </a:xfrm>
          <a:prstGeom prst="rect">
            <a:avLst/>
          </a:prstGeom>
          <a:noFill/>
          <a:ln/>
        </p:spPr>
        <p:txBody>
          <a:bodyPr wrap="square" lIns="0" tIns="0" rIns="0" bIns="0" rtlCol="0" anchor="t"/>
          <a:lstStyle/>
          <a:p>
            <a:pPr indent="0" marL="0">
              <a:buNone/>
            </a:pPr>
            <a:r>
              <a:rPr lang="en-US" sz="1300" b="1" dirty="0">
                <a:solidFill>
                  <a:srgbClr val="9AA1AD"/>
                </a:solidFill>
                <a:latin typeface="BIZ UDPGothic" pitchFamily="34" charset="0"/>
                <a:ea typeface="BIZ UDPGothic" pitchFamily="34" charset="-122"/>
                <a:cs typeface="BIZ UDPGothic" pitchFamily="34" charset="-120"/>
              </a:rPr>
              <a:t>話してほしいこと</a:t>
            </a:r>
            <a:endParaRPr lang="en-US" sz="1300" dirty="0"/>
          </a:p>
        </p:txBody>
      </p:sp>
      <p:sp>
        <p:nvSpPr>
          <p:cNvPr id="10" name="Text 8"/>
          <p:cNvSpPr txBox="1"/>
          <p:nvPr/>
        </p:nvSpPr>
        <p:spPr>
          <a:xfrm>
            <a:off x="7223760" y="178308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①</a:t>
            </a:r>
            <a:endParaRPr lang="en-US" sz="2400" dirty="0"/>
          </a:p>
        </p:txBody>
      </p:sp>
      <p:sp>
        <p:nvSpPr>
          <p:cNvPr id="11" name="Text 9"/>
          <p:cNvSpPr txBox="1"/>
          <p:nvPr/>
        </p:nvSpPr>
        <p:spPr>
          <a:xfrm>
            <a:off x="7818120" y="181051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何を作ったか</a:t>
            </a:r>
            <a:endParaRPr lang="en-US" sz="1900" dirty="0"/>
          </a:p>
        </p:txBody>
      </p:sp>
      <p:sp>
        <p:nvSpPr>
          <p:cNvPr id="12" name="Text 10"/>
          <p:cNvSpPr txBox="1"/>
          <p:nvPr/>
        </p:nvSpPr>
        <p:spPr>
          <a:xfrm>
            <a:off x="7818120" y="224028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作ったもの・使ったAIツールを一言で</a:t>
            </a:r>
            <a:endParaRPr lang="en-US" sz="1200" dirty="0"/>
          </a:p>
        </p:txBody>
      </p:sp>
      <p:sp>
        <p:nvSpPr>
          <p:cNvPr id="13" name="Text 11"/>
          <p:cNvSpPr txBox="1"/>
          <p:nvPr/>
        </p:nvSpPr>
        <p:spPr>
          <a:xfrm>
            <a:off x="7223760" y="283464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②</a:t>
            </a:r>
            <a:endParaRPr lang="en-US" sz="2400" dirty="0"/>
          </a:p>
        </p:txBody>
      </p:sp>
      <p:sp>
        <p:nvSpPr>
          <p:cNvPr id="14" name="Text 12"/>
          <p:cNvSpPr txBox="1"/>
          <p:nvPr/>
        </p:nvSpPr>
        <p:spPr>
          <a:xfrm>
            <a:off x="7818120" y="286207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どんな課題があって作ったか</a:t>
            </a:r>
            <a:endParaRPr lang="en-US" sz="1900" dirty="0"/>
          </a:p>
        </p:txBody>
      </p:sp>
      <p:sp>
        <p:nvSpPr>
          <p:cNvPr id="15" name="Text 13"/>
          <p:cNvSpPr txBox="1"/>
          <p:nvPr/>
        </p:nvSpPr>
        <p:spPr>
          <a:xfrm>
            <a:off x="7818120" y="329184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誰が・何に困っていたのか</a:t>
            </a:r>
            <a:endParaRPr lang="en-US" sz="1200" dirty="0"/>
          </a:p>
        </p:txBody>
      </p:sp>
      <p:sp>
        <p:nvSpPr>
          <p:cNvPr id="16" name="Text 14"/>
          <p:cNvSpPr txBox="1"/>
          <p:nvPr/>
        </p:nvSpPr>
        <p:spPr>
          <a:xfrm>
            <a:off x="7223760" y="388620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③</a:t>
            </a:r>
            <a:endParaRPr lang="en-US" sz="2400" dirty="0"/>
          </a:p>
        </p:txBody>
      </p:sp>
      <p:sp>
        <p:nvSpPr>
          <p:cNvPr id="17" name="Text 15"/>
          <p:cNvSpPr txBox="1"/>
          <p:nvPr/>
        </p:nvSpPr>
        <p:spPr>
          <a:xfrm>
            <a:off x="7818120" y="391363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工夫した点</a:t>
            </a:r>
            <a:endParaRPr lang="en-US" sz="1900" dirty="0"/>
          </a:p>
        </p:txBody>
      </p:sp>
      <p:sp>
        <p:nvSpPr>
          <p:cNvPr id="18" name="Text 16"/>
          <p:cNvSpPr txBox="1"/>
          <p:nvPr/>
        </p:nvSpPr>
        <p:spPr>
          <a:xfrm>
            <a:off x="7818120" y="434340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使いやすくするために考えたこと</a:t>
            </a:r>
            <a:endParaRPr lang="en-US" sz="1200" dirty="0"/>
          </a:p>
        </p:txBody>
      </p:sp>
      <p:sp>
        <p:nvSpPr>
          <p:cNvPr id="19" name="Text 17"/>
          <p:cNvSpPr txBox="1"/>
          <p:nvPr/>
        </p:nvSpPr>
        <p:spPr>
          <a:xfrm>
            <a:off x="7223760" y="493776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④</a:t>
            </a:r>
            <a:endParaRPr lang="en-US" sz="2400" dirty="0"/>
          </a:p>
        </p:txBody>
      </p:sp>
      <p:sp>
        <p:nvSpPr>
          <p:cNvPr id="20" name="Text 18"/>
          <p:cNvSpPr txBox="1"/>
          <p:nvPr/>
        </p:nvSpPr>
        <p:spPr>
          <a:xfrm>
            <a:off x="7818120" y="496519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困難だった点</a:t>
            </a:r>
            <a:endParaRPr lang="en-US" sz="1900" dirty="0"/>
          </a:p>
        </p:txBody>
      </p:sp>
      <p:sp>
        <p:nvSpPr>
          <p:cNvPr id="21" name="Text 19"/>
          <p:cNvSpPr txBox="1"/>
          <p:nvPr/>
        </p:nvSpPr>
        <p:spPr>
          <a:xfrm>
            <a:off x="7818120" y="539496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つまずいた所と、どう乗り越えたか</a:t>
            </a:r>
            <a:endParaRPr lang="en-US" sz="12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FFFF"/>
                </a:solidFill>
                <a:latin typeface="Cambria"/>
                <a:ea typeface="Cambria"/>
                <a:cs typeface="Cambria"/>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685800"/>
            <a:ext cx="4572000" cy="3108960"/>
          </a:xfrm>
          <a:prstGeom prst="rect">
            <a:avLst/>
          </a:prstGeom>
          <a:noFill/>
          <a:ln/>
        </p:spPr>
        <p:txBody>
          <a:bodyPr wrap="square" lIns="0" tIns="0" rIns="0" bIns="0" rtlCol="0" anchor="t"/>
          <a:lstStyle/>
          <a:p>
            <a:pPr indent="0" marL="0">
              <a:buNone/>
            </a:pPr>
            <a:r>
              <a:rPr lang="en-US" sz="23000" b="1" dirty="0">
                <a:solidFill>
                  <a:srgbClr val="2A2F36"/>
                </a:solidFill>
                <a:latin typeface="Cambria" pitchFamily="34" charset="0"/>
                <a:ea typeface="Cambria" pitchFamily="34" charset="-122"/>
                <a:cs typeface="Cambria" pitchFamily="34" charset="-120"/>
              </a:rPr>
              <a:t>03</a:t>
            </a:r>
            <a:endParaRPr lang="en-US" sz="23000" dirty="0"/>
          </a:p>
        </p:txBody>
      </p:sp>
      <p:sp>
        <p:nvSpPr>
          <p:cNvPr id="3" name="Text 1"/>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7FD1CC"/>
                </a:solidFill>
                <a:latin typeface="Cambria" pitchFamily="34" charset="0"/>
                <a:ea typeface="Cambria" pitchFamily="34" charset="-122"/>
                <a:cs typeface="Cambria" pitchFamily="34" charset="-120"/>
              </a:rPr>
              <a:t>PRESENTER 03  ／  5 MIN</a:t>
            </a:r>
            <a:endParaRPr lang="en-US" sz="1300" dirty="0"/>
          </a:p>
        </p:txBody>
      </p:sp>
      <p:sp>
        <p:nvSpPr>
          <p:cNvPr id="4" name="Text 2"/>
          <p:cNvSpPr txBox="1"/>
          <p:nvPr/>
        </p:nvSpPr>
        <p:spPr>
          <a:xfrm>
            <a:off x="777240" y="3840480"/>
            <a:ext cx="5943600" cy="822960"/>
          </a:xfrm>
          <a:prstGeom prst="rect">
            <a:avLst/>
          </a:prstGeom>
          <a:noFill/>
          <a:ln/>
        </p:spPr>
        <p:txBody>
          <a:bodyPr wrap="square" lIns="0" tIns="0" rIns="0" bIns="0" rtlCol="0" anchor="t"/>
          <a:lstStyle/>
          <a:p>
            <a:pPr indent="0" marL="0">
              <a:buNone/>
            </a:pPr>
            <a:r>
              <a:rPr lang="en-US" sz="4400" b="1" dirty="0">
                <a:solidFill>
                  <a:srgbClr val="FFFFFF"/>
                </a:solidFill>
                <a:latin typeface="BIZ UDPGothic" pitchFamily="34" charset="0"/>
                <a:ea typeface="BIZ UDPGothic" pitchFamily="34" charset="-122"/>
                <a:cs typeface="BIZ UDPGothic" pitchFamily="34" charset="-120"/>
              </a:rPr>
              <a:t>氏名</a:t>
            </a:r>
            <a:endParaRPr lang="en-US" sz="4400" dirty="0"/>
          </a:p>
        </p:txBody>
      </p:sp>
      <p:sp>
        <p:nvSpPr>
          <p:cNvPr id="5" name="Text 3"/>
          <p:cNvSpPr txBox="1"/>
          <p:nvPr/>
        </p:nvSpPr>
        <p:spPr>
          <a:xfrm>
            <a:off x="777240" y="4709160"/>
            <a:ext cx="5943600" cy="365760"/>
          </a:xfrm>
          <a:prstGeom prst="rect">
            <a:avLst/>
          </a:prstGeom>
          <a:noFill/>
          <a:ln/>
        </p:spPr>
        <p:txBody>
          <a:bodyPr wrap="square" lIns="0" tIns="0" rIns="0" bIns="0" rtlCol="0" anchor="t"/>
          <a:lstStyle/>
          <a:p>
            <a:pPr indent="0" marL="0">
              <a:buNone/>
            </a:pPr>
            <a:r>
              <a:rPr lang="en-US" sz="1600" dirty="0">
                <a:solidFill>
                  <a:srgbClr val="9AA1AD"/>
                </a:solidFill>
                <a:latin typeface="BIZ UDPGothic" pitchFamily="34" charset="0"/>
                <a:ea typeface="BIZ UDPGothic" pitchFamily="34" charset="-122"/>
                <a:cs typeface="BIZ UDPGothic" pitchFamily="34" charset="-120"/>
              </a:rPr>
              <a:t>所属：　　　　　　</a:t>
            </a:r>
            <a:endParaRPr lang="en-US" sz="1600" dirty="0"/>
          </a:p>
        </p:txBody>
      </p:sp>
      <p:sp>
        <p:nvSpPr>
          <p:cNvPr id="6" name="Text 4"/>
          <p:cNvSpPr txBox="1"/>
          <p:nvPr/>
        </p:nvSpPr>
        <p:spPr>
          <a:xfrm>
            <a:off x="777240" y="5212080"/>
            <a:ext cx="1097280" cy="457200"/>
          </a:xfrm>
          <a:prstGeom prst="rect">
            <a:avLst/>
          </a:prstGeom>
          <a:noFill/>
          <a:ln/>
        </p:spPr>
        <p:txBody>
          <a:bodyPr wrap="square" lIns="0" tIns="0" rIns="0" bIns="0" rtlCol="0" anchor="t"/>
          <a:lstStyle/>
          <a:p>
            <a:pPr indent="0" marL="0">
              <a:buNone/>
            </a:pPr>
            <a:r>
              <a:rPr lang="en-US" sz="1800" dirty="0">
                <a:solidFill>
                  <a:srgbClr val="9AA1AD"/>
                </a:solidFill>
                <a:latin typeface="BIZ UDPGothic" pitchFamily="34" charset="0"/>
                <a:ea typeface="BIZ UDPGothic" pitchFamily="34" charset="-122"/>
                <a:cs typeface="BIZ UDPGothic" pitchFamily="34" charset="-120"/>
              </a:rPr>
              <a:t>テーマ：</a:t>
            </a:r>
            <a:endParaRPr lang="en-US" sz="1800" dirty="0"/>
          </a:p>
        </p:txBody>
      </p:sp>
      <p:sp>
        <p:nvSpPr>
          <p:cNvPr id="7" name="Text 5"/>
          <p:cNvSpPr txBox="1"/>
          <p:nvPr/>
        </p:nvSpPr>
        <p:spPr>
          <a:xfrm>
            <a:off x="1874520" y="5212080"/>
            <a:ext cx="4937760" cy="457200"/>
          </a:xfrm>
          <a:prstGeom prst="rect">
            <a:avLst/>
          </a:prstGeom>
          <a:noFill/>
          <a:ln/>
        </p:spPr>
        <p:txBody>
          <a:bodyPr wrap="square" lIns="0" tIns="0" rIns="0" bIns="0" rtlCol="0" anchor="t"/>
          <a:lstStyle/>
          <a:p>
            <a:pPr indent="0" marL="0">
              <a:buNone/>
            </a:pPr>
            <a:r>
              <a:rPr lang="en-US" sz="1800" dirty="0">
                <a:solidFill>
                  <a:srgbClr val="7FD1CC"/>
                </a:solidFill>
                <a:latin typeface="BIZ UDPGothic" pitchFamily="34" charset="0"/>
                <a:ea typeface="BIZ UDPGothic" pitchFamily="34" charset="-122"/>
                <a:cs typeface="BIZ UDPGothic" pitchFamily="34" charset="-120"/>
              </a:rPr>
              <a:t>（作ったものの名前）</a:t>
            </a:r>
            <a:endParaRPr lang="en-US" sz="1800" dirty="0"/>
          </a:p>
        </p:txBody>
      </p:sp>
      <p:sp>
        <p:nvSpPr>
          <p:cNvPr id="8" name="Shape 6"/>
          <p:cNvSpPr/>
          <p:nvPr/>
        </p:nvSpPr>
        <p:spPr>
          <a:xfrm>
            <a:off x="6812280" y="1188720"/>
            <a:ext cx="0" cy="4663440"/>
          </a:xfrm>
          <a:prstGeom prst="line">
            <a:avLst/>
          </a:prstGeom>
          <a:noFill/>
          <a:ln w="9525">
            <a:solidFill>
              <a:srgbClr val="3A404A"/>
            </a:solidFill>
            <a:prstDash val="solid"/>
          </a:ln>
        </p:spPr>
      </p:sp>
      <p:sp>
        <p:nvSpPr>
          <p:cNvPr id="9" name="Text 7"/>
          <p:cNvSpPr txBox="1"/>
          <p:nvPr/>
        </p:nvSpPr>
        <p:spPr>
          <a:xfrm>
            <a:off x="7223760" y="1188720"/>
            <a:ext cx="4190695" cy="320040"/>
          </a:xfrm>
          <a:prstGeom prst="rect">
            <a:avLst/>
          </a:prstGeom>
          <a:noFill/>
          <a:ln/>
        </p:spPr>
        <p:txBody>
          <a:bodyPr wrap="square" lIns="0" tIns="0" rIns="0" bIns="0" rtlCol="0" anchor="t"/>
          <a:lstStyle/>
          <a:p>
            <a:pPr indent="0" marL="0">
              <a:buNone/>
            </a:pPr>
            <a:r>
              <a:rPr lang="en-US" sz="1300" b="1" dirty="0">
                <a:solidFill>
                  <a:srgbClr val="9AA1AD"/>
                </a:solidFill>
                <a:latin typeface="BIZ UDPGothic" pitchFamily="34" charset="0"/>
                <a:ea typeface="BIZ UDPGothic" pitchFamily="34" charset="-122"/>
                <a:cs typeface="BIZ UDPGothic" pitchFamily="34" charset="-120"/>
              </a:rPr>
              <a:t>話してほしいこと</a:t>
            </a:r>
            <a:endParaRPr lang="en-US" sz="1300" dirty="0"/>
          </a:p>
        </p:txBody>
      </p:sp>
      <p:sp>
        <p:nvSpPr>
          <p:cNvPr id="10" name="Text 8"/>
          <p:cNvSpPr txBox="1"/>
          <p:nvPr/>
        </p:nvSpPr>
        <p:spPr>
          <a:xfrm>
            <a:off x="7223760" y="178308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①</a:t>
            </a:r>
            <a:endParaRPr lang="en-US" sz="2400" dirty="0"/>
          </a:p>
        </p:txBody>
      </p:sp>
      <p:sp>
        <p:nvSpPr>
          <p:cNvPr id="11" name="Text 9"/>
          <p:cNvSpPr txBox="1"/>
          <p:nvPr/>
        </p:nvSpPr>
        <p:spPr>
          <a:xfrm>
            <a:off x="7818120" y="181051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何を作ったか</a:t>
            </a:r>
            <a:endParaRPr lang="en-US" sz="1900" dirty="0"/>
          </a:p>
        </p:txBody>
      </p:sp>
      <p:sp>
        <p:nvSpPr>
          <p:cNvPr id="12" name="Text 10"/>
          <p:cNvSpPr txBox="1"/>
          <p:nvPr/>
        </p:nvSpPr>
        <p:spPr>
          <a:xfrm>
            <a:off x="7818120" y="224028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作ったもの・使ったAIツールを一言で</a:t>
            </a:r>
            <a:endParaRPr lang="en-US" sz="1200" dirty="0"/>
          </a:p>
        </p:txBody>
      </p:sp>
      <p:sp>
        <p:nvSpPr>
          <p:cNvPr id="13" name="Text 11"/>
          <p:cNvSpPr txBox="1"/>
          <p:nvPr/>
        </p:nvSpPr>
        <p:spPr>
          <a:xfrm>
            <a:off x="7223760" y="283464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②</a:t>
            </a:r>
            <a:endParaRPr lang="en-US" sz="2400" dirty="0"/>
          </a:p>
        </p:txBody>
      </p:sp>
      <p:sp>
        <p:nvSpPr>
          <p:cNvPr id="14" name="Text 12"/>
          <p:cNvSpPr txBox="1"/>
          <p:nvPr/>
        </p:nvSpPr>
        <p:spPr>
          <a:xfrm>
            <a:off x="7818120" y="286207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どんな課題があって作ったか</a:t>
            </a:r>
            <a:endParaRPr lang="en-US" sz="1900" dirty="0"/>
          </a:p>
        </p:txBody>
      </p:sp>
      <p:sp>
        <p:nvSpPr>
          <p:cNvPr id="15" name="Text 13"/>
          <p:cNvSpPr txBox="1"/>
          <p:nvPr/>
        </p:nvSpPr>
        <p:spPr>
          <a:xfrm>
            <a:off x="7818120" y="329184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誰が・何に困っていたのか</a:t>
            </a:r>
            <a:endParaRPr lang="en-US" sz="1200" dirty="0"/>
          </a:p>
        </p:txBody>
      </p:sp>
      <p:sp>
        <p:nvSpPr>
          <p:cNvPr id="16" name="Text 14"/>
          <p:cNvSpPr txBox="1"/>
          <p:nvPr/>
        </p:nvSpPr>
        <p:spPr>
          <a:xfrm>
            <a:off x="7223760" y="388620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③</a:t>
            </a:r>
            <a:endParaRPr lang="en-US" sz="2400" dirty="0"/>
          </a:p>
        </p:txBody>
      </p:sp>
      <p:sp>
        <p:nvSpPr>
          <p:cNvPr id="17" name="Text 15"/>
          <p:cNvSpPr txBox="1"/>
          <p:nvPr/>
        </p:nvSpPr>
        <p:spPr>
          <a:xfrm>
            <a:off x="7818120" y="391363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工夫した点</a:t>
            </a:r>
            <a:endParaRPr lang="en-US" sz="1900" dirty="0"/>
          </a:p>
        </p:txBody>
      </p:sp>
      <p:sp>
        <p:nvSpPr>
          <p:cNvPr id="18" name="Text 16"/>
          <p:cNvSpPr txBox="1"/>
          <p:nvPr/>
        </p:nvSpPr>
        <p:spPr>
          <a:xfrm>
            <a:off x="7818120" y="434340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使いやすくするために考えたこと</a:t>
            </a:r>
            <a:endParaRPr lang="en-US" sz="1200" dirty="0"/>
          </a:p>
        </p:txBody>
      </p:sp>
      <p:sp>
        <p:nvSpPr>
          <p:cNvPr id="19" name="Text 17"/>
          <p:cNvSpPr txBox="1"/>
          <p:nvPr/>
        </p:nvSpPr>
        <p:spPr>
          <a:xfrm>
            <a:off x="7223760" y="493776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④</a:t>
            </a:r>
            <a:endParaRPr lang="en-US" sz="2400" dirty="0"/>
          </a:p>
        </p:txBody>
      </p:sp>
      <p:sp>
        <p:nvSpPr>
          <p:cNvPr id="20" name="Text 18"/>
          <p:cNvSpPr txBox="1"/>
          <p:nvPr/>
        </p:nvSpPr>
        <p:spPr>
          <a:xfrm>
            <a:off x="7818120" y="496519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困難だった点</a:t>
            </a:r>
            <a:endParaRPr lang="en-US" sz="1900" dirty="0"/>
          </a:p>
        </p:txBody>
      </p:sp>
      <p:sp>
        <p:nvSpPr>
          <p:cNvPr id="21" name="Text 19"/>
          <p:cNvSpPr txBox="1"/>
          <p:nvPr/>
        </p:nvSpPr>
        <p:spPr>
          <a:xfrm>
            <a:off x="7818120" y="539496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つまずいた所と、どう乗り越えたか</a:t>
            </a:r>
            <a:endParaRPr lang="en-US" sz="12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FFFF"/>
                </a:solidFill>
                <a:latin typeface="Cambria"/>
                <a:ea typeface="Cambria"/>
                <a:cs typeface="Cambria"/>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685800"/>
            <a:ext cx="4572000" cy="3108960"/>
          </a:xfrm>
          <a:prstGeom prst="rect">
            <a:avLst/>
          </a:prstGeom>
          <a:noFill/>
          <a:ln/>
        </p:spPr>
        <p:txBody>
          <a:bodyPr wrap="square" lIns="0" tIns="0" rIns="0" bIns="0" rtlCol="0" anchor="t"/>
          <a:lstStyle/>
          <a:p>
            <a:pPr indent="0" marL="0">
              <a:buNone/>
            </a:pPr>
            <a:r>
              <a:rPr lang="en-US" sz="23000" b="1" dirty="0">
                <a:solidFill>
                  <a:srgbClr val="2A2F36"/>
                </a:solidFill>
                <a:latin typeface="Cambria" pitchFamily="34" charset="0"/>
                <a:ea typeface="Cambria" pitchFamily="34" charset="-122"/>
                <a:cs typeface="Cambria" pitchFamily="34" charset="-120"/>
              </a:rPr>
              <a:t>04</a:t>
            </a:r>
            <a:endParaRPr lang="en-US" sz="23000" dirty="0"/>
          </a:p>
        </p:txBody>
      </p:sp>
      <p:sp>
        <p:nvSpPr>
          <p:cNvPr id="3" name="Text 1"/>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7FD1CC"/>
                </a:solidFill>
                <a:latin typeface="Cambria" pitchFamily="34" charset="0"/>
                <a:ea typeface="Cambria" pitchFamily="34" charset="-122"/>
                <a:cs typeface="Cambria" pitchFamily="34" charset="-120"/>
              </a:rPr>
              <a:t>PRESENTER 04  ／  5 MIN</a:t>
            </a:r>
            <a:endParaRPr lang="en-US" sz="1300" dirty="0"/>
          </a:p>
        </p:txBody>
      </p:sp>
      <p:sp>
        <p:nvSpPr>
          <p:cNvPr id="4" name="Text 2"/>
          <p:cNvSpPr txBox="1"/>
          <p:nvPr/>
        </p:nvSpPr>
        <p:spPr>
          <a:xfrm>
            <a:off x="777240" y="3840480"/>
            <a:ext cx="5943600" cy="822960"/>
          </a:xfrm>
          <a:prstGeom prst="rect">
            <a:avLst/>
          </a:prstGeom>
          <a:noFill/>
          <a:ln/>
        </p:spPr>
        <p:txBody>
          <a:bodyPr wrap="square" lIns="0" tIns="0" rIns="0" bIns="0" rtlCol="0" anchor="t"/>
          <a:lstStyle/>
          <a:p>
            <a:pPr indent="0" marL="0">
              <a:buNone/>
            </a:pPr>
            <a:r>
              <a:rPr lang="en-US" sz="4400" b="1" dirty="0">
                <a:solidFill>
                  <a:srgbClr val="FFFFFF"/>
                </a:solidFill>
                <a:latin typeface="BIZ UDPGothic" pitchFamily="34" charset="0"/>
                <a:ea typeface="BIZ UDPGothic" pitchFamily="34" charset="-122"/>
                <a:cs typeface="BIZ UDPGothic" pitchFamily="34" charset="-120"/>
              </a:rPr>
              <a:t>氏名</a:t>
            </a:r>
            <a:endParaRPr lang="en-US" sz="4400" dirty="0"/>
          </a:p>
        </p:txBody>
      </p:sp>
      <p:sp>
        <p:nvSpPr>
          <p:cNvPr id="5" name="Text 3"/>
          <p:cNvSpPr txBox="1"/>
          <p:nvPr/>
        </p:nvSpPr>
        <p:spPr>
          <a:xfrm>
            <a:off x="777240" y="4709160"/>
            <a:ext cx="5943600" cy="365760"/>
          </a:xfrm>
          <a:prstGeom prst="rect">
            <a:avLst/>
          </a:prstGeom>
          <a:noFill/>
          <a:ln/>
        </p:spPr>
        <p:txBody>
          <a:bodyPr wrap="square" lIns="0" tIns="0" rIns="0" bIns="0" rtlCol="0" anchor="t"/>
          <a:lstStyle/>
          <a:p>
            <a:pPr indent="0" marL="0">
              <a:buNone/>
            </a:pPr>
            <a:r>
              <a:rPr lang="en-US" sz="1600" dirty="0">
                <a:solidFill>
                  <a:srgbClr val="9AA1AD"/>
                </a:solidFill>
                <a:latin typeface="BIZ UDPGothic" pitchFamily="34" charset="0"/>
                <a:ea typeface="BIZ UDPGothic" pitchFamily="34" charset="-122"/>
                <a:cs typeface="BIZ UDPGothic" pitchFamily="34" charset="-120"/>
              </a:rPr>
              <a:t>所属：　　　　　　</a:t>
            </a:r>
            <a:endParaRPr lang="en-US" sz="1600" dirty="0"/>
          </a:p>
        </p:txBody>
      </p:sp>
      <p:sp>
        <p:nvSpPr>
          <p:cNvPr id="6" name="Text 4"/>
          <p:cNvSpPr txBox="1"/>
          <p:nvPr/>
        </p:nvSpPr>
        <p:spPr>
          <a:xfrm>
            <a:off x="777240" y="5212080"/>
            <a:ext cx="1097280" cy="457200"/>
          </a:xfrm>
          <a:prstGeom prst="rect">
            <a:avLst/>
          </a:prstGeom>
          <a:noFill/>
          <a:ln/>
        </p:spPr>
        <p:txBody>
          <a:bodyPr wrap="square" lIns="0" tIns="0" rIns="0" bIns="0" rtlCol="0" anchor="t"/>
          <a:lstStyle/>
          <a:p>
            <a:pPr indent="0" marL="0">
              <a:buNone/>
            </a:pPr>
            <a:r>
              <a:rPr lang="en-US" sz="1800" dirty="0">
                <a:solidFill>
                  <a:srgbClr val="9AA1AD"/>
                </a:solidFill>
                <a:latin typeface="BIZ UDPGothic" pitchFamily="34" charset="0"/>
                <a:ea typeface="BIZ UDPGothic" pitchFamily="34" charset="-122"/>
                <a:cs typeface="BIZ UDPGothic" pitchFamily="34" charset="-120"/>
              </a:rPr>
              <a:t>テーマ：</a:t>
            </a:r>
            <a:endParaRPr lang="en-US" sz="1800" dirty="0"/>
          </a:p>
        </p:txBody>
      </p:sp>
      <p:sp>
        <p:nvSpPr>
          <p:cNvPr id="7" name="Text 5"/>
          <p:cNvSpPr txBox="1"/>
          <p:nvPr/>
        </p:nvSpPr>
        <p:spPr>
          <a:xfrm>
            <a:off x="1874520" y="5212080"/>
            <a:ext cx="4937760" cy="457200"/>
          </a:xfrm>
          <a:prstGeom prst="rect">
            <a:avLst/>
          </a:prstGeom>
          <a:noFill/>
          <a:ln/>
        </p:spPr>
        <p:txBody>
          <a:bodyPr wrap="square" lIns="0" tIns="0" rIns="0" bIns="0" rtlCol="0" anchor="t"/>
          <a:lstStyle/>
          <a:p>
            <a:pPr indent="0" marL="0">
              <a:buNone/>
            </a:pPr>
            <a:r>
              <a:rPr lang="en-US" sz="1800" dirty="0">
                <a:solidFill>
                  <a:srgbClr val="7FD1CC"/>
                </a:solidFill>
                <a:latin typeface="BIZ UDPGothic" pitchFamily="34" charset="0"/>
                <a:ea typeface="BIZ UDPGothic" pitchFamily="34" charset="-122"/>
                <a:cs typeface="BIZ UDPGothic" pitchFamily="34" charset="-120"/>
              </a:rPr>
              <a:t>（作ったものの名前）</a:t>
            </a:r>
            <a:endParaRPr lang="en-US" sz="1800" dirty="0"/>
          </a:p>
        </p:txBody>
      </p:sp>
      <p:sp>
        <p:nvSpPr>
          <p:cNvPr id="8" name="Shape 6"/>
          <p:cNvSpPr/>
          <p:nvPr/>
        </p:nvSpPr>
        <p:spPr>
          <a:xfrm>
            <a:off x="6812280" y="1188720"/>
            <a:ext cx="0" cy="4663440"/>
          </a:xfrm>
          <a:prstGeom prst="line">
            <a:avLst/>
          </a:prstGeom>
          <a:noFill/>
          <a:ln w="9525">
            <a:solidFill>
              <a:srgbClr val="3A404A"/>
            </a:solidFill>
            <a:prstDash val="solid"/>
          </a:ln>
        </p:spPr>
      </p:sp>
      <p:sp>
        <p:nvSpPr>
          <p:cNvPr id="9" name="Text 7"/>
          <p:cNvSpPr txBox="1"/>
          <p:nvPr/>
        </p:nvSpPr>
        <p:spPr>
          <a:xfrm>
            <a:off x="7223760" y="1188720"/>
            <a:ext cx="4190695" cy="320040"/>
          </a:xfrm>
          <a:prstGeom prst="rect">
            <a:avLst/>
          </a:prstGeom>
          <a:noFill/>
          <a:ln/>
        </p:spPr>
        <p:txBody>
          <a:bodyPr wrap="square" lIns="0" tIns="0" rIns="0" bIns="0" rtlCol="0" anchor="t"/>
          <a:lstStyle/>
          <a:p>
            <a:pPr indent="0" marL="0">
              <a:buNone/>
            </a:pPr>
            <a:r>
              <a:rPr lang="en-US" sz="1300" b="1" dirty="0">
                <a:solidFill>
                  <a:srgbClr val="9AA1AD"/>
                </a:solidFill>
                <a:latin typeface="BIZ UDPGothic" pitchFamily="34" charset="0"/>
                <a:ea typeface="BIZ UDPGothic" pitchFamily="34" charset="-122"/>
                <a:cs typeface="BIZ UDPGothic" pitchFamily="34" charset="-120"/>
              </a:rPr>
              <a:t>話してほしいこと</a:t>
            </a:r>
            <a:endParaRPr lang="en-US" sz="1300" dirty="0"/>
          </a:p>
        </p:txBody>
      </p:sp>
      <p:sp>
        <p:nvSpPr>
          <p:cNvPr id="10" name="Text 8"/>
          <p:cNvSpPr txBox="1"/>
          <p:nvPr/>
        </p:nvSpPr>
        <p:spPr>
          <a:xfrm>
            <a:off x="7223760" y="178308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①</a:t>
            </a:r>
            <a:endParaRPr lang="en-US" sz="2400" dirty="0"/>
          </a:p>
        </p:txBody>
      </p:sp>
      <p:sp>
        <p:nvSpPr>
          <p:cNvPr id="11" name="Text 9"/>
          <p:cNvSpPr txBox="1"/>
          <p:nvPr/>
        </p:nvSpPr>
        <p:spPr>
          <a:xfrm>
            <a:off x="7818120" y="181051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何を作ったか</a:t>
            </a:r>
            <a:endParaRPr lang="en-US" sz="1900" dirty="0"/>
          </a:p>
        </p:txBody>
      </p:sp>
      <p:sp>
        <p:nvSpPr>
          <p:cNvPr id="12" name="Text 10"/>
          <p:cNvSpPr txBox="1"/>
          <p:nvPr/>
        </p:nvSpPr>
        <p:spPr>
          <a:xfrm>
            <a:off x="7818120" y="224028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作ったもの・使ったAIツールを一言で</a:t>
            </a:r>
            <a:endParaRPr lang="en-US" sz="1200" dirty="0"/>
          </a:p>
        </p:txBody>
      </p:sp>
      <p:sp>
        <p:nvSpPr>
          <p:cNvPr id="13" name="Text 11"/>
          <p:cNvSpPr txBox="1"/>
          <p:nvPr/>
        </p:nvSpPr>
        <p:spPr>
          <a:xfrm>
            <a:off x="7223760" y="283464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②</a:t>
            </a:r>
            <a:endParaRPr lang="en-US" sz="2400" dirty="0"/>
          </a:p>
        </p:txBody>
      </p:sp>
      <p:sp>
        <p:nvSpPr>
          <p:cNvPr id="14" name="Text 12"/>
          <p:cNvSpPr txBox="1"/>
          <p:nvPr/>
        </p:nvSpPr>
        <p:spPr>
          <a:xfrm>
            <a:off x="7818120" y="286207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どんな課題があって作ったか</a:t>
            </a:r>
            <a:endParaRPr lang="en-US" sz="1900" dirty="0"/>
          </a:p>
        </p:txBody>
      </p:sp>
      <p:sp>
        <p:nvSpPr>
          <p:cNvPr id="15" name="Text 13"/>
          <p:cNvSpPr txBox="1"/>
          <p:nvPr/>
        </p:nvSpPr>
        <p:spPr>
          <a:xfrm>
            <a:off x="7818120" y="329184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誰が・何に困っていたのか</a:t>
            </a:r>
            <a:endParaRPr lang="en-US" sz="1200" dirty="0"/>
          </a:p>
        </p:txBody>
      </p:sp>
      <p:sp>
        <p:nvSpPr>
          <p:cNvPr id="16" name="Text 14"/>
          <p:cNvSpPr txBox="1"/>
          <p:nvPr/>
        </p:nvSpPr>
        <p:spPr>
          <a:xfrm>
            <a:off x="7223760" y="388620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③</a:t>
            </a:r>
            <a:endParaRPr lang="en-US" sz="2400" dirty="0"/>
          </a:p>
        </p:txBody>
      </p:sp>
      <p:sp>
        <p:nvSpPr>
          <p:cNvPr id="17" name="Text 15"/>
          <p:cNvSpPr txBox="1"/>
          <p:nvPr/>
        </p:nvSpPr>
        <p:spPr>
          <a:xfrm>
            <a:off x="7818120" y="391363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工夫した点</a:t>
            </a:r>
            <a:endParaRPr lang="en-US" sz="1900" dirty="0"/>
          </a:p>
        </p:txBody>
      </p:sp>
      <p:sp>
        <p:nvSpPr>
          <p:cNvPr id="18" name="Text 16"/>
          <p:cNvSpPr txBox="1"/>
          <p:nvPr/>
        </p:nvSpPr>
        <p:spPr>
          <a:xfrm>
            <a:off x="7818120" y="434340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使いやすくするために考えたこと</a:t>
            </a:r>
            <a:endParaRPr lang="en-US" sz="1200" dirty="0"/>
          </a:p>
        </p:txBody>
      </p:sp>
      <p:sp>
        <p:nvSpPr>
          <p:cNvPr id="19" name="Text 17"/>
          <p:cNvSpPr txBox="1"/>
          <p:nvPr/>
        </p:nvSpPr>
        <p:spPr>
          <a:xfrm>
            <a:off x="7223760" y="493776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④</a:t>
            </a:r>
            <a:endParaRPr lang="en-US" sz="2400" dirty="0"/>
          </a:p>
        </p:txBody>
      </p:sp>
      <p:sp>
        <p:nvSpPr>
          <p:cNvPr id="20" name="Text 18"/>
          <p:cNvSpPr txBox="1"/>
          <p:nvPr/>
        </p:nvSpPr>
        <p:spPr>
          <a:xfrm>
            <a:off x="7818120" y="496519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困難だった点</a:t>
            </a:r>
            <a:endParaRPr lang="en-US" sz="1900" dirty="0"/>
          </a:p>
        </p:txBody>
      </p:sp>
      <p:sp>
        <p:nvSpPr>
          <p:cNvPr id="21" name="Text 19"/>
          <p:cNvSpPr txBox="1"/>
          <p:nvPr/>
        </p:nvSpPr>
        <p:spPr>
          <a:xfrm>
            <a:off x="7818120" y="539496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つまずいた所と、どう乗り越えたか</a:t>
            </a:r>
            <a:endParaRPr lang="en-US" sz="12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FFFF"/>
                </a:solidFill>
                <a:latin typeface="Cambria"/>
                <a:ea typeface="Cambria"/>
                <a:cs typeface="Cambria"/>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640080" y="685800"/>
            <a:ext cx="4572000" cy="3108960"/>
          </a:xfrm>
          <a:prstGeom prst="rect">
            <a:avLst/>
          </a:prstGeom>
          <a:noFill/>
          <a:ln/>
        </p:spPr>
        <p:txBody>
          <a:bodyPr wrap="square" lIns="0" tIns="0" rIns="0" bIns="0" rtlCol="0" anchor="t"/>
          <a:lstStyle/>
          <a:p>
            <a:pPr indent="0" marL="0">
              <a:buNone/>
            </a:pPr>
            <a:r>
              <a:rPr lang="en-US" sz="23000" b="1" dirty="0">
                <a:solidFill>
                  <a:srgbClr val="2A2F36"/>
                </a:solidFill>
                <a:latin typeface="Cambria" pitchFamily="34" charset="0"/>
                <a:ea typeface="Cambria" pitchFamily="34" charset="-122"/>
                <a:cs typeface="Cambria" pitchFamily="34" charset="-120"/>
              </a:rPr>
              <a:t>05</a:t>
            </a:r>
            <a:endParaRPr lang="en-US" sz="23000" dirty="0"/>
          </a:p>
        </p:txBody>
      </p:sp>
      <p:sp>
        <p:nvSpPr>
          <p:cNvPr id="3" name="Text 1"/>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7FD1CC"/>
                </a:solidFill>
                <a:latin typeface="Cambria" pitchFamily="34" charset="0"/>
                <a:ea typeface="Cambria" pitchFamily="34" charset="-122"/>
                <a:cs typeface="Cambria" pitchFamily="34" charset="-120"/>
              </a:rPr>
              <a:t>PRESENTER 05  ／  5 MIN</a:t>
            </a:r>
            <a:endParaRPr lang="en-US" sz="1300" dirty="0"/>
          </a:p>
        </p:txBody>
      </p:sp>
      <p:sp>
        <p:nvSpPr>
          <p:cNvPr id="4" name="Text 2"/>
          <p:cNvSpPr txBox="1"/>
          <p:nvPr/>
        </p:nvSpPr>
        <p:spPr>
          <a:xfrm>
            <a:off x="777240" y="3840480"/>
            <a:ext cx="5943600" cy="822960"/>
          </a:xfrm>
          <a:prstGeom prst="rect">
            <a:avLst/>
          </a:prstGeom>
          <a:noFill/>
          <a:ln/>
        </p:spPr>
        <p:txBody>
          <a:bodyPr wrap="square" lIns="0" tIns="0" rIns="0" bIns="0" rtlCol="0" anchor="t"/>
          <a:lstStyle/>
          <a:p>
            <a:pPr indent="0" marL="0">
              <a:buNone/>
            </a:pPr>
            <a:r>
              <a:rPr lang="en-US" sz="4400" b="1" dirty="0">
                <a:solidFill>
                  <a:srgbClr val="FFFFFF"/>
                </a:solidFill>
                <a:latin typeface="BIZ UDPGothic" pitchFamily="34" charset="0"/>
                <a:ea typeface="BIZ UDPGothic" pitchFamily="34" charset="-122"/>
                <a:cs typeface="BIZ UDPGothic" pitchFamily="34" charset="-120"/>
              </a:rPr>
              <a:t>氏名</a:t>
            </a:r>
            <a:endParaRPr lang="en-US" sz="4400" dirty="0"/>
          </a:p>
        </p:txBody>
      </p:sp>
      <p:sp>
        <p:nvSpPr>
          <p:cNvPr id="5" name="Text 3"/>
          <p:cNvSpPr txBox="1"/>
          <p:nvPr/>
        </p:nvSpPr>
        <p:spPr>
          <a:xfrm>
            <a:off x="777240" y="4709160"/>
            <a:ext cx="5943600" cy="365760"/>
          </a:xfrm>
          <a:prstGeom prst="rect">
            <a:avLst/>
          </a:prstGeom>
          <a:noFill/>
          <a:ln/>
        </p:spPr>
        <p:txBody>
          <a:bodyPr wrap="square" lIns="0" tIns="0" rIns="0" bIns="0" rtlCol="0" anchor="t"/>
          <a:lstStyle/>
          <a:p>
            <a:pPr indent="0" marL="0">
              <a:buNone/>
            </a:pPr>
            <a:r>
              <a:rPr lang="en-US" sz="1600" dirty="0">
                <a:solidFill>
                  <a:srgbClr val="9AA1AD"/>
                </a:solidFill>
                <a:latin typeface="BIZ UDPGothic" pitchFamily="34" charset="0"/>
                <a:ea typeface="BIZ UDPGothic" pitchFamily="34" charset="-122"/>
                <a:cs typeface="BIZ UDPGothic" pitchFamily="34" charset="-120"/>
              </a:rPr>
              <a:t>所属：　　　　　　</a:t>
            </a:r>
            <a:endParaRPr lang="en-US" sz="1600" dirty="0"/>
          </a:p>
        </p:txBody>
      </p:sp>
      <p:sp>
        <p:nvSpPr>
          <p:cNvPr id="6" name="Text 4"/>
          <p:cNvSpPr txBox="1"/>
          <p:nvPr/>
        </p:nvSpPr>
        <p:spPr>
          <a:xfrm>
            <a:off x="777240" y="5212080"/>
            <a:ext cx="1097280" cy="457200"/>
          </a:xfrm>
          <a:prstGeom prst="rect">
            <a:avLst/>
          </a:prstGeom>
          <a:noFill/>
          <a:ln/>
        </p:spPr>
        <p:txBody>
          <a:bodyPr wrap="square" lIns="0" tIns="0" rIns="0" bIns="0" rtlCol="0" anchor="t"/>
          <a:lstStyle/>
          <a:p>
            <a:pPr indent="0" marL="0">
              <a:buNone/>
            </a:pPr>
            <a:r>
              <a:rPr lang="en-US" sz="1800" dirty="0">
                <a:solidFill>
                  <a:srgbClr val="9AA1AD"/>
                </a:solidFill>
                <a:latin typeface="BIZ UDPGothic" pitchFamily="34" charset="0"/>
                <a:ea typeface="BIZ UDPGothic" pitchFamily="34" charset="-122"/>
                <a:cs typeface="BIZ UDPGothic" pitchFamily="34" charset="-120"/>
              </a:rPr>
              <a:t>テーマ：</a:t>
            </a:r>
            <a:endParaRPr lang="en-US" sz="1800" dirty="0"/>
          </a:p>
        </p:txBody>
      </p:sp>
      <p:sp>
        <p:nvSpPr>
          <p:cNvPr id="7" name="Text 5"/>
          <p:cNvSpPr txBox="1"/>
          <p:nvPr/>
        </p:nvSpPr>
        <p:spPr>
          <a:xfrm>
            <a:off x="1874520" y="5212080"/>
            <a:ext cx="4937760" cy="457200"/>
          </a:xfrm>
          <a:prstGeom prst="rect">
            <a:avLst/>
          </a:prstGeom>
          <a:noFill/>
          <a:ln/>
        </p:spPr>
        <p:txBody>
          <a:bodyPr wrap="square" lIns="0" tIns="0" rIns="0" bIns="0" rtlCol="0" anchor="t"/>
          <a:lstStyle/>
          <a:p>
            <a:pPr indent="0" marL="0">
              <a:buNone/>
            </a:pPr>
            <a:r>
              <a:rPr lang="en-US" sz="1800" dirty="0">
                <a:solidFill>
                  <a:srgbClr val="7FD1CC"/>
                </a:solidFill>
                <a:latin typeface="BIZ UDPGothic" pitchFamily="34" charset="0"/>
                <a:ea typeface="BIZ UDPGothic" pitchFamily="34" charset="-122"/>
                <a:cs typeface="BIZ UDPGothic" pitchFamily="34" charset="-120"/>
              </a:rPr>
              <a:t>（作ったものの名前）</a:t>
            </a:r>
            <a:endParaRPr lang="en-US" sz="1800" dirty="0"/>
          </a:p>
        </p:txBody>
      </p:sp>
      <p:sp>
        <p:nvSpPr>
          <p:cNvPr id="8" name="Shape 6"/>
          <p:cNvSpPr/>
          <p:nvPr/>
        </p:nvSpPr>
        <p:spPr>
          <a:xfrm>
            <a:off x="6812280" y="1188720"/>
            <a:ext cx="0" cy="4663440"/>
          </a:xfrm>
          <a:prstGeom prst="line">
            <a:avLst/>
          </a:prstGeom>
          <a:noFill/>
          <a:ln w="9525">
            <a:solidFill>
              <a:srgbClr val="3A404A"/>
            </a:solidFill>
            <a:prstDash val="solid"/>
          </a:ln>
        </p:spPr>
      </p:sp>
      <p:sp>
        <p:nvSpPr>
          <p:cNvPr id="9" name="Text 7"/>
          <p:cNvSpPr txBox="1"/>
          <p:nvPr/>
        </p:nvSpPr>
        <p:spPr>
          <a:xfrm>
            <a:off x="7223760" y="1188720"/>
            <a:ext cx="4190695" cy="320040"/>
          </a:xfrm>
          <a:prstGeom prst="rect">
            <a:avLst/>
          </a:prstGeom>
          <a:noFill/>
          <a:ln/>
        </p:spPr>
        <p:txBody>
          <a:bodyPr wrap="square" lIns="0" tIns="0" rIns="0" bIns="0" rtlCol="0" anchor="t"/>
          <a:lstStyle/>
          <a:p>
            <a:pPr indent="0" marL="0">
              <a:buNone/>
            </a:pPr>
            <a:r>
              <a:rPr lang="en-US" sz="1300" b="1" dirty="0">
                <a:solidFill>
                  <a:srgbClr val="9AA1AD"/>
                </a:solidFill>
                <a:latin typeface="BIZ UDPGothic" pitchFamily="34" charset="0"/>
                <a:ea typeface="BIZ UDPGothic" pitchFamily="34" charset="-122"/>
                <a:cs typeface="BIZ UDPGothic" pitchFamily="34" charset="-120"/>
              </a:rPr>
              <a:t>話してほしいこと</a:t>
            </a:r>
            <a:endParaRPr lang="en-US" sz="1300" dirty="0"/>
          </a:p>
        </p:txBody>
      </p:sp>
      <p:sp>
        <p:nvSpPr>
          <p:cNvPr id="10" name="Text 8"/>
          <p:cNvSpPr txBox="1"/>
          <p:nvPr/>
        </p:nvSpPr>
        <p:spPr>
          <a:xfrm>
            <a:off x="7223760" y="178308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①</a:t>
            </a:r>
            <a:endParaRPr lang="en-US" sz="2400" dirty="0"/>
          </a:p>
        </p:txBody>
      </p:sp>
      <p:sp>
        <p:nvSpPr>
          <p:cNvPr id="11" name="Text 9"/>
          <p:cNvSpPr txBox="1"/>
          <p:nvPr/>
        </p:nvSpPr>
        <p:spPr>
          <a:xfrm>
            <a:off x="7818120" y="181051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何を作ったか</a:t>
            </a:r>
            <a:endParaRPr lang="en-US" sz="1900" dirty="0"/>
          </a:p>
        </p:txBody>
      </p:sp>
      <p:sp>
        <p:nvSpPr>
          <p:cNvPr id="12" name="Text 10"/>
          <p:cNvSpPr txBox="1"/>
          <p:nvPr/>
        </p:nvSpPr>
        <p:spPr>
          <a:xfrm>
            <a:off x="7818120" y="224028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作ったもの・使ったAIツールを一言で</a:t>
            </a:r>
            <a:endParaRPr lang="en-US" sz="1200" dirty="0"/>
          </a:p>
        </p:txBody>
      </p:sp>
      <p:sp>
        <p:nvSpPr>
          <p:cNvPr id="13" name="Text 11"/>
          <p:cNvSpPr txBox="1"/>
          <p:nvPr/>
        </p:nvSpPr>
        <p:spPr>
          <a:xfrm>
            <a:off x="7223760" y="283464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②</a:t>
            </a:r>
            <a:endParaRPr lang="en-US" sz="2400" dirty="0"/>
          </a:p>
        </p:txBody>
      </p:sp>
      <p:sp>
        <p:nvSpPr>
          <p:cNvPr id="14" name="Text 12"/>
          <p:cNvSpPr txBox="1"/>
          <p:nvPr/>
        </p:nvSpPr>
        <p:spPr>
          <a:xfrm>
            <a:off x="7818120" y="286207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どんな課題があって作ったか</a:t>
            </a:r>
            <a:endParaRPr lang="en-US" sz="1900" dirty="0"/>
          </a:p>
        </p:txBody>
      </p:sp>
      <p:sp>
        <p:nvSpPr>
          <p:cNvPr id="15" name="Text 13"/>
          <p:cNvSpPr txBox="1"/>
          <p:nvPr/>
        </p:nvSpPr>
        <p:spPr>
          <a:xfrm>
            <a:off x="7818120" y="329184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誰が・何に困っていたのか</a:t>
            </a:r>
            <a:endParaRPr lang="en-US" sz="1200" dirty="0"/>
          </a:p>
        </p:txBody>
      </p:sp>
      <p:sp>
        <p:nvSpPr>
          <p:cNvPr id="16" name="Text 14"/>
          <p:cNvSpPr txBox="1"/>
          <p:nvPr/>
        </p:nvSpPr>
        <p:spPr>
          <a:xfrm>
            <a:off x="7223760" y="388620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③</a:t>
            </a:r>
            <a:endParaRPr lang="en-US" sz="2400" dirty="0"/>
          </a:p>
        </p:txBody>
      </p:sp>
      <p:sp>
        <p:nvSpPr>
          <p:cNvPr id="17" name="Text 15"/>
          <p:cNvSpPr txBox="1"/>
          <p:nvPr/>
        </p:nvSpPr>
        <p:spPr>
          <a:xfrm>
            <a:off x="7818120" y="391363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工夫した点</a:t>
            </a:r>
            <a:endParaRPr lang="en-US" sz="1900" dirty="0"/>
          </a:p>
        </p:txBody>
      </p:sp>
      <p:sp>
        <p:nvSpPr>
          <p:cNvPr id="18" name="Text 16"/>
          <p:cNvSpPr txBox="1"/>
          <p:nvPr/>
        </p:nvSpPr>
        <p:spPr>
          <a:xfrm>
            <a:off x="7818120" y="434340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使いやすくするために考えたこと</a:t>
            </a:r>
            <a:endParaRPr lang="en-US" sz="1200" dirty="0"/>
          </a:p>
        </p:txBody>
      </p:sp>
      <p:sp>
        <p:nvSpPr>
          <p:cNvPr id="19" name="Text 17"/>
          <p:cNvSpPr txBox="1"/>
          <p:nvPr/>
        </p:nvSpPr>
        <p:spPr>
          <a:xfrm>
            <a:off x="7223760" y="493776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④</a:t>
            </a:r>
            <a:endParaRPr lang="en-US" sz="2400" dirty="0"/>
          </a:p>
        </p:txBody>
      </p:sp>
      <p:sp>
        <p:nvSpPr>
          <p:cNvPr id="20" name="Text 18"/>
          <p:cNvSpPr txBox="1"/>
          <p:nvPr/>
        </p:nvSpPr>
        <p:spPr>
          <a:xfrm>
            <a:off x="7818120" y="496519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困難だった点</a:t>
            </a:r>
            <a:endParaRPr lang="en-US" sz="1900" dirty="0"/>
          </a:p>
        </p:txBody>
      </p:sp>
      <p:sp>
        <p:nvSpPr>
          <p:cNvPr id="21" name="Text 19"/>
          <p:cNvSpPr txBox="1"/>
          <p:nvPr/>
        </p:nvSpPr>
        <p:spPr>
          <a:xfrm>
            <a:off x="7818120" y="539496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つまずいた所と、どう乗り越えたか</a:t>
            </a:r>
            <a:endParaRPr lang="en-US" sz="12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FFFF"/>
                </a:solidFill>
                <a:latin typeface="Cambria"/>
                <a:ea typeface="Cambria"/>
                <a:cs typeface="Cambria"/>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685800"/>
            <a:ext cx="4572000" cy="3108960"/>
          </a:xfrm>
          <a:prstGeom prst="rect">
            <a:avLst/>
          </a:prstGeom>
          <a:noFill/>
          <a:ln/>
        </p:spPr>
        <p:txBody>
          <a:bodyPr wrap="square" lIns="0" tIns="0" rIns="0" bIns="0" rtlCol="0" anchor="t"/>
          <a:lstStyle/>
          <a:p>
            <a:pPr indent="0" marL="0">
              <a:buNone/>
            </a:pPr>
            <a:r>
              <a:rPr lang="en-US" sz="23000" b="1" dirty="0">
                <a:solidFill>
                  <a:srgbClr val="2A2F36"/>
                </a:solidFill>
                <a:latin typeface="Cambria" pitchFamily="34" charset="0"/>
                <a:ea typeface="Cambria" pitchFamily="34" charset="-122"/>
                <a:cs typeface="Cambria" pitchFamily="34" charset="-120"/>
              </a:rPr>
              <a:t>06</a:t>
            </a:r>
            <a:endParaRPr lang="en-US" sz="23000" dirty="0"/>
          </a:p>
        </p:txBody>
      </p:sp>
      <p:sp>
        <p:nvSpPr>
          <p:cNvPr id="3" name="Text 1"/>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7FD1CC"/>
                </a:solidFill>
                <a:latin typeface="Cambria" pitchFamily="34" charset="0"/>
                <a:ea typeface="Cambria" pitchFamily="34" charset="-122"/>
                <a:cs typeface="Cambria" pitchFamily="34" charset="-120"/>
              </a:rPr>
              <a:t>PRESENTER 06  ／  5 MIN</a:t>
            </a:r>
            <a:endParaRPr lang="en-US" sz="1300" dirty="0"/>
          </a:p>
        </p:txBody>
      </p:sp>
      <p:sp>
        <p:nvSpPr>
          <p:cNvPr id="4" name="Text 2"/>
          <p:cNvSpPr txBox="1"/>
          <p:nvPr/>
        </p:nvSpPr>
        <p:spPr>
          <a:xfrm>
            <a:off x="777240" y="3840480"/>
            <a:ext cx="5943600" cy="822960"/>
          </a:xfrm>
          <a:prstGeom prst="rect">
            <a:avLst/>
          </a:prstGeom>
          <a:noFill/>
          <a:ln/>
        </p:spPr>
        <p:txBody>
          <a:bodyPr wrap="square" lIns="0" tIns="0" rIns="0" bIns="0" rtlCol="0" anchor="t"/>
          <a:lstStyle/>
          <a:p>
            <a:pPr indent="0" marL="0">
              <a:buNone/>
            </a:pPr>
            <a:r>
              <a:rPr lang="en-US" sz="4400" b="1" dirty="0">
                <a:solidFill>
                  <a:srgbClr val="FFFFFF"/>
                </a:solidFill>
                <a:latin typeface="BIZ UDPGothic" pitchFamily="34" charset="0"/>
                <a:ea typeface="BIZ UDPGothic" pitchFamily="34" charset="-122"/>
                <a:cs typeface="BIZ UDPGothic" pitchFamily="34" charset="-120"/>
              </a:rPr>
              <a:t>（予備枠）</a:t>
            </a:r>
            <a:endParaRPr lang="en-US" sz="4400" dirty="0"/>
          </a:p>
        </p:txBody>
      </p:sp>
      <p:sp>
        <p:nvSpPr>
          <p:cNvPr id="5" name="Text 3"/>
          <p:cNvSpPr txBox="1"/>
          <p:nvPr/>
        </p:nvSpPr>
        <p:spPr>
          <a:xfrm>
            <a:off x="777240" y="4709160"/>
            <a:ext cx="5943600" cy="365760"/>
          </a:xfrm>
          <a:prstGeom prst="rect">
            <a:avLst/>
          </a:prstGeom>
          <a:noFill/>
          <a:ln/>
        </p:spPr>
        <p:txBody>
          <a:bodyPr wrap="square" lIns="0" tIns="0" rIns="0" bIns="0" rtlCol="0" anchor="t"/>
          <a:lstStyle/>
          <a:p>
            <a:pPr indent="0" marL="0">
              <a:buNone/>
            </a:pPr>
            <a:r>
              <a:rPr lang="en-US" sz="1600" dirty="0">
                <a:solidFill>
                  <a:srgbClr val="9AA1AD"/>
                </a:solidFill>
                <a:latin typeface="BIZ UDPGothic" pitchFamily="34" charset="0"/>
                <a:ea typeface="BIZ UDPGothic" pitchFamily="34" charset="-122"/>
                <a:cs typeface="BIZ UDPGothic" pitchFamily="34" charset="-120"/>
              </a:rPr>
              <a:t>所属：　　　　　　</a:t>
            </a:r>
            <a:endParaRPr lang="en-US" sz="1600" dirty="0"/>
          </a:p>
        </p:txBody>
      </p:sp>
      <p:sp>
        <p:nvSpPr>
          <p:cNvPr id="6" name="Text 4"/>
          <p:cNvSpPr txBox="1"/>
          <p:nvPr/>
        </p:nvSpPr>
        <p:spPr>
          <a:xfrm>
            <a:off x="777240" y="5212080"/>
            <a:ext cx="1097280" cy="457200"/>
          </a:xfrm>
          <a:prstGeom prst="rect">
            <a:avLst/>
          </a:prstGeom>
          <a:noFill/>
          <a:ln/>
        </p:spPr>
        <p:txBody>
          <a:bodyPr wrap="square" lIns="0" tIns="0" rIns="0" bIns="0" rtlCol="0" anchor="t"/>
          <a:lstStyle/>
          <a:p>
            <a:pPr indent="0" marL="0">
              <a:buNone/>
            </a:pPr>
            <a:r>
              <a:rPr lang="en-US" sz="1800" dirty="0">
                <a:solidFill>
                  <a:srgbClr val="9AA1AD"/>
                </a:solidFill>
                <a:latin typeface="BIZ UDPGothic" pitchFamily="34" charset="0"/>
                <a:ea typeface="BIZ UDPGothic" pitchFamily="34" charset="-122"/>
                <a:cs typeface="BIZ UDPGothic" pitchFamily="34" charset="-120"/>
              </a:rPr>
              <a:t>テーマ：</a:t>
            </a:r>
            <a:endParaRPr lang="en-US" sz="1800" dirty="0"/>
          </a:p>
        </p:txBody>
      </p:sp>
      <p:sp>
        <p:nvSpPr>
          <p:cNvPr id="7" name="Text 5"/>
          <p:cNvSpPr txBox="1"/>
          <p:nvPr/>
        </p:nvSpPr>
        <p:spPr>
          <a:xfrm>
            <a:off x="1874520" y="5212080"/>
            <a:ext cx="4937760" cy="457200"/>
          </a:xfrm>
          <a:prstGeom prst="rect">
            <a:avLst/>
          </a:prstGeom>
          <a:noFill/>
          <a:ln/>
        </p:spPr>
        <p:txBody>
          <a:bodyPr wrap="square" lIns="0" tIns="0" rIns="0" bIns="0" rtlCol="0" anchor="t"/>
          <a:lstStyle/>
          <a:p>
            <a:pPr indent="0" marL="0">
              <a:buNone/>
            </a:pPr>
            <a:r>
              <a:rPr lang="en-US" sz="1800" dirty="0">
                <a:solidFill>
                  <a:srgbClr val="7FD1CC"/>
                </a:solidFill>
                <a:latin typeface="BIZ UDPGothic" pitchFamily="34" charset="0"/>
                <a:ea typeface="BIZ UDPGothic" pitchFamily="34" charset="-122"/>
                <a:cs typeface="BIZ UDPGothic" pitchFamily="34" charset="-120"/>
              </a:rPr>
              <a:t>（作ったものの名前）</a:t>
            </a:r>
            <a:endParaRPr lang="en-US" sz="1800" dirty="0"/>
          </a:p>
        </p:txBody>
      </p:sp>
      <p:sp>
        <p:nvSpPr>
          <p:cNvPr id="8" name="Shape 6"/>
          <p:cNvSpPr/>
          <p:nvPr/>
        </p:nvSpPr>
        <p:spPr>
          <a:xfrm>
            <a:off x="6812280" y="1188720"/>
            <a:ext cx="0" cy="4663440"/>
          </a:xfrm>
          <a:prstGeom prst="line">
            <a:avLst/>
          </a:prstGeom>
          <a:noFill/>
          <a:ln w="9525">
            <a:solidFill>
              <a:srgbClr val="3A404A"/>
            </a:solidFill>
            <a:prstDash val="solid"/>
          </a:ln>
        </p:spPr>
      </p:sp>
      <p:sp>
        <p:nvSpPr>
          <p:cNvPr id="9" name="Text 7"/>
          <p:cNvSpPr txBox="1"/>
          <p:nvPr/>
        </p:nvSpPr>
        <p:spPr>
          <a:xfrm>
            <a:off x="7223760" y="1188720"/>
            <a:ext cx="4190695" cy="320040"/>
          </a:xfrm>
          <a:prstGeom prst="rect">
            <a:avLst/>
          </a:prstGeom>
          <a:noFill/>
          <a:ln/>
        </p:spPr>
        <p:txBody>
          <a:bodyPr wrap="square" lIns="0" tIns="0" rIns="0" bIns="0" rtlCol="0" anchor="t"/>
          <a:lstStyle/>
          <a:p>
            <a:pPr indent="0" marL="0">
              <a:buNone/>
            </a:pPr>
            <a:r>
              <a:rPr lang="en-US" sz="1300" b="1" dirty="0">
                <a:solidFill>
                  <a:srgbClr val="9AA1AD"/>
                </a:solidFill>
                <a:latin typeface="BIZ UDPGothic" pitchFamily="34" charset="0"/>
                <a:ea typeface="BIZ UDPGothic" pitchFamily="34" charset="-122"/>
                <a:cs typeface="BIZ UDPGothic" pitchFamily="34" charset="-120"/>
              </a:rPr>
              <a:t>話してほしいこと</a:t>
            </a:r>
            <a:endParaRPr lang="en-US" sz="1300" dirty="0"/>
          </a:p>
        </p:txBody>
      </p:sp>
      <p:sp>
        <p:nvSpPr>
          <p:cNvPr id="10" name="Text 8"/>
          <p:cNvSpPr txBox="1"/>
          <p:nvPr/>
        </p:nvSpPr>
        <p:spPr>
          <a:xfrm>
            <a:off x="7223760" y="178308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①</a:t>
            </a:r>
            <a:endParaRPr lang="en-US" sz="2400" dirty="0"/>
          </a:p>
        </p:txBody>
      </p:sp>
      <p:sp>
        <p:nvSpPr>
          <p:cNvPr id="11" name="Text 9"/>
          <p:cNvSpPr txBox="1"/>
          <p:nvPr/>
        </p:nvSpPr>
        <p:spPr>
          <a:xfrm>
            <a:off x="7818120" y="181051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何を作ったか</a:t>
            </a:r>
            <a:endParaRPr lang="en-US" sz="1900" dirty="0"/>
          </a:p>
        </p:txBody>
      </p:sp>
      <p:sp>
        <p:nvSpPr>
          <p:cNvPr id="12" name="Text 10"/>
          <p:cNvSpPr txBox="1"/>
          <p:nvPr/>
        </p:nvSpPr>
        <p:spPr>
          <a:xfrm>
            <a:off x="7818120" y="224028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作ったもの・使ったAIツールを一言で</a:t>
            </a:r>
            <a:endParaRPr lang="en-US" sz="1200" dirty="0"/>
          </a:p>
        </p:txBody>
      </p:sp>
      <p:sp>
        <p:nvSpPr>
          <p:cNvPr id="13" name="Text 11"/>
          <p:cNvSpPr txBox="1"/>
          <p:nvPr/>
        </p:nvSpPr>
        <p:spPr>
          <a:xfrm>
            <a:off x="7223760" y="283464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②</a:t>
            </a:r>
            <a:endParaRPr lang="en-US" sz="2400" dirty="0"/>
          </a:p>
        </p:txBody>
      </p:sp>
      <p:sp>
        <p:nvSpPr>
          <p:cNvPr id="14" name="Text 12"/>
          <p:cNvSpPr txBox="1"/>
          <p:nvPr/>
        </p:nvSpPr>
        <p:spPr>
          <a:xfrm>
            <a:off x="7818120" y="286207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どんな課題があって作ったか</a:t>
            </a:r>
            <a:endParaRPr lang="en-US" sz="1900" dirty="0"/>
          </a:p>
        </p:txBody>
      </p:sp>
      <p:sp>
        <p:nvSpPr>
          <p:cNvPr id="15" name="Text 13"/>
          <p:cNvSpPr txBox="1"/>
          <p:nvPr/>
        </p:nvSpPr>
        <p:spPr>
          <a:xfrm>
            <a:off x="7818120" y="329184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誰が・何に困っていたのか</a:t>
            </a:r>
            <a:endParaRPr lang="en-US" sz="1200" dirty="0"/>
          </a:p>
        </p:txBody>
      </p:sp>
      <p:sp>
        <p:nvSpPr>
          <p:cNvPr id="16" name="Text 14"/>
          <p:cNvSpPr txBox="1"/>
          <p:nvPr/>
        </p:nvSpPr>
        <p:spPr>
          <a:xfrm>
            <a:off x="7223760" y="388620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③</a:t>
            </a:r>
            <a:endParaRPr lang="en-US" sz="2400" dirty="0"/>
          </a:p>
        </p:txBody>
      </p:sp>
      <p:sp>
        <p:nvSpPr>
          <p:cNvPr id="17" name="Text 15"/>
          <p:cNvSpPr txBox="1"/>
          <p:nvPr/>
        </p:nvSpPr>
        <p:spPr>
          <a:xfrm>
            <a:off x="7818120" y="391363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工夫した点</a:t>
            </a:r>
            <a:endParaRPr lang="en-US" sz="1900" dirty="0"/>
          </a:p>
        </p:txBody>
      </p:sp>
      <p:sp>
        <p:nvSpPr>
          <p:cNvPr id="18" name="Text 16"/>
          <p:cNvSpPr txBox="1"/>
          <p:nvPr/>
        </p:nvSpPr>
        <p:spPr>
          <a:xfrm>
            <a:off x="7818120" y="434340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使いやすくするために考えたこと</a:t>
            </a:r>
            <a:endParaRPr lang="en-US" sz="1200" dirty="0"/>
          </a:p>
        </p:txBody>
      </p:sp>
      <p:sp>
        <p:nvSpPr>
          <p:cNvPr id="19" name="Text 17"/>
          <p:cNvSpPr txBox="1"/>
          <p:nvPr/>
        </p:nvSpPr>
        <p:spPr>
          <a:xfrm>
            <a:off x="7223760" y="4937760"/>
            <a:ext cx="548640" cy="457200"/>
          </a:xfrm>
          <a:prstGeom prst="rect">
            <a:avLst/>
          </a:prstGeom>
          <a:noFill/>
          <a:ln/>
        </p:spPr>
        <p:txBody>
          <a:bodyPr wrap="square" lIns="0" tIns="0" rIns="0" bIns="0" rtlCol="0" anchor="t"/>
          <a:lstStyle/>
          <a:p>
            <a:pPr indent="0" marL="0">
              <a:buNone/>
            </a:pPr>
            <a:r>
              <a:rPr lang="en-US" sz="2400" b="1" dirty="0">
                <a:solidFill>
                  <a:srgbClr val="7FD1CC"/>
                </a:solidFill>
                <a:latin typeface="BIZ UDPGothic" pitchFamily="34" charset="0"/>
                <a:ea typeface="BIZ UDPGothic" pitchFamily="34" charset="-122"/>
                <a:cs typeface="BIZ UDPGothic" pitchFamily="34" charset="-120"/>
              </a:rPr>
              <a:t>④</a:t>
            </a:r>
            <a:endParaRPr lang="en-US" sz="2400" dirty="0"/>
          </a:p>
        </p:txBody>
      </p:sp>
      <p:sp>
        <p:nvSpPr>
          <p:cNvPr id="20" name="Text 18"/>
          <p:cNvSpPr txBox="1"/>
          <p:nvPr/>
        </p:nvSpPr>
        <p:spPr>
          <a:xfrm>
            <a:off x="7818120" y="4965192"/>
            <a:ext cx="3596335" cy="411480"/>
          </a:xfrm>
          <a:prstGeom prst="rect">
            <a:avLst/>
          </a:prstGeom>
          <a:noFill/>
          <a:ln/>
        </p:spPr>
        <p:txBody>
          <a:bodyPr wrap="square" lIns="0" tIns="0" rIns="0" bIns="0" rtlCol="0" anchor="t"/>
          <a:lstStyle/>
          <a:p>
            <a:pPr indent="0" marL="0">
              <a:buNone/>
            </a:pPr>
            <a:r>
              <a:rPr lang="en-US" sz="1900" b="1" dirty="0">
                <a:solidFill>
                  <a:srgbClr val="FFFFFF"/>
                </a:solidFill>
                <a:latin typeface="BIZ UDPGothic" pitchFamily="34" charset="0"/>
                <a:ea typeface="BIZ UDPGothic" pitchFamily="34" charset="-122"/>
                <a:cs typeface="BIZ UDPGothic" pitchFamily="34" charset="-120"/>
              </a:rPr>
              <a:t>困難だった点</a:t>
            </a:r>
            <a:endParaRPr lang="en-US" sz="1900" dirty="0"/>
          </a:p>
        </p:txBody>
      </p:sp>
      <p:sp>
        <p:nvSpPr>
          <p:cNvPr id="21" name="Text 19"/>
          <p:cNvSpPr txBox="1"/>
          <p:nvPr/>
        </p:nvSpPr>
        <p:spPr>
          <a:xfrm>
            <a:off x="7818120" y="5394960"/>
            <a:ext cx="3596335" cy="320040"/>
          </a:xfrm>
          <a:prstGeom prst="rect">
            <a:avLst/>
          </a:prstGeom>
          <a:noFill/>
          <a:ln/>
        </p:spPr>
        <p:txBody>
          <a:bodyPr wrap="square" lIns="0" tIns="0" rIns="0" bIns="0" rtlCol="0" anchor="t"/>
          <a:lstStyle/>
          <a:p>
            <a:pPr indent="0" marL="0">
              <a:buNone/>
            </a:pPr>
            <a:r>
              <a:rPr lang="en-US" sz="1200" dirty="0">
                <a:solidFill>
                  <a:srgbClr val="9AA1AD"/>
                </a:solidFill>
                <a:latin typeface="BIZ UDPGothic" pitchFamily="34" charset="0"/>
                <a:ea typeface="BIZ UDPGothic" pitchFamily="34" charset="-122"/>
                <a:cs typeface="BIZ UDPGothic" pitchFamily="34" charset="-120"/>
              </a:rPr>
              <a:t>つまずいた所と、どう乗り越えたか</a:t>
            </a:r>
            <a:endParaRPr lang="en-US" sz="12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FFFF"/>
                </a:solidFill>
                <a:latin typeface="Cambria"/>
                <a:ea typeface="Cambria"/>
                <a:cs typeface="Cambria"/>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7FD1CC"/>
                </a:solidFill>
                <a:latin typeface="Cambria" pitchFamily="34" charset="0"/>
                <a:ea typeface="Cambria" pitchFamily="34" charset="-122"/>
                <a:cs typeface="Cambria" pitchFamily="34" charset="-120"/>
              </a:rPr>
              <a:t>WHAT COMES NEXT</a:t>
            </a:r>
            <a:endParaRPr lang="en-US" sz="1300" dirty="0"/>
          </a:p>
        </p:txBody>
      </p:sp>
      <p:sp>
        <p:nvSpPr>
          <p:cNvPr id="3" name="Text 1"/>
          <p:cNvSpPr txBox="1"/>
          <p:nvPr/>
        </p:nvSpPr>
        <p:spPr>
          <a:xfrm>
            <a:off x="777240" y="896112"/>
            <a:ext cx="10637215" cy="685800"/>
          </a:xfrm>
          <a:prstGeom prst="rect">
            <a:avLst/>
          </a:prstGeom>
          <a:noFill/>
          <a:ln/>
        </p:spPr>
        <p:txBody>
          <a:bodyPr wrap="square" lIns="0" tIns="0" rIns="0" bIns="0" rtlCol="0" anchor="t"/>
          <a:lstStyle/>
          <a:p>
            <a:pPr indent="0" marL="0">
              <a:buNone/>
            </a:pPr>
            <a:r>
              <a:rPr lang="en-US" sz="3200" b="1" dirty="0">
                <a:solidFill>
                  <a:srgbClr val="FFFFFF"/>
                </a:solidFill>
                <a:latin typeface="BIZ UDPGothic" pitchFamily="34" charset="0"/>
                <a:ea typeface="BIZ UDPGothic" pitchFamily="34" charset="-122"/>
                <a:cs typeface="BIZ UDPGothic" pitchFamily="34" charset="-120"/>
              </a:rPr>
              <a:t>今後、続けてほしい3つのこと</a:t>
            </a:r>
            <a:endParaRPr lang="en-US" sz="3200" dirty="0"/>
          </a:p>
        </p:txBody>
      </p:sp>
      <p:sp>
        <p:nvSpPr>
          <p:cNvPr id="4" name="Text 2"/>
          <p:cNvSpPr txBox="1"/>
          <p:nvPr/>
        </p:nvSpPr>
        <p:spPr>
          <a:xfrm>
            <a:off x="777240" y="2103120"/>
            <a:ext cx="3301898" cy="1463040"/>
          </a:xfrm>
          <a:prstGeom prst="rect">
            <a:avLst/>
          </a:prstGeom>
          <a:noFill/>
          <a:ln/>
        </p:spPr>
        <p:txBody>
          <a:bodyPr wrap="square" lIns="0" tIns="0" rIns="0" bIns="0" rtlCol="0" anchor="t"/>
          <a:lstStyle/>
          <a:p>
            <a:pPr indent="0" marL="0">
              <a:buNone/>
            </a:pPr>
            <a:r>
              <a:rPr lang="en-US" sz="9600" b="1" dirty="0">
                <a:solidFill>
                  <a:srgbClr val="4A515C"/>
                </a:solidFill>
                <a:latin typeface="Cambria" pitchFamily="34" charset="0"/>
                <a:ea typeface="Cambria" pitchFamily="34" charset="-122"/>
                <a:cs typeface="Cambria" pitchFamily="34" charset="-120"/>
              </a:rPr>
              <a:t>01</a:t>
            </a:r>
            <a:endParaRPr lang="en-US" sz="9600" dirty="0"/>
          </a:p>
        </p:txBody>
      </p:sp>
      <p:sp>
        <p:nvSpPr>
          <p:cNvPr id="5" name="Text 3"/>
          <p:cNvSpPr txBox="1"/>
          <p:nvPr/>
        </p:nvSpPr>
        <p:spPr>
          <a:xfrm>
            <a:off x="777240" y="3657600"/>
            <a:ext cx="3301898" cy="502920"/>
          </a:xfrm>
          <a:prstGeom prst="rect">
            <a:avLst/>
          </a:prstGeom>
          <a:noFill/>
          <a:ln/>
        </p:spPr>
        <p:txBody>
          <a:bodyPr wrap="square" lIns="0" tIns="0" rIns="0" bIns="0" rtlCol="0" anchor="t"/>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課題を考え続ける</a:t>
            </a:r>
            <a:endParaRPr lang="en-US" sz="2400" dirty="0"/>
          </a:p>
        </p:txBody>
      </p:sp>
      <p:sp>
        <p:nvSpPr>
          <p:cNvPr id="6" name="Text 4"/>
          <p:cNvSpPr txBox="1"/>
          <p:nvPr/>
        </p:nvSpPr>
        <p:spPr>
          <a:xfrm>
            <a:off x="777240" y="4251960"/>
            <a:ext cx="3210458" cy="914400"/>
          </a:xfrm>
          <a:prstGeom prst="rect">
            <a:avLst/>
          </a:prstGeom>
          <a:noFill/>
          <a:ln/>
        </p:spPr>
        <p:txBody>
          <a:bodyPr wrap="square" lIns="0" tIns="0" rIns="0" bIns="0" rtlCol="0" anchor="t"/>
          <a:lstStyle/>
          <a:p>
            <a:pPr indent="0" marL="0">
              <a:lnSpc>
                <a:spcPct val="130000"/>
              </a:lnSpc>
              <a:buNone/>
            </a:pPr>
            <a:r>
              <a:rPr lang="en-US" sz="1400" dirty="0">
                <a:solidFill>
                  <a:srgbClr val="C3C8D0"/>
                </a:solidFill>
                <a:latin typeface="BIZ UDPGothic" pitchFamily="34" charset="0"/>
                <a:ea typeface="BIZ UDPGothic" pitchFamily="34" charset="-122"/>
                <a:cs typeface="BIZ UDPGothic" pitchFamily="34" charset="-120"/>
              </a:rPr>
              <a:t>自分は何に困っているか。周りは何に困っているか。</a:t>
            </a:r>
            <a:endParaRPr lang="en-US" sz="1400" dirty="0"/>
          </a:p>
        </p:txBody>
      </p:sp>
      <p:sp>
        <p:nvSpPr>
          <p:cNvPr id="7" name="Text 5"/>
          <p:cNvSpPr txBox="1"/>
          <p:nvPr/>
        </p:nvSpPr>
        <p:spPr>
          <a:xfrm>
            <a:off x="4444898" y="2103120"/>
            <a:ext cx="3301898" cy="1463040"/>
          </a:xfrm>
          <a:prstGeom prst="rect">
            <a:avLst/>
          </a:prstGeom>
          <a:noFill/>
          <a:ln/>
        </p:spPr>
        <p:txBody>
          <a:bodyPr wrap="square" lIns="0" tIns="0" rIns="0" bIns="0" rtlCol="0" anchor="t"/>
          <a:lstStyle/>
          <a:p>
            <a:pPr indent="0" marL="0">
              <a:buNone/>
            </a:pPr>
            <a:r>
              <a:rPr lang="en-US" sz="9600" b="1" dirty="0">
                <a:solidFill>
                  <a:srgbClr val="4A515C"/>
                </a:solidFill>
                <a:latin typeface="Cambria" pitchFamily="34" charset="0"/>
                <a:ea typeface="Cambria" pitchFamily="34" charset="-122"/>
                <a:cs typeface="Cambria" pitchFamily="34" charset="-120"/>
              </a:rPr>
              <a:t>02</a:t>
            </a:r>
            <a:endParaRPr lang="en-US" sz="9600" dirty="0"/>
          </a:p>
        </p:txBody>
      </p:sp>
      <p:sp>
        <p:nvSpPr>
          <p:cNvPr id="8" name="Text 6"/>
          <p:cNvSpPr txBox="1"/>
          <p:nvPr/>
        </p:nvSpPr>
        <p:spPr>
          <a:xfrm>
            <a:off x="4444898" y="3657600"/>
            <a:ext cx="3301898" cy="502920"/>
          </a:xfrm>
          <a:prstGeom prst="rect">
            <a:avLst/>
          </a:prstGeom>
          <a:noFill/>
          <a:ln/>
        </p:spPr>
        <p:txBody>
          <a:bodyPr wrap="square" lIns="0" tIns="0" rIns="0" bIns="0" rtlCol="0" anchor="t"/>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AIと対話し続ける</a:t>
            </a:r>
            <a:endParaRPr lang="en-US" sz="2400" dirty="0"/>
          </a:p>
        </p:txBody>
      </p:sp>
      <p:sp>
        <p:nvSpPr>
          <p:cNvPr id="9" name="Text 7"/>
          <p:cNvSpPr txBox="1"/>
          <p:nvPr/>
        </p:nvSpPr>
        <p:spPr>
          <a:xfrm>
            <a:off x="4444898" y="4251960"/>
            <a:ext cx="3210458" cy="914400"/>
          </a:xfrm>
          <a:prstGeom prst="rect">
            <a:avLst/>
          </a:prstGeom>
          <a:noFill/>
          <a:ln/>
        </p:spPr>
        <p:txBody>
          <a:bodyPr wrap="square" lIns="0" tIns="0" rIns="0" bIns="0" rtlCol="0" anchor="t"/>
          <a:lstStyle/>
          <a:p>
            <a:pPr indent="0" marL="0">
              <a:lnSpc>
                <a:spcPct val="130000"/>
              </a:lnSpc>
              <a:buNone/>
            </a:pPr>
            <a:r>
              <a:rPr lang="en-US" sz="1400" dirty="0">
                <a:solidFill>
                  <a:srgbClr val="C3C8D0"/>
                </a:solidFill>
                <a:latin typeface="BIZ UDPGothic" pitchFamily="34" charset="0"/>
                <a:ea typeface="BIZ UDPGothic" pitchFamily="34" charset="-122"/>
                <a:cs typeface="BIZ UDPGothic" pitchFamily="34" charset="-120"/>
              </a:rPr>
              <a:t>その課題、AIで解決できないか。毎回聞いてみる。</a:t>
            </a:r>
            <a:endParaRPr lang="en-US" sz="1400" dirty="0"/>
          </a:p>
        </p:txBody>
      </p:sp>
      <p:sp>
        <p:nvSpPr>
          <p:cNvPr id="10" name="Shape 8"/>
          <p:cNvSpPr/>
          <p:nvPr/>
        </p:nvSpPr>
        <p:spPr>
          <a:xfrm>
            <a:off x="7929677" y="1965960"/>
            <a:ext cx="3667658" cy="3977640"/>
          </a:xfrm>
          <a:prstGeom prst="rect">
            <a:avLst/>
          </a:prstGeom>
          <a:solidFill>
            <a:srgbClr val="1F2A2E"/>
          </a:solidFill>
          <a:ln/>
        </p:spPr>
      </p:sp>
      <p:sp>
        <p:nvSpPr>
          <p:cNvPr id="11" name="Text 9"/>
          <p:cNvSpPr txBox="1"/>
          <p:nvPr/>
        </p:nvSpPr>
        <p:spPr>
          <a:xfrm>
            <a:off x="8112557" y="2103120"/>
            <a:ext cx="3301898" cy="1463040"/>
          </a:xfrm>
          <a:prstGeom prst="rect">
            <a:avLst/>
          </a:prstGeom>
          <a:noFill/>
          <a:ln/>
        </p:spPr>
        <p:txBody>
          <a:bodyPr wrap="square" lIns="0" tIns="0" rIns="0" bIns="0" rtlCol="0" anchor="t"/>
          <a:lstStyle/>
          <a:p>
            <a:pPr indent="0" marL="0">
              <a:buNone/>
            </a:pPr>
            <a:r>
              <a:rPr lang="en-US" sz="9600" b="1" dirty="0">
                <a:solidFill>
                  <a:srgbClr val="7FD1CC"/>
                </a:solidFill>
                <a:latin typeface="Cambria" pitchFamily="34" charset="0"/>
                <a:ea typeface="Cambria" pitchFamily="34" charset="-122"/>
                <a:cs typeface="Cambria" pitchFamily="34" charset="-120"/>
              </a:rPr>
              <a:t>03</a:t>
            </a:r>
            <a:endParaRPr lang="en-US" sz="9600" dirty="0"/>
          </a:p>
        </p:txBody>
      </p:sp>
      <p:sp>
        <p:nvSpPr>
          <p:cNvPr id="12" name="Text 10"/>
          <p:cNvSpPr txBox="1"/>
          <p:nvPr/>
        </p:nvSpPr>
        <p:spPr>
          <a:xfrm>
            <a:off x="8112557" y="3657600"/>
            <a:ext cx="3301898" cy="502920"/>
          </a:xfrm>
          <a:prstGeom prst="rect">
            <a:avLst/>
          </a:prstGeom>
          <a:noFill/>
          <a:ln/>
        </p:spPr>
        <p:txBody>
          <a:bodyPr wrap="square" lIns="0" tIns="0" rIns="0" bIns="0" rtlCol="0" anchor="t"/>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コンテキストを貯める</a:t>
            </a:r>
            <a:endParaRPr lang="en-US" sz="2400" dirty="0"/>
          </a:p>
        </p:txBody>
      </p:sp>
      <p:sp>
        <p:nvSpPr>
          <p:cNvPr id="13" name="Text 11"/>
          <p:cNvSpPr txBox="1"/>
          <p:nvPr/>
        </p:nvSpPr>
        <p:spPr>
          <a:xfrm>
            <a:off x="8112557" y="4251960"/>
            <a:ext cx="3210458" cy="914400"/>
          </a:xfrm>
          <a:prstGeom prst="rect">
            <a:avLst/>
          </a:prstGeom>
          <a:noFill/>
          <a:ln/>
        </p:spPr>
        <p:txBody>
          <a:bodyPr wrap="square" lIns="0" tIns="0" rIns="0" bIns="0" rtlCol="0" anchor="t"/>
          <a:lstStyle/>
          <a:p>
            <a:pPr indent="0" marL="0">
              <a:lnSpc>
                <a:spcPct val="130000"/>
              </a:lnSpc>
              <a:buNone/>
            </a:pPr>
            <a:r>
              <a:rPr lang="en-US" sz="1400" dirty="0">
                <a:solidFill>
                  <a:srgbClr val="C3C8D0"/>
                </a:solidFill>
                <a:latin typeface="BIZ UDPGothic" pitchFamily="34" charset="0"/>
                <a:ea typeface="BIZ UDPGothic" pitchFamily="34" charset="-122"/>
                <a:cs typeface="BIZ UDPGothic" pitchFamily="34" charset="-120"/>
              </a:rPr>
              <a:t>自分の一次情報を残す。これだけは全員やる。</a:t>
            </a:r>
            <a:endParaRPr lang="en-US" sz="1400" dirty="0"/>
          </a:p>
        </p:txBody>
      </p:sp>
      <p:sp>
        <p:nvSpPr>
          <p:cNvPr id="14" name="Text 12"/>
          <p:cNvSpPr txBox="1"/>
          <p:nvPr/>
        </p:nvSpPr>
        <p:spPr>
          <a:xfrm>
            <a:off x="8112557" y="5349240"/>
            <a:ext cx="3301898" cy="320040"/>
          </a:xfrm>
          <a:prstGeom prst="rect">
            <a:avLst/>
          </a:prstGeom>
          <a:noFill/>
          <a:ln/>
        </p:spPr>
        <p:txBody>
          <a:bodyPr wrap="square" lIns="0" tIns="0" rIns="0" bIns="0" rtlCol="0" anchor="t"/>
          <a:lstStyle/>
          <a:p>
            <a:pPr indent="0" marL="0">
              <a:buNone/>
            </a:pPr>
            <a:r>
              <a:rPr lang="en-US" sz="1300" b="1" dirty="0">
                <a:solidFill>
                  <a:srgbClr val="7FD1CC"/>
                </a:solidFill>
                <a:latin typeface="BIZ UDPGothic" pitchFamily="34" charset="0"/>
                <a:ea typeface="BIZ UDPGothic" pitchFamily="34" charset="-122"/>
                <a:cs typeface="BIZ UDPGothic" pitchFamily="34" charset="-120"/>
              </a:rPr>
              <a:t>全員必須</a:t>
            </a:r>
            <a:endParaRPr lang="en-US" sz="13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FFFF"/>
                </a:solidFill>
                <a:latin typeface="Cambria"/>
                <a:ea typeface="Cambria"/>
                <a:cs typeface="Cambria"/>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67512" y="1417320"/>
            <a:ext cx="3840480" cy="2651760"/>
          </a:xfrm>
          <a:prstGeom prst="rect">
            <a:avLst/>
          </a:prstGeom>
          <a:noFill/>
          <a:ln/>
        </p:spPr>
        <p:txBody>
          <a:bodyPr wrap="square" lIns="0" tIns="0" rIns="0" bIns="0" rtlCol="0" anchor="t"/>
          <a:lstStyle/>
          <a:p>
            <a:pPr indent="0" marL="0">
              <a:buNone/>
            </a:pPr>
            <a:r>
              <a:rPr lang="en-US" sz="20000" b="1" dirty="0">
                <a:solidFill>
                  <a:srgbClr val="E6E9ED"/>
                </a:solidFill>
                <a:latin typeface="Cambria" pitchFamily="34" charset="0"/>
                <a:ea typeface="Cambria" pitchFamily="34" charset="-122"/>
                <a:cs typeface="Cambria" pitchFamily="34" charset="-120"/>
              </a:rPr>
              <a:t>01</a:t>
            </a:r>
            <a:endParaRPr lang="en-US" sz="20000" dirty="0"/>
          </a:p>
        </p:txBody>
      </p:sp>
      <p:sp>
        <p:nvSpPr>
          <p:cNvPr id="3" name="Text 1"/>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0E8C88"/>
                </a:solidFill>
                <a:latin typeface="Cambria" pitchFamily="34" charset="0"/>
                <a:ea typeface="Cambria" pitchFamily="34" charset="-122"/>
                <a:cs typeface="Cambria" pitchFamily="34" charset="-120"/>
              </a:rPr>
              <a:t>KEEP ASKING  —  WHAT'S THE PROBLEM?</a:t>
            </a:r>
            <a:endParaRPr lang="en-US" sz="1300" dirty="0"/>
          </a:p>
        </p:txBody>
      </p:sp>
      <p:sp>
        <p:nvSpPr>
          <p:cNvPr id="4" name="Text 2"/>
          <p:cNvSpPr txBox="1"/>
          <p:nvPr/>
        </p:nvSpPr>
        <p:spPr>
          <a:xfrm>
            <a:off x="777240" y="896112"/>
            <a:ext cx="10637215" cy="685800"/>
          </a:xfrm>
          <a:prstGeom prst="rect">
            <a:avLst/>
          </a:prstGeom>
          <a:noFill/>
          <a:ln/>
        </p:spPr>
        <p:txBody>
          <a:bodyPr wrap="square" lIns="0" tIns="0" rIns="0" bIns="0" rtlCol="0" anchor="t"/>
          <a:lstStyle/>
          <a:p>
            <a:pPr indent="0" marL="0">
              <a:buNone/>
            </a:pPr>
            <a:r>
              <a:rPr lang="en-US" sz="3200" b="1" dirty="0">
                <a:solidFill>
                  <a:srgbClr val="22252E"/>
                </a:solidFill>
                <a:latin typeface="BIZ UDPGothic" pitchFamily="34" charset="0"/>
                <a:ea typeface="BIZ UDPGothic" pitchFamily="34" charset="-122"/>
                <a:cs typeface="BIZ UDPGothic" pitchFamily="34" charset="-120"/>
              </a:rPr>
              <a:t>課題を考え続ける</a:t>
            </a:r>
            <a:endParaRPr lang="en-US" sz="3200" dirty="0"/>
          </a:p>
        </p:txBody>
      </p:sp>
      <p:sp>
        <p:nvSpPr>
          <p:cNvPr id="5" name="Text 3"/>
          <p:cNvSpPr txBox="1"/>
          <p:nvPr/>
        </p:nvSpPr>
        <p:spPr>
          <a:xfrm>
            <a:off x="777240" y="4343400"/>
            <a:ext cx="3657600" cy="1737360"/>
          </a:xfrm>
          <a:prstGeom prst="rect">
            <a:avLst/>
          </a:prstGeom>
          <a:noFill/>
          <a:ln/>
        </p:spPr>
        <p:txBody>
          <a:bodyPr wrap="square" lIns="0" tIns="0" rIns="0" bIns="0" rtlCol="0" anchor="t"/>
          <a:lstStyle/>
          <a:p>
            <a:pPr indent="0" marL="0">
              <a:lnSpc>
                <a:spcPct val="130000"/>
              </a:lnSpc>
              <a:buNone/>
            </a:pPr>
            <a:r>
              <a:rPr lang="en-US" sz="2200" b="1" dirty="0">
                <a:solidFill>
                  <a:srgbClr val="22252E"/>
                </a:solidFill>
                <a:latin typeface="BIZ UDPGothic" pitchFamily="34" charset="0"/>
                <a:ea typeface="BIZ UDPGothic" pitchFamily="34" charset="-122"/>
                <a:cs typeface="BIZ UDPGothic" pitchFamily="34" charset="-120"/>
              </a:rPr>
              <a:t>今回の発表と同じ。</a:t>
            </a:r>
            <a:endParaRPr lang="en-US" sz="2200" dirty="0"/>
          </a:p>
          <a:p>
            <a:pPr indent="0" marL="0">
              <a:lnSpc>
                <a:spcPct val="130000"/>
              </a:lnSpc>
              <a:buNone/>
            </a:pPr>
            <a:r>
              <a:rPr lang="en-US" sz="2200" b="1" dirty="0">
                <a:solidFill>
                  <a:srgbClr val="22252E"/>
                </a:solidFill>
                <a:latin typeface="BIZ UDPGothic" pitchFamily="34" charset="0"/>
                <a:ea typeface="BIZ UDPGothic" pitchFamily="34" charset="-122"/>
                <a:cs typeface="BIZ UDPGothic" pitchFamily="34" charset="-120"/>
              </a:rPr>
              <a:t>出発点はいつも「課題」</a:t>
            </a:r>
            <a:endParaRPr lang="en-US" sz="2200" dirty="0"/>
          </a:p>
        </p:txBody>
      </p:sp>
      <p:sp>
        <p:nvSpPr>
          <p:cNvPr id="6" name="Shape 4"/>
          <p:cNvSpPr/>
          <p:nvPr/>
        </p:nvSpPr>
        <p:spPr>
          <a:xfrm>
            <a:off x="4800600" y="1828800"/>
            <a:ext cx="0" cy="4206240"/>
          </a:xfrm>
          <a:prstGeom prst="line">
            <a:avLst/>
          </a:prstGeom>
          <a:noFill/>
          <a:ln w="9525">
            <a:solidFill>
              <a:srgbClr val="D3D7DE"/>
            </a:solidFill>
            <a:prstDash val="solid"/>
          </a:ln>
        </p:spPr>
      </p:sp>
      <p:sp>
        <p:nvSpPr>
          <p:cNvPr id="7" name="Text 5"/>
          <p:cNvSpPr txBox="1"/>
          <p:nvPr/>
        </p:nvSpPr>
        <p:spPr>
          <a:xfrm>
            <a:off x="5212080" y="1828800"/>
            <a:ext cx="6202375" cy="1188720"/>
          </a:xfrm>
          <a:prstGeom prst="rect">
            <a:avLst/>
          </a:prstGeom>
          <a:noFill/>
          <a:ln/>
        </p:spPr>
        <p:txBody>
          <a:bodyPr wrap="square" lIns="0" tIns="0" rIns="0" bIns="0" rtlCol="0" anchor="t"/>
          <a:lstStyle/>
          <a:p>
            <a:pPr indent="0" marL="0">
              <a:lnSpc>
                <a:spcPct val="140000"/>
              </a:lnSpc>
              <a:buNone/>
            </a:pPr>
            <a:r>
              <a:rPr lang="en-US" sz="1500" dirty="0">
                <a:solidFill>
                  <a:srgbClr val="22252E"/>
                </a:solidFill>
                <a:latin typeface="BIZ UDPGothic" pitchFamily="34" charset="0"/>
                <a:ea typeface="BIZ UDPGothic" pitchFamily="34" charset="-122"/>
                <a:cs typeface="BIZ UDPGothic" pitchFamily="34" charset="-120"/>
              </a:rPr>
              <a:t>AIを使うこと自体が目的ではありません。今回の成果はどれも「誰かが困っていたこと」から始まっています。この視点を、発表会が終わった後も日常的に持ち続けてください。</a:t>
            </a:r>
            <a:endParaRPr lang="en-US" sz="1500" dirty="0"/>
          </a:p>
        </p:txBody>
      </p:sp>
      <p:sp>
        <p:nvSpPr>
          <p:cNvPr id="8" name="Text 6"/>
          <p:cNvSpPr txBox="1"/>
          <p:nvPr/>
        </p:nvSpPr>
        <p:spPr>
          <a:xfrm>
            <a:off x="5212080" y="3246120"/>
            <a:ext cx="6202375" cy="274320"/>
          </a:xfrm>
          <a:prstGeom prst="rect">
            <a:avLst/>
          </a:prstGeom>
          <a:noFill/>
          <a:ln/>
        </p:spPr>
        <p:txBody>
          <a:bodyPr wrap="square" lIns="0" tIns="0" rIns="0" bIns="0" rtlCol="0" anchor="t"/>
          <a:lstStyle/>
          <a:p>
            <a:pPr indent="0" marL="0">
              <a:buNone/>
            </a:pPr>
            <a:r>
              <a:rPr lang="en-US" sz="1200" b="1" dirty="0">
                <a:solidFill>
                  <a:srgbClr val="0E8C88"/>
                </a:solidFill>
                <a:latin typeface="BIZ UDPGothic" pitchFamily="34" charset="0"/>
                <a:ea typeface="BIZ UDPGothic" pitchFamily="34" charset="-122"/>
                <a:cs typeface="BIZ UDPGothic" pitchFamily="34" charset="-120"/>
              </a:rPr>
              <a:t>日常で問い続けること</a:t>
            </a:r>
            <a:endParaRPr lang="en-US" sz="1200" dirty="0"/>
          </a:p>
        </p:txBody>
      </p:sp>
      <p:sp>
        <p:nvSpPr>
          <p:cNvPr id="9" name="Shape 7"/>
          <p:cNvSpPr/>
          <p:nvPr/>
        </p:nvSpPr>
        <p:spPr>
          <a:xfrm>
            <a:off x="5212080" y="3611880"/>
            <a:ext cx="6202375" cy="0"/>
          </a:xfrm>
          <a:prstGeom prst="line">
            <a:avLst/>
          </a:prstGeom>
          <a:noFill/>
          <a:ln w="9525">
            <a:solidFill>
              <a:srgbClr val="D3D7DE"/>
            </a:solidFill>
            <a:prstDash val="solid"/>
          </a:ln>
        </p:spPr>
      </p:sp>
      <p:sp>
        <p:nvSpPr>
          <p:cNvPr id="10" name="Text 8"/>
          <p:cNvSpPr txBox="1"/>
          <p:nvPr/>
        </p:nvSpPr>
        <p:spPr>
          <a:xfrm>
            <a:off x="5212080" y="3749040"/>
            <a:ext cx="548640" cy="365760"/>
          </a:xfrm>
          <a:prstGeom prst="rect">
            <a:avLst/>
          </a:prstGeom>
          <a:noFill/>
          <a:ln/>
        </p:spPr>
        <p:txBody>
          <a:bodyPr wrap="square" lIns="0" tIns="0" rIns="0" bIns="0" rtlCol="0" anchor="t"/>
          <a:lstStyle/>
          <a:p>
            <a:pPr indent="0" marL="0">
              <a:buNone/>
            </a:pPr>
            <a:r>
              <a:rPr lang="en-US" sz="1800" b="1" dirty="0">
                <a:solidFill>
                  <a:srgbClr val="0E8C88"/>
                </a:solidFill>
                <a:latin typeface="Cambria" pitchFamily="34" charset="0"/>
                <a:ea typeface="Cambria" pitchFamily="34" charset="-122"/>
                <a:cs typeface="Cambria" pitchFamily="34" charset="-120"/>
              </a:rPr>
              <a:t>Q1</a:t>
            </a:r>
            <a:endParaRPr lang="en-US" sz="1800" dirty="0"/>
          </a:p>
        </p:txBody>
      </p:sp>
      <p:sp>
        <p:nvSpPr>
          <p:cNvPr id="11" name="Text 9"/>
          <p:cNvSpPr txBox="1"/>
          <p:nvPr/>
        </p:nvSpPr>
        <p:spPr>
          <a:xfrm>
            <a:off x="5806440" y="3730752"/>
            <a:ext cx="5608015" cy="320040"/>
          </a:xfrm>
          <a:prstGeom prst="rect">
            <a:avLst/>
          </a:prstGeom>
          <a:noFill/>
          <a:ln/>
        </p:spPr>
        <p:txBody>
          <a:bodyPr wrap="square" lIns="0" tIns="0" rIns="0" bIns="0" rtlCol="0" anchor="t"/>
          <a:lstStyle/>
          <a:p>
            <a:pPr indent="0" marL="0">
              <a:buNone/>
            </a:pPr>
            <a:r>
              <a:rPr lang="en-US" sz="1700" b="1" dirty="0">
                <a:solidFill>
                  <a:srgbClr val="22252E"/>
                </a:solidFill>
                <a:latin typeface="BIZ UDPGothic" pitchFamily="34" charset="0"/>
                <a:ea typeface="BIZ UDPGothic" pitchFamily="34" charset="-122"/>
                <a:cs typeface="BIZ UDPGothic" pitchFamily="34" charset="-120"/>
              </a:rPr>
              <a:t>日々、自分は何に困っているか</a:t>
            </a:r>
            <a:endParaRPr lang="en-US" sz="1700" dirty="0"/>
          </a:p>
        </p:txBody>
      </p:sp>
      <p:sp>
        <p:nvSpPr>
          <p:cNvPr id="12" name="Text 10"/>
          <p:cNvSpPr txBox="1"/>
          <p:nvPr/>
        </p:nvSpPr>
        <p:spPr>
          <a:xfrm>
            <a:off x="5806440" y="4050792"/>
            <a:ext cx="5608015" cy="274320"/>
          </a:xfrm>
          <a:prstGeom prst="rect">
            <a:avLst/>
          </a:prstGeom>
          <a:noFill/>
          <a:ln/>
        </p:spPr>
        <p:txBody>
          <a:bodyPr wrap="square" lIns="0" tIns="0" rIns="0" bIns="0" rtlCol="0" anchor="t"/>
          <a:lstStyle/>
          <a:p>
            <a:pPr indent="0" marL="0">
              <a:buNone/>
            </a:pPr>
            <a:r>
              <a:rPr lang="en-US" sz="1200" dirty="0">
                <a:solidFill>
                  <a:srgbClr val="6B7180"/>
                </a:solidFill>
                <a:latin typeface="BIZ UDPGothic" pitchFamily="34" charset="0"/>
                <a:ea typeface="BIZ UDPGothic" pitchFamily="34" charset="-122"/>
                <a:cs typeface="BIZ UDPGothic" pitchFamily="34" charset="-120"/>
              </a:rPr>
              <a:t>繰り返し作業、時間がかかる作業、毎回迷う判断</a:t>
            </a:r>
            <a:endParaRPr lang="en-US" sz="1200" dirty="0"/>
          </a:p>
        </p:txBody>
      </p:sp>
      <p:sp>
        <p:nvSpPr>
          <p:cNvPr id="13" name="Shape 11"/>
          <p:cNvSpPr/>
          <p:nvPr/>
        </p:nvSpPr>
        <p:spPr>
          <a:xfrm>
            <a:off x="5212080" y="4389120"/>
            <a:ext cx="6202375" cy="0"/>
          </a:xfrm>
          <a:prstGeom prst="line">
            <a:avLst/>
          </a:prstGeom>
          <a:noFill/>
          <a:ln w="9525">
            <a:solidFill>
              <a:srgbClr val="D3D7DE"/>
            </a:solidFill>
            <a:prstDash val="solid"/>
          </a:ln>
        </p:spPr>
      </p:sp>
      <p:sp>
        <p:nvSpPr>
          <p:cNvPr id="14" name="Text 12"/>
          <p:cNvSpPr txBox="1"/>
          <p:nvPr/>
        </p:nvSpPr>
        <p:spPr>
          <a:xfrm>
            <a:off x="5212080" y="4526280"/>
            <a:ext cx="548640" cy="365760"/>
          </a:xfrm>
          <a:prstGeom prst="rect">
            <a:avLst/>
          </a:prstGeom>
          <a:noFill/>
          <a:ln/>
        </p:spPr>
        <p:txBody>
          <a:bodyPr wrap="square" lIns="0" tIns="0" rIns="0" bIns="0" rtlCol="0" anchor="t"/>
          <a:lstStyle/>
          <a:p>
            <a:pPr indent="0" marL="0">
              <a:buNone/>
            </a:pPr>
            <a:r>
              <a:rPr lang="en-US" sz="1800" b="1" dirty="0">
                <a:solidFill>
                  <a:srgbClr val="0E8C88"/>
                </a:solidFill>
                <a:latin typeface="Cambria" pitchFamily="34" charset="0"/>
                <a:ea typeface="Cambria" pitchFamily="34" charset="-122"/>
                <a:cs typeface="Cambria" pitchFamily="34" charset="-120"/>
              </a:rPr>
              <a:t>Q2</a:t>
            </a:r>
            <a:endParaRPr lang="en-US" sz="1800" dirty="0"/>
          </a:p>
        </p:txBody>
      </p:sp>
      <p:sp>
        <p:nvSpPr>
          <p:cNvPr id="15" name="Text 13"/>
          <p:cNvSpPr txBox="1"/>
          <p:nvPr/>
        </p:nvSpPr>
        <p:spPr>
          <a:xfrm>
            <a:off x="5806440" y="4507992"/>
            <a:ext cx="5608015" cy="320040"/>
          </a:xfrm>
          <a:prstGeom prst="rect">
            <a:avLst/>
          </a:prstGeom>
          <a:noFill/>
          <a:ln/>
        </p:spPr>
        <p:txBody>
          <a:bodyPr wrap="square" lIns="0" tIns="0" rIns="0" bIns="0" rtlCol="0" anchor="t"/>
          <a:lstStyle/>
          <a:p>
            <a:pPr indent="0" marL="0">
              <a:buNone/>
            </a:pPr>
            <a:r>
              <a:rPr lang="en-US" sz="1700" b="1" dirty="0">
                <a:solidFill>
                  <a:srgbClr val="22252E"/>
                </a:solidFill>
                <a:latin typeface="BIZ UDPGothic" pitchFamily="34" charset="0"/>
                <a:ea typeface="BIZ UDPGothic" pitchFamily="34" charset="-122"/>
                <a:cs typeface="BIZ UDPGothic" pitchFamily="34" charset="-120"/>
              </a:rPr>
              <a:t>他の人は何に困っているか</a:t>
            </a:r>
            <a:endParaRPr lang="en-US" sz="1700" dirty="0"/>
          </a:p>
        </p:txBody>
      </p:sp>
      <p:sp>
        <p:nvSpPr>
          <p:cNvPr id="16" name="Text 14"/>
          <p:cNvSpPr txBox="1"/>
          <p:nvPr/>
        </p:nvSpPr>
        <p:spPr>
          <a:xfrm>
            <a:off x="5806440" y="4828032"/>
            <a:ext cx="5608015" cy="274320"/>
          </a:xfrm>
          <a:prstGeom prst="rect">
            <a:avLst/>
          </a:prstGeom>
          <a:noFill/>
          <a:ln/>
        </p:spPr>
        <p:txBody>
          <a:bodyPr wrap="square" lIns="0" tIns="0" rIns="0" bIns="0" rtlCol="0" anchor="t"/>
          <a:lstStyle/>
          <a:p>
            <a:pPr indent="0" marL="0">
              <a:buNone/>
            </a:pPr>
            <a:r>
              <a:rPr lang="en-US" sz="1200" dirty="0">
                <a:solidFill>
                  <a:srgbClr val="6B7180"/>
                </a:solidFill>
                <a:latin typeface="BIZ UDPGothic" pitchFamily="34" charset="0"/>
                <a:ea typeface="BIZ UDPGothic" pitchFamily="34" charset="-122"/>
                <a:cs typeface="BIZ UDPGothic" pitchFamily="34" charset="-120"/>
              </a:rPr>
              <a:t>同僚・他部署・お客様の「面倒」「わからない」</a:t>
            </a:r>
            <a:endParaRPr lang="en-US" sz="1200" dirty="0"/>
          </a:p>
        </p:txBody>
      </p:sp>
      <p:sp>
        <p:nvSpPr>
          <p:cNvPr id="17" name="Shape 15"/>
          <p:cNvSpPr/>
          <p:nvPr/>
        </p:nvSpPr>
        <p:spPr>
          <a:xfrm>
            <a:off x="5212080" y="5166360"/>
            <a:ext cx="6202375" cy="0"/>
          </a:xfrm>
          <a:prstGeom prst="line">
            <a:avLst/>
          </a:prstGeom>
          <a:noFill/>
          <a:ln w="9525">
            <a:solidFill>
              <a:srgbClr val="D3D7DE"/>
            </a:solidFill>
            <a:prstDash val="solid"/>
          </a:ln>
        </p:spPr>
      </p:sp>
      <p:sp>
        <p:nvSpPr>
          <p:cNvPr id="18" name="Text 16"/>
          <p:cNvSpPr txBox="1"/>
          <p:nvPr/>
        </p:nvSpPr>
        <p:spPr>
          <a:xfrm>
            <a:off x="5212080" y="5303520"/>
            <a:ext cx="548640" cy="365760"/>
          </a:xfrm>
          <a:prstGeom prst="rect">
            <a:avLst/>
          </a:prstGeom>
          <a:noFill/>
          <a:ln/>
        </p:spPr>
        <p:txBody>
          <a:bodyPr wrap="square" lIns="0" tIns="0" rIns="0" bIns="0" rtlCol="0" anchor="t"/>
          <a:lstStyle/>
          <a:p>
            <a:pPr indent="0" marL="0">
              <a:buNone/>
            </a:pPr>
            <a:r>
              <a:rPr lang="en-US" sz="1800" b="1" dirty="0">
                <a:solidFill>
                  <a:srgbClr val="0E8C88"/>
                </a:solidFill>
                <a:latin typeface="Cambria" pitchFamily="34" charset="0"/>
                <a:ea typeface="Cambria" pitchFamily="34" charset="-122"/>
                <a:cs typeface="Cambria" pitchFamily="34" charset="-120"/>
              </a:rPr>
              <a:t>Q3</a:t>
            </a:r>
            <a:endParaRPr lang="en-US" sz="1800" dirty="0"/>
          </a:p>
        </p:txBody>
      </p:sp>
      <p:sp>
        <p:nvSpPr>
          <p:cNvPr id="19" name="Text 17"/>
          <p:cNvSpPr txBox="1"/>
          <p:nvPr/>
        </p:nvSpPr>
        <p:spPr>
          <a:xfrm>
            <a:off x="5806440" y="5285232"/>
            <a:ext cx="5608015" cy="320040"/>
          </a:xfrm>
          <a:prstGeom prst="rect">
            <a:avLst/>
          </a:prstGeom>
          <a:noFill/>
          <a:ln/>
        </p:spPr>
        <p:txBody>
          <a:bodyPr wrap="square" lIns="0" tIns="0" rIns="0" bIns="0" rtlCol="0" anchor="t"/>
          <a:lstStyle/>
          <a:p>
            <a:pPr indent="0" marL="0">
              <a:buNone/>
            </a:pPr>
            <a:r>
              <a:rPr lang="en-US" sz="1700" b="1" dirty="0">
                <a:solidFill>
                  <a:srgbClr val="22252E"/>
                </a:solidFill>
                <a:latin typeface="BIZ UDPGothic" pitchFamily="34" charset="0"/>
                <a:ea typeface="BIZ UDPGothic" pitchFamily="34" charset="-122"/>
                <a:cs typeface="BIZ UDPGothic" pitchFamily="34" charset="-120"/>
              </a:rPr>
              <a:t>どの課題を解決すればいいか</a:t>
            </a:r>
            <a:endParaRPr lang="en-US" sz="1700" dirty="0"/>
          </a:p>
        </p:txBody>
      </p:sp>
      <p:sp>
        <p:nvSpPr>
          <p:cNvPr id="20" name="Text 18"/>
          <p:cNvSpPr txBox="1"/>
          <p:nvPr/>
        </p:nvSpPr>
        <p:spPr>
          <a:xfrm>
            <a:off x="5806440" y="5605272"/>
            <a:ext cx="5608015" cy="274320"/>
          </a:xfrm>
          <a:prstGeom prst="rect">
            <a:avLst/>
          </a:prstGeom>
          <a:noFill/>
          <a:ln/>
        </p:spPr>
        <p:txBody>
          <a:bodyPr wrap="square" lIns="0" tIns="0" rIns="0" bIns="0" rtlCol="0" anchor="t"/>
          <a:lstStyle/>
          <a:p>
            <a:pPr indent="0" marL="0">
              <a:buNone/>
            </a:pPr>
            <a:r>
              <a:rPr lang="en-US" sz="1200" dirty="0">
                <a:solidFill>
                  <a:srgbClr val="6B7180"/>
                </a:solidFill>
                <a:latin typeface="BIZ UDPGothic" pitchFamily="34" charset="0"/>
                <a:ea typeface="BIZ UDPGothic" pitchFamily="34" charset="-122"/>
                <a:cs typeface="BIZ UDPGothic" pitchFamily="34" charset="-120"/>
              </a:rPr>
              <a:t>効果が大きいもの、頻度が高いものから</a:t>
            </a:r>
            <a:endParaRPr lang="en-US" sz="12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22252E"/>
                </a:solidFill>
                <a:latin typeface="Cambria"/>
                <a:ea typeface="Cambria"/>
                <a:cs typeface="Cambria"/>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67512" y="1417320"/>
            <a:ext cx="3840480" cy="2651760"/>
          </a:xfrm>
          <a:prstGeom prst="rect">
            <a:avLst/>
          </a:prstGeom>
          <a:noFill/>
          <a:ln/>
        </p:spPr>
        <p:txBody>
          <a:bodyPr wrap="square" lIns="0" tIns="0" rIns="0" bIns="0" rtlCol="0" anchor="t"/>
          <a:lstStyle/>
          <a:p>
            <a:pPr indent="0" marL="0">
              <a:buNone/>
            </a:pPr>
            <a:r>
              <a:rPr lang="en-US" sz="20000" b="1" dirty="0">
                <a:solidFill>
                  <a:srgbClr val="E6E9ED"/>
                </a:solidFill>
                <a:latin typeface="Cambria" pitchFamily="34" charset="0"/>
                <a:ea typeface="Cambria" pitchFamily="34" charset="-122"/>
                <a:cs typeface="Cambria" pitchFamily="34" charset="-120"/>
              </a:rPr>
              <a:t>02</a:t>
            </a:r>
            <a:endParaRPr lang="en-US" sz="20000" dirty="0"/>
          </a:p>
        </p:txBody>
      </p:sp>
      <p:sp>
        <p:nvSpPr>
          <p:cNvPr id="3" name="Text 1"/>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0E8C88"/>
                </a:solidFill>
                <a:latin typeface="Cambria" pitchFamily="34" charset="0"/>
                <a:ea typeface="Cambria" pitchFamily="34" charset="-122"/>
                <a:cs typeface="Cambria" pitchFamily="34" charset="-120"/>
              </a:rPr>
              <a:t>KEEP TALKING  —  WITH AI</a:t>
            </a:r>
            <a:endParaRPr lang="en-US" sz="1300" dirty="0"/>
          </a:p>
        </p:txBody>
      </p:sp>
      <p:sp>
        <p:nvSpPr>
          <p:cNvPr id="4" name="Text 2"/>
          <p:cNvSpPr txBox="1"/>
          <p:nvPr/>
        </p:nvSpPr>
        <p:spPr>
          <a:xfrm>
            <a:off x="777240" y="896112"/>
            <a:ext cx="10637215" cy="685800"/>
          </a:xfrm>
          <a:prstGeom prst="rect">
            <a:avLst/>
          </a:prstGeom>
          <a:noFill/>
          <a:ln/>
        </p:spPr>
        <p:txBody>
          <a:bodyPr wrap="square" lIns="0" tIns="0" rIns="0" bIns="0" rtlCol="0" anchor="t"/>
          <a:lstStyle/>
          <a:p>
            <a:pPr indent="0" marL="0">
              <a:buNone/>
            </a:pPr>
            <a:r>
              <a:rPr lang="en-US" sz="3200" b="1" dirty="0">
                <a:solidFill>
                  <a:srgbClr val="22252E"/>
                </a:solidFill>
                <a:latin typeface="BIZ UDPGothic" pitchFamily="34" charset="0"/>
                <a:ea typeface="BIZ UDPGothic" pitchFamily="34" charset="-122"/>
                <a:cs typeface="BIZ UDPGothic" pitchFamily="34" charset="-120"/>
              </a:rPr>
              <a:t>AIと対話し続ける</a:t>
            </a:r>
            <a:endParaRPr lang="en-US" sz="3200" dirty="0"/>
          </a:p>
        </p:txBody>
      </p:sp>
      <p:sp>
        <p:nvSpPr>
          <p:cNvPr id="5" name="Text 3"/>
          <p:cNvSpPr txBox="1"/>
          <p:nvPr/>
        </p:nvSpPr>
        <p:spPr>
          <a:xfrm>
            <a:off x="777240" y="4343400"/>
            <a:ext cx="3657600" cy="1737360"/>
          </a:xfrm>
          <a:prstGeom prst="rect">
            <a:avLst/>
          </a:prstGeom>
          <a:noFill/>
          <a:ln/>
        </p:spPr>
        <p:txBody>
          <a:bodyPr wrap="square" lIns="0" tIns="0" rIns="0" bIns="0" rtlCol="0" anchor="t"/>
          <a:lstStyle/>
          <a:p>
            <a:pPr indent="0" marL="0">
              <a:lnSpc>
                <a:spcPct val="130000"/>
              </a:lnSpc>
              <a:buNone/>
            </a:pPr>
            <a:r>
              <a:rPr lang="en-US" sz="2200" b="1" dirty="0">
                <a:solidFill>
                  <a:srgbClr val="22252E"/>
                </a:solidFill>
                <a:latin typeface="BIZ UDPGothic" pitchFamily="34" charset="0"/>
                <a:ea typeface="BIZ UDPGothic" pitchFamily="34" charset="-122"/>
                <a:cs typeface="BIZ UDPGothic" pitchFamily="34" charset="-120"/>
              </a:rPr>
              <a:t>課題を見つけたら、</a:t>
            </a:r>
            <a:endParaRPr lang="en-US" sz="2200" dirty="0"/>
          </a:p>
          <a:p>
            <a:pPr indent="0" marL="0">
              <a:lnSpc>
                <a:spcPct val="130000"/>
              </a:lnSpc>
              <a:buNone/>
            </a:pPr>
            <a:r>
              <a:rPr lang="en-US" sz="2200" b="1" dirty="0">
                <a:solidFill>
                  <a:srgbClr val="22252E"/>
                </a:solidFill>
                <a:latin typeface="BIZ UDPGothic" pitchFamily="34" charset="0"/>
                <a:ea typeface="BIZ UDPGothic" pitchFamily="34" charset="-122"/>
                <a:cs typeface="BIZ UDPGothic" pitchFamily="34" charset="-120"/>
              </a:rPr>
              <a:t>まずAIに聞く</a:t>
            </a:r>
            <a:endParaRPr lang="en-US" sz="2200" dirty="0"/>
          </a:p>
        </p:txBody>
      </p:sp>
      <p:sp>
        <p:nvSpPr>
          <p:cNvPr id="6" name="Shape 4"/>
          <p:cNvSpPr/>
          <p:nvPr/>
        </p:nvSpPr>
        <p:spPr>
          <a:xfrm>
            <a:off x="4800600" y="1828800"/>
            <a:ext cx="0" cy="4206240"/>
          </a:xfrm>
          <a:prstGeom prst="line">
            <a:avLst/>
          </a:prstGeom>
          <a:noFill/>
          <a:ln w="9525">
            <a:solidFill>
              <a:srgbClr val="D3D7DE"/>
            </a:solidFill>
            <a:prstDash val="solid"/>
          </a:ln>
        </p:spPr>
      </p:sp>
      <p:sp>
        <p:nvSpPr>
          <p:cNvPr id="7" name="Text 5"/>
          <p:cNvSpPr txBox="1"/>
          <p:nvPr/>
        </p:nvSpPr>
        <p:spPr>
          <a:xfrm>
            <a:off x="5212080" y="1828800"/>
            <a:ext cx="6202375" cy="1188720"/>
          </a:xfrm>
          <a:prstGeom prst="rect">
            <a:avLst/>
          </a:prstGeom>
          <a:noFill/>
          <a:ln/>
        </p:spPr>
        <p:txBody>
          <a:bodyPr wrap="square" lIns="0" tIns="0" rIns="0" bIns="0" rtlCol="0" anchor="t"/>
          <a:lstStyle/>
          <a:p>
            <a:pPr indent="0" marL="0">
              <a:lnSpc>
                <a:spcPct val="140000"/>
              </a:lnSpc>
              <a:buNone/>
            </a:pPr>
            <a:r>
              <a:rPr lang="en-US" sz="1500" dirty="0">
                <a:solidFill>
                  <a:srgbClr val="22252E"/>
                </a:solidFill>
                <a:latin typeface="BIZ UDPGothic" pitchFamily="34" charset="0"/>
                <a:ea typeface="BIZ UDPGothic" pitchFamily="34" charset="-122"/>
                <a:cs typeface="BIZ UDPGothic" pitchFamily="34" charset="-120"/>
              </a:rPr>
              <a:t>解決方法を自分ひとりで考え込む必要はありません。「これ、AIで解決できる方法はある？」と投げかけ、対話を重ねるうちに打ち手が見えてきます。</a:t>
            </a:r>
            <a:endParaRPr lang="en-US" sz="1500" dirty="0"/>
          </a:p>
        </p:txBody>
      </p:sp>
      <p:sp>
        <p:nvSpPr>
          <p:cNvPr id="8" name="Shape 6"/>
          <p:cNvSpPr/>
          <p:nvPr/>
        </p:nvSpPr>
        <p:spPr>
          <a:xfrm>
            <a:off x="5212080" y="3429000"/>
            <a:ext cx="1344854" cy="914400"/>
          </a:xfrm>
          <a:prstGeom prst="rect">
            <a:avLst/>
          </a:prstGeom>
          <a:solidFill>
            <a:srgbClr val="F2F4F6"/>
          </a:solidFill>
          <a:ln/>
        </p:spPr>
      </p:sp>
      <p:sp>
        <p:nvSpPr>
          <p:cNvPr id="9" name="Text 7"/>
          <p:cNvSpPr txBox="1"/>
          <p:nvPr/>
        </p:nvSpPr>
        <p:spPr>
          <a:xfrm>
            <a:off x="5321808" y="3538728"/>
            <a:ext cx="1125398" cy="731520"/>
          </a:xfrm>
          <a:prstGeom prst="rect">
            <a:avLst/>
          </a:prstGeom>
          <a:noFill/>
          <a:ln/>
        </p:spPr>
        <p:txBody>
          <a:bodyPr wrap="square" lIns="0" tIns="0" rIns="0" bIns="0" rtlCol="0" anchor="ctr"/>
          <a:lstStyle/>
          <a:p>
            <a:pPr indent="0" marL="0">
              <a:buNone/>
            </a:pPr>
            <a:r>
              <a:rPr lang="en-US" sz="1500" b="1" dirty="0">
                <a:solidFill>
                  <a:srgbClr val="22252E"/>
                </a:solidFill>
                <a:latin typeface="BIZ UDPGothic" pitchFamily="34" charset="0"/>
                <a:ea typeface="BIZ UDPGothic" pitchFamily="34" charset="-122"/>
                <a:cs typeface="BIZ UDPGothic" pitchFamily="34" charset="-120"/>
              </a:rPr>
              <a:t>課題に気づく</a:t>
            </a:r>
            <a:endParaRPr lang="en-US" sz="1500" dirty="0"/>
          </a:p>
        </p:txBody>
      </p:sp>
      <p:sp>
        <p:nvSpPr>
          <p:cNvPr id="10" name="Shape 8"/>
          <p:cNvSpPr/>
          <p:nvPr/>
        </p:nvSpPr>
        <p:spPr>
          <a:xfrm>
            <a:off x="6584366" y="3886200"/>
            <a:ext cx="219456" cy="0"/>
          </a:xfrm>
          <a:prstGeom prst="line">
            <a:avLst/>
          </a:prstGeom>
          <a:noFill/>
          <a:ln w="15875">
            <a:solidFill>
              <a:srgbClr val="6B7180"/>
            </a:solidFill>
            <a:prstDash val="solid"/>
            <a:tailEnd type="triangle"/>
          </a:ln>
        </p:spPr>
      </p:sp>
      <p:sp>
        <p:nvSpPr>
          <p:cNvPr id="11" name="Shape 9"/>
          <p:cNvSpPr/>
          <p:nvPr/>
        </p:nvSpPr>
        <p:spPr>
          <a:xfrm>
            <a:off x="6831254" y="3429000"/>
            <a:ext cx="1344854" cy="914400"/>
          </a:xfrm>
          <a:prstGeom prst="rect">
            <a:avLst/>
          </a:prstGeom>
          <a:solidFill>
            <a:srgbClr val="0E8C88"/>
          </a:solidFill>
          <a:ln/>
        </p:spPr>
      </p:sp>
      <p:sp>
        <p:nvSpPr>
          <p:cNvPr id="12" name="Text 10"/>
          <p:cNvSpPr txBox="1"/>
          <p:nvPr/>
        </p:nvSpPr>
        <p:spPr>
          <a:xfrm>
            <a:off x="6940982" y="3538728"/>
            <a:ext cx="1125398" cy="731520"/>
          </a:xfrm>
          <a:prstGeom prst="rect">
            <a:avLst/>
          </a:prstGeom>
          <a:noFill/>
          <a:ln/>
        </p:spPr>
        <p:txBody>
          <a:bodyPr wrap="square" lIns="0" tIns="0" rIns="0" bIns="0" rtlCol="0" anchor="ctr"/>
          <a:lstStyle/>
          <a:p>
            <a:pPr indent="0" marL="0">
              <a:buNone/>
            </a:pPr>
            <a:r>
              <a:rPr lang="en-US" sz="1500" b="1" dirty="0">
                <a:solidFill>
                  <a:srgbClr val="FFFFFF"/>
                </a:solidFill>
                <a:latin typeface="BIZ UDPGothic" pitchFamily="34" charset="0"/>
                <a:ea typeface="BIZ UDPGothic" pitchFamily="34" charset="-122"/>
                <a:cs typeface="BIZ UDPGothic" pitchFamily="34" charset="-120"/>
              </a:rPr>
              <a:t>AIに相談</a:t>
            </a:r>
            <a:endParaRPr lang="en-US" sz="1500" dirty="0"/>
          </a:p>
        </p:txBody>
      </p:sp>
      <p:sp>
        <p:nvSpPr>
          <p:cNvPr id="13" name="Shape 11"/>
          <p:cNvSpPr/>
          <p:nvPr/>
        </p:nvSpPr>
        <p:spPr>
          <a:xfrm>
            <a:off x="8203540" y="3886200"/>
            <a:ext cx="219456" cy="0"/>
          </a:xfrm>
          <a:prstGeom prst="line">
            <a:avLst/>
          </a:prstGeom>
          <a:noFill/>
          <a:ln w="15875">
            <a:solidFill>
              <a:srgbClr val="6B7180"/>
            </a:solidFill>
            <a:prstDash val="solid"/>
            <a:tailEnd type="triangle"/>
          </a:ln>
        </p:spPr>
      </p:sp>
      <p:sp>
        <p:nvSpPr>
          <p:cNvPr id="14" name="Shape 12"/>
          <p:cNvSpPr/>
          <p:nvPr/>
        </p:nvSpPr>
        <p:spPr>
          <a:xfrm>
            <a:off x="8450428" y="3429000"/>
            <a:ext cx="1344854" cy="914400"/>
          </a:xfrm>
          <a:prstGeom prst="rect">
            <a:avLst/>
          </a:prstGeom>
          <a:solidFill>
            <a:srgbClr val="F2F4F6"/>
          </a:solidFill>
          <a:ln/>
        </p:spPr>
      </p:sp>
      <p:sp>
        <p:nvSpPr>
          <p:cNvPr id="15" name="Text 13"/>
          <p:cNvSpPr txBox="1"/>
          <p:nvPr/>
        </p:nvSpPr>
        <p:spPr>
          <a:xfrm>
            <a:off x="8560156" y="3538728"/>
            <a:ext cx="1125398" cy="731520"/>
          </a:xfrm>
          <a:prstGeom prst="rect">
            <a:avLst/>
          </a:prstGeom>
          <a:noFill/>
          <a:ln/>
        </p:spPr>
        <p:txBody>
          <a:bodyPr wrap="square" lIns="0" tIns="0" rIns="0" bIns="0" rtlCol="0" anchor="ctr"/>
          <a:lstStyle/>
          <a:p>
            <a:pPr indent="0" marL="0">
              <a:buNone/>
            </a:pPr>
            <a:r>
              <a:rPr lang="en-US" sz="1500" b="1" dirty="0">
                <a:solidFill>
                  <a:srgbClr val="22252E"/>
                </a:solidFill>
                <a:latin typeface="BIZ UDPGothic" pitchFamily="34" charset="0"/>
                <a:ea typeface="BIZ UDPGothic" pitchFamily="34" charset="-122"/>
                <a:cs typeface="BIZ UDPGothic" pitchFamily="34" charset="-120"/>
              </a:rPr>
              <a:t>試してみる</a:t>
            </a:r>
            <a:endParaRPr lang="en-US" sz="1500" dirty="0"/>
          </a:p>
        </p:txBody>
      </p:sp>
      <p:sp>
        <p:nvSpPr>
          <p:cNvPr id="16" name="Shape 14"/>
          <p:cNvSpPr/>
          <p:nvPr/>
        </p:nvSpPr>
        <p:spPr>
          <a:xfrm>
            <a:off x="9822713" y="3886200"/>
            <a:ext cx="219456" cy="0"/>
          </a:xfrm>
          <a:prstGeom prst="line">
            <a:avLst/>
          </a:prstGeom>
          <a:noFill/>
          <a:ln w="15875">
            <a:solidFill>
              <a:srgbClr val="6B7180"/>
            </a:solidFill>
            <a:prstDash val="solid"/>
            <a:tailEnd type="triangle"/>
          </a:ln>
        </p:spPr>
      </p:sp>
      <p:sp>
        <p:nvSpPr>
          <p:cNvPr id="17" name="Shape 15"/>
          <p:cNvSpPr/>
          <p:nvPr/>
        </p:nvSpPr>
        <p:spPr>
          <a:xfrm>
            <a:off x="10069601" y="3429000"/>
            <a:ext cx="1344854" cy="914400"/>
          </a:xfrm>
          <a:prstGeom prst="rect">
            <a:avLst/>
          </a:prstGeom>
          <a:solidFill>
            <a:srgbClr val="F2F4F6"/>
          </a:solidFill>
          <a:ln/>
        </p:spPr>
      </p:sp>
      <p:sp>
        <p:nvSpPr>
          <p:cNvPr id="18" name="Text 16"/>
          <p:cNvSpPr txBox="1"/>
          <p:nvPr/>
        </p:nvSpPr>
        <p:spPr>
          <a:xfrm>
            <a:off x="10179329" y="3538728"/>
            <a:ext cx="1125398" cy="731520"/>
          </a:xfrm>
          <a:prstGeom prst="rect">
            <a:avLst/>
          </a:prstGeom>
          <a:noFill/>
          <a:ln/>
        </p:spPr>
        <p:txBody>
          <a:bodyPr wrap="square" lIns="0" tIns="0" rIns="0" bIns="0" rtlCol="0" anchor="ctr"/>
          <a:lstStyle/>
          <a:p>
            <a:pPr indent="0" marL="0">
              <a:buNone/>
            </a:pPr>
            <a:r>
              <a:rPr lang="en-US" sz="1500" b="1" dirty="0">
                <a:solidFill>
                  <a:srgbClr val="22252E"/>
                </a:solidFill>
                <a:latin typeface="BIZ UDPGothic" pitchFamily="34" charset="0"/>
                <a:ea typeface="BIZ UDPGothic" pitchFamily="34" charset="-122"/>
                <a:cs typeface="BIZ UDPGothic" pitchFamily="34" charset="-120"/>
              </a:rPr>
              <a:t>結果を返す</a:t>
            </a:r>
            <a:endParaRPr lang="en-US" sz="1500" dirty="0"/>
          </a:p>
        </p:txBody>
      </p:sp>
      <p:sp>
        <p:nvSpPr>
          <p:cNvPr id="19" name="Shape 17"/>
          <p:cNvSpPr/>
          <p:nvPr/>
        </p:nvSpPr>
        <p:spPr>
          <a:xfrm>
            <a:off x="10742028" y="4343400"/>
            <a:ext cx="0" cy="320040"/>
          </a:xfrm>
          <a:prstGeom prst="line">
            <a:avLst/>
          </a:prstGeom>
          <a:noFill/>
          <a:ln w="15875">
            <a:solidFill>
              <a:srgbClr val="6B7180"/>
            </a:solidFill>
            <a:prstDash val="solid"/>
          </a:ln>
        </p:spPr>
      </p:sp>
      <p:sp>
        <p:nvSpPr>
          <p:cNvPr id="20" name="Shape 18"/>
          <p:cNvSpPr/>
          <p:nvPr/>
        </p:nvSpPr>
        <p:spPr>
          <a:xfrm>
            <a:off x="5884507" y="4663440"/>
            <a:ext cx="4857521" cy="0"/>
          </a:xfrm>
          <a:prstGeom prst="line">
            <a:avLst/>
          </a:prstGeom>
          <a:noFill/>
          <a:ln w="15875">
            <a:solidFill>
              <a:srgbClr val="6B7180"/>
            </a:solidFill>
            <a:prstDash val="solid"/>
          </a:ln>
        </p:spPr>
      </p:sp>
      <p:sp>
        <p:nvSpPr>
          <p:cNvPr id="21" name="Shape 19"/>
          <p:cNvSpPr/>
          <p:nvPr/>
        </p:nvSpPr>
        <p:spPr>
          <a:xfrm flipV="1">
            <a:off x="5884507" y="4343400"/>
            <a:ext cx="0" cy="320040"/>
          </a:xfrm>
          <a:prstGeom prst="line">
            <a:avLst/>
          </a:prstGeom>
          <a:noFill/>
          <a:ln w="15875">
            <a:solidFill>
              <a:srgbClr val="6B7180"/>
            </a:solidFill>
            <a:prstDash val="solid"/>
            <a:tailEnd type="triangle"/>
          </a:ln>
        </p:spPr>
      </p:sp>
      <p:sp>
        <p:nvSpPr>
          <p:cNvPr id="22" name="Text 20"/>
          <p:cNvSpPr txBox="1"/>
          <p:nvPr/>
        </p:nvSpPr>
        <p:spPr>
          <a:xfrm>
            <a:off x="6067387" y="4754880"/>
            <a:ext cx="4572000" cy="274320"/>
          </a:xfrm>
          <a:prstGeom prst="rect">
            <a:avLst/>
          </a:prstGeom>
          <a:noFill/>
          <a:ln/>
        </p:spPr>
        <p:txBody>
          <a:bodyPr wrap="square" lIns="0" tIns="0" rIns="0" bIns="0" rtlCol="0" anchor="t"/>
          <a:lstStyle/>
          <a:p>
            <a:pPr indent="0" marL="0">
              <a:buNone/>
            </a:pPr>
            <a:r>
              <a:rPr lang="en-US" sz="1200" dirty="0">
                <a:solidFill>
                  <a:srgbClr val="6B7180"/>
                </a:solidFill>
                <a:latin typeface="BIZ UDPGothic" pitchFamily="34" charset="0"/>
                <a:ea typeface="BIZ UDPGothic" pitchFamily="34" charset="-122"/>
                <a:cs typeface="BIZ UDPGothic" pitchFamily="34" charset="-120"/>
              </a:rPr>
              <a:t>繰り返すほど、解決の精度が上がる</a:t>
            </a:r>
            <a:endParaRPr lang="en-US" sz="12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22252E"/>
                </a:solidFill>
                <a:latin typeface="Cambria"/>
                <a:ea typeface="Cambria"/>
                <a:cs typeface="Cambria"/>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67512" y="1417320"/>
            <a:ext cx="3840480" cy="2651760"/>
          </a:xfrm>
          <a:prstGeom prst="rect">
            <a:avLst/>
          </a:prstGeom>
          <a:noFill/>
          <a:ln/>
        </p:spPr>
        <p:txBody>
          <a:bodyPr wrap="square" lIns="0" tIns="0" rIns="0" bIns="0" rtlCol="0" anchor="t"/>
          <a:lstStyle/>
          <a:p>
            <a:pPr indent="0" marL="0">
              <a:buNone/>
            </a:pPr>
            <a:r>
              <a:rPr lang="en-US" sz="20000" b="1" dirty="0">
                <a:solidFill>
                  <a:srgbClr val="E6E9ED"/>
                </a:solidFill>
                <a:latin typeface="Cambria" pitchFamily="34" charset="0"/>
                <a:ea typeface="Cambria" pitchFamily="34" charset="-122"/>
                <a:cs typeface="Cambria" pitchFamily="34" charset="-120"/>
              </a:rPr>
              <a:t>03</a:t>
            </a:r>
            <a:endParaRPr lang="en-US" sz="20000" dirty="0"/>
          </a:p>
        </p:txBody>
      </p:sp>
      <p:sp>
        <p:nvSpPr>
          <p:cNvPr id="3" name="Text 1"/>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0E8C88"/>
                </a:solidFill>
                <a:latin typeface="Cambria" pitchFamily="34" charset="0"/>
                <a:ea typeface="Cambria" pitchFamily="34" charset="-122"/>
                <a:cs typeface="Cambria" pitchFamily="34" charset="-120"/>
              </a:rPr>
              <a:t>BUILD YOUR CONTEXT  —  WHY</a:t>
            </a:r>
            <a:endParaRPr lang="en-US" sz="1300" dirty="0"/>
          </a:p>
        </p:txBody>
      </p:sp>
      <p:sp>
        <p:nvSpPr>
          <p:cNvPr id="4" name="Text 2"/>
          <p:cNvSpPr txBox="1"/>
          <p:nvPr/>
        </p:nvSpPr>
        <p:spPr>
          <a:xfrm>
            <a:off x="777240" y="896112"/>
            <a:ext cx="10637215" cy="685800"/>
          </a:xfrm>
          <a:prstGeom prst="rect">
            <a:avLst/>
          </a:prstGeom>
          <a:noFill/>
          <a:ln/>
        </p:spPr>
        <p:txBody>
          <a:bodyPr wrap="square" lIns="0" tIns="0" rIns="0" bIns="0" rtlCol="0" anchor="t"/>
          <a:lstStyle/>
          <a:p>
            <a:pPr indent="0" marL="0">
              <a:buNone/>
            </a:pPr>
            <a:r>
              <a:rPr lang="en-US" sz="3200" b="1" dirty="0">
                <a:solidFill>
                  <a:srgbClr val="22252E"/>
                </a:solidFill>
                <a:latin typeface="BIZ UDPGothic" pitchFamily="34" charset="0"/>
                <a:ea typeface="BIZ UDPGothic" pitchFamily="34" charset="-122"/>
                <a:cs typeface="BIZ UDPGothic" pitchFamily="34" charset="-120"/>
              </a:rPr>
              <a:t>コンテキストを貯める（全員必須）</a:t>
            </a:r>
            <a:endParaRPr lang="en-US" sz="3200" dirty="0"/>
          </a:p>
        </p:txBody>
      </p:sp>
      <p:sp>
        <p:nvSpPr>
          <p:cNvPr id="5" name="Text 3"/>
          <p:cNvSpPr txBox="1"/>
          <p:nvPr/>
        </p:nvSpPr>
        <p:spPr>
          <a:xfrm>
            <a:off x="777240" y="4343400"/>
            <a:ext cx="3657600" cy="1737360"/>
          </a:xfrm>
          <a:prstGeom prst="rect">
            <a:avLst/>
          </a:prstGeom>
          <a:noFill/>
          <a:ln/>
        </p:spPr>
        <p:txBody>
          <a:bodyPr wrap="square" lIns="0" tIns="0" rIns="0" bIns="0" rtlCol="0" anchor="t"/>
          <a:lstStyle/>
          <a:p>
            <a:pPr indent="0" marL="0">
              <a:lnSpc>
                <a:spcPct val="130000"/>
              </a:lnSpc>
              <a:buNone/>
            </a:pPr>
            <a:r>
              <a:rPr lang="en-US" sz="2200" b="1" dirty="0">
                <a:solidFill>
                  <a:srgbClr val="22252E"/>
                </a:solidFill>
                <a:latin typeface="BIZ UDPGothic" pitchFamily="34" charset="0"/>
                <a:ea typeface="BIZ UDPGothic" pitchFamily="34" charset="-122"/>
                <a:cs typeface="BIZ UDPGothic" pitchFamily="34" charset="-120"/>
              </a:rPr>
              <a:t>自分の情報がないAIは、</a:t>
            </a:r>
            <a:endParaRPr lang="en-US" sz="2200" dirty="0"/>
          </a:p>
          <a:p>
            <a:pPr indent="0" marL="0">
              <a:lnSpc>
                <a:spcPct val="130000"/>
              </a:lnSpc>
              <a:buNone/>
            </a:pPr>
            <a:r>
              <a:rPr lang="en-US" sz="2200" b="1" dirty="0">
                <a:solidFill>
                  <a:srgbClr val="22252E"/>
                </a:solidFill>
                <a:latin typeface="BIZ UDPGothic" pitchFamily="34" charset="0"/>
                <a:ea typeface="BIZ UDPGothic" pitchFamily="34" charset="-122"/>
                <a:cs typeface="BIZ UDPGothic" pitchFamily="34" charset="-120"/>
              </a:rPr>
              <a:t>宝の持ち腐れ</a:t>
            </a:r>
            <a:endParaRPr lang="en-US" sz="2200" dirty="0"/>
          </a:p>
        </p:txBody>
      </p:sp>
      <p:sp>
        <p:nvSpPr>
          <p:cNvPr id="6" name="Shape 4"/>
          <p:cNvSpPr/>
          <p:nvPr/>
        </p:nvSpPr>
        <p:spPr>
          <a:xfrm>
            <a:off x="4800600" y="1828800"/>
            <a:ext cx="0" cy="4206240"/>
          </a:xfrm>
          <a:prstGeom prst="line">
            <a:avLst/>
          </a:prstGeom>
          <a:noFill/>
          <a:ln w="9525">
            <a:solidFill>
              <a:srgbClr val="D3D7DE"/>
            </a:solidFill>
            <a:prstDash val="solid"/>
          </a:ln>
        </p:spPr>
      </p:sp>
      <p:sp>
        <p:nvSpPr>
          <p:cNvPr id="7" name="Text 5"/>
          <p:cNvSpPr txBox="1"/>
          <p:nvPr/>
        </p:nvSpPr>
        <p:spPr>
          <a:xfrm>
            <a:off x="5212080" y="1828800"/>
            <a:ext cx="6202375" cy="1188720"/>
          </a:xfrm>
          <a:prstGeom prst="rect">
            <a:avLst/>
          </a:prstGeom>
          <a:noFill/>
          <a:ln/>
        </p:spPr>
        <p:txBody>
          <a:bodyPr wrap="square" lIns="0" tIns="0" rIns="0" bIns="0" rtlCol="0" anchor="t"/>
          <a:lstStyle/>
          <a:p>
            <a:pPr indent="0" marL="0">
              <a:lnSpc>
                <a:spcPct val="140000"/>
              </a:lnSpc>
              <a:buNone/>
            </a:pPr>
            <a:r>
              <a:rPr lang="en-US" sz="1500" dirty="0">
                <a:solidFill>
                  <a:srgbClr val="22252E"/>
                </a:solidFill>
                <a:latin typeface="BIZ UDPGothic" pitchFamily="34" charset="0"/>
                <a:ea typeface="BIZ UDPGothic" pitchFamily="34" charset="-122"/>
                <a:cs typeface="BIZ UDPGothic" pitchFamily="34" charset="-120"/>
              </a:rPr>
              <a:t>AIの頭脳は今後も進化し続けます。しかし自分自身の一次情報を入れない限り、それは「自分専用のAI」にはなりません。どれだけAIが発展しても、この差は埋まりません。</a:t>
            </a:r>
            <a:endParaRPr lang="en-US" sz="1500" dirty="0"/>
          </a:p>
        </p:txBody>
      </p:sp>
      <p:sp>
        <p:nvSpPr>
          <p:cNvPr id="8" name="Shape 6"/>
          <p:cNvSpPr/>
          <p:nvPr/>
        </p:nvSpPr>
        <p:spPr>
          <a:xfrm>
            <a:off x="5212080" y="3246120"/>
            <a:ext cx="2918308" cy="2377440"/>
          </a:xfrm>
          <a:prstGeom prst="rect">
            <a:avLst/>
          </a:prstGeom>
          <a:solidFill>
            <a:srgbClr val="F2F4F6"/>
          </a:solidFill>
          <a:ln/>
        </p:spPr>
      </p:sp>
      <p:sp>
        <p:nvSpPr>
          <p:cNvPr id="9" name="Text 7"/>
          <p:cNvSpPr txBox="1"/>
          <p:nvPr/>
        </p:nvSpPr>
        <p:spPr>
          <a:xfrm>
            <a:off x="5486400" y="3520440"/>
            <a:ext cx="2369668" cy="274320"/>
          </a:xfrm>
          <a:prstGeom prst="rect">
            <a:avLst/>
          </a:prstGeom>
          <a:noFill/>
          <a:ln/>
        </p:spPr>
        <p:txBody>
          <a:bodyPr wrap="square" lIns="0" tIns="0" rIns="0" bIns="0" rtlCol="0" anchor="t"/>
          <a:lstStyle/>
          <a:p>
            <a:pPr indent="0" marL="0">
              <a:buNone/>
            </a:pPr>
            <a:r>
              <a:rPr lang="en-US" sz="1200" b="1" dirty="0">
                <a:solidFill>
                  <a:srgbClr val="6B7180"/>
                </a:solidFill>
                <a:latin typeface="BIZ UDPGothic" pitchFamily="34" charset="0"/>
                <a:ea typeface="BIZ UDPGothic" pitchFamily="34" charset="-122"/>
                <a:cs typeface="BIZ UDPGothic" pitchFamily="34" charset="-120"/>
              </a:rPr>
              <a:t>一般論の提案</a:t>
            </a:r>
            <a:endParaRPr lang="en-US" sz="1200" dirty="0"/>
          </a:p>
        </p:txBody>
      </p:sp>
      <p:sp>
        <p:nvSpPr>
          <p:cNvPr id="10" name="Text 8"/>
          <p:cNvSpPr txBox="1"/>
          <p:nvPr/>
        </p:nvSpPr>
        <p:spPr>
          <a:xfrm>
            <a:off x="5486400" y="3886200"/>
            <a:ext cx="2369668" cy="502920"/>
          </a:xfrm>
          <a:prstGeom prst="rect">
            <a:avLst/>
          </a:prstGeom>
          <a:noFill/>
          <a:ln/>
        </p:spPr>
        <p:txBody>
          <a:bodyPr wrap="square" lIns="0" tIns="0" rIns="0" bIns="0" rtlCol="0" anchor="t"/>
          <a:lstStyle/>
          <a:p>
            <a:pPr indent="0" marL="0">
              <a:buNone/>
            </a:pPr>
            <a:r>
              <a:rPr lang="en-US" sz="2400" b="1" dirty="0">
                <a:solidFill>
                  <a:srgbClr val="22252E"/>
                </a:solidFill>
                <a:latin typeface="BIZ UDPGothic" pitchFamily="34" charset="0"/>
                <a:ea typeface="BIZ UDPGothic" pitchFamily="34" charset="-122"/>
                <a:cs typeface="BIZ UDPGothic" pitchFamily="34" charset="-120"/>
              </a:rPr>
              <a:t>頭のいい他人</a:t>
            </a:r>
            <a:endParaRPr lang="en-US" sz="2400" dirty="0"/>
          </a:p>
        </p:txBody>
      </p:sp>
      <p:sp>
        <p:nvSpPr>
          <p:cNvPr id="11" name="Text 9"/>
          <p:cNvSpPr txBox="1"/>
          <p:nvPr/>
        </p:nvSpPr>
        <p:spPr>
          <a:xfrm>
            <a:off x="5486400" y="4572000"/>
            <a:ext cx="2369668" cy="914400"/>
          </a:xfrm>
          <a:prstGeom prst="rect">
            <a:avLst/>
          </a:prstGeom>
          <a:noFill/>
          <a:ln/>
        </p:spPr>
        <p:txBody>
          <a:bodyPr wrap="square" lIns="0" tIns="0" rIns="0" bIns="0" rtlCol="0" anchor="t"/>
          <a:lstStyle/>
          <a:p>
            <a:pPr indent="0" marL="0">
              <a:lnSpc>
                <a:spcPct val="135000"/>
              </a:lnSpc>
              <a:buNone/>
            </a:pPr>
            <a:r>
              <a:rPr lang="en-US" sz="1300" dirty="0">
                <a:solidFill>
                  <a:srgbClr val="6B7180"/>
                </a:solidFill>
                <a:latin typeface="BIZ UDPGothic" pitchFamily="34" charset="0"/>
                <a:ea typeface="BIZ UDPGothic" pitchFamily="34" charset="-122"/>
                <a:cs typeface="BIZ UDPGothic" pitchFamily="34" charset="-120"/>
              </a:rPr>
              <a:t>どんな大学にも入れる頭脳。</a:t>
            </a:r>
            <a:endParaRPr lang="en-US" sz="1300" dirty="0"/>
          </a:p>
          <a:p>
            <a:pPr indent="0" marL="0">
              <a:lnSpc>
                <a:spcPct val="135000"/>
              </a:lnSpc>
              <a:buNone/>
            </a:pPr>
            <a:r>
              <a:rPr lang="en-US" sz="1300" dirty="0">
                <a:solidFill>
                  <a:srgbClr val="6B7180"/>
                </a:solidFill>
                <a:latin typeface="BIZ UDPGothic" pitchFamily="34" charset="0"/>
                <a:ea typeface="BIZ UDPGothic" pitchFamily="34" charset="-122"/>
                <a:cs typeface="BIZ UDPGothic" pitchFamily="34" charset="-120"/>
              </a:rPr>
              <a:t>でも、あなたのことは何も知らない。</a:t>
            </a:r>
            <a:endParaRPr lang="en-US" sz="1300" dirty="0"/>
          </a:p>
        </p:txBody>
      </p:sp>
      <p:sp>
        <p:nvSpPr>
          <p:cNvPr id="12" name="Shape 10"/>
          <p:cNvSpPr/>
          <p:nvPr/>
        </p:nvSpPr>
        <p:spPr>
          <a:xfrm>
            <a:off x="8496148" y="3246120"/>
            <a:ext cx="2918308" cy="2377440"/>
          </a:xfrm>
          <a:prstGeom prst="rect">
            <a:avLst/>
          </a:prstGeom>
          <a:solidFill>
            <a:srgbClr val="15181C"/>
          </a:solidFill>
          <a:ln/>
        </p:spPr>
      </p:sp>
      <p:sp>
        <p:nvSpPr>
          <p:cNvPr id="13" name="Text 11"/>
          <p:cNvSpPr txBox="1"/>
          <p:nvPr/>
        </p:nvSpPr>
        <p:spPr>
          <a:xfrm>
            <a:off x="8770468" y="3520440"/>
            <a:ext cx="2369668" cy="274320"/>
          </a:xfrm>
          <a:prstGeom prst="rect">
            <a:avLst/>
          </a:prstGeom>
          <a:noFill/>
          <a:ln/>
        </p:spPr>
        <p:txBody>
          <a:bodyPr wrap="square" lIns="0" tIns="0" rIns="0" bIns="0" rtlCol="0" anchor="t"/>
          <a:lstStyle/>
          <a:p>
            <a:pPr indent="0" marL="0">
              <a:buNone/>
            </a:pPr>
            <a:r>
              <a:rPr lang="en-US" sz="1200" b="1" dirty="0">
                <a:solidFill>
                  <a:srgbClr val="7FD1CC"/>
                </a:solidFill>
                <a:latin typeface="BIZ UDPGothic" pitchFamily="34" charset="0"/>
                <a:ea typeface="BIZ UDPGothic" pitchFamily="34" charset="-122"/>
                <a:cs typeface="BIZ UDPGothic" pitchFamily="34" charset="-120"/>
              </a:rPr>
              <a:t>提案の質が高い</a:t>
            </a:r>
            <a:endParaRPr lang="en-US" sz="1200" dirty="0"/>
          </a:p>
        </p:txBody>
      </p:sp>
      <p:sp>
        <p:nvSpPr>
          <p:cNvPr id="14" name="Text 12"/>
          <p:cNvSpPr txBox="1"/>
          <p:nvPr/>
        </p:nvSpPr>
        <p:spPr>
          <a:xfrm>
            <a:off x="8770468" y="3886200"/>
            <a:ext cx="2369668" cy="502920"/>
          </a:xfrm>
          <a:prstGeom prst="rect">
            <a:avLst/>
          </a:prstGeom>
          <a:noFill/>
          <a:ln/>
        </p:spPr>
        <p:txBody>
          <a:bodyPr wrap="square" lIns="0" tIns="0" rIns="0" bIns="0" rtlCol="0" anchor="t"/>
          <a:lstStyle/>
          <a:p>
            <a:pPr indent="0" marL="0">
              <a:buNone/>
            </a:pPr>
            <a:r>
              <a:rPr lang="en-US" sz="2400" b="1" dirty="0">
                <a:solidFill>
                  <a:srgbClr val="FFFFFF"/>
                </a:solidFill>
                <a:latin typeface="BIZ UDPGothic" pitchFamily="34" charset="0"/>
                <a:ea typeface="BIZ UDPGothic" pitchFamily="34" charset="-122"/>
                <a:cs typeface="BIZ UDPGothic" pitchFamily="34" charset="-120"/>
              </a:rPr>
              <a:t>賢くなった親友</a:t>
            </a:r>
            <a:endParaRPr lang="en-US" sz="2400" dirty="0"/>
          </a:p>
        </p:txBody>
      </p:sp>
      <p:sp>
        <p:nvSpPr>
          <p:cNvPr id="15" name="Text 13"/>
          <p:cNvSpPr txBox="1"/>
          <p:nvPr/>
        </p:nvSpPr>
        <p:spPr>
          <a:xfrm>
            <a:off x="8770468" y="4572000"/>
            <a:ext cx="2369668" cy="914400"/>
          </a:xfrm>
          <a:prstGeom prst="rect">
            <a:avLst/>
          </a:prstGeom>
          <a:noFill/>
          <a:ln/>
        </p:spPr>
        <p:txBody>
          <a:bodyPr wrap="square" lIns="0" tIns="0" rIns="0" bIns="0" rtlCol="0" anchor="t"/>
          <a:lstStyle/>
          <a:p>
            <a:pPr indent="0" marL="0">
              <a:lnSpc>
                <a:spcPct val="135000"/>
              </a:lnSpc>
              <a:buNone/>
            </a:pPr>
            <a:r>
              <a:rPr lang="en-US" sz="1300" dirty="0">
                <a:solidFill>
                  <a:srgbClr val="C3C8D0"/>
                </a:solidFill>
                <a:latin typeface="BIZ UDPGothic" pitchFamily="34" charset="0"/>
                <a:ea typeface="BIZ UDPGothic" pitchFamily="34" charset="-122"/>
                <a:cs typeface="BIZ UDPGothic" pitchFamily="34" charset="-120"/>
              </a:rPr>
              <a:t>親兄弟・親友のように、あなたを</a:t>
            </a:r>
            <a:endParaRPr lang="en-US" sz="1300" dirty="0"/>
          </a:p>
          <a:p>
            <a:pPr indent="0" marL="0">
              <a:lnSpc>
                <a:spcPct val="135000"/>
              </a:lnSpc>
              <a:buNone/>
            </a:pPr>
            <a:r>
              <a:rPr lang="en-US" sz="1300" dirty="0">
                <a:solidFill>
                  <a:srgbClr val="C3C8D0"/>
                </a:solidFill>
                <a:latin typeface="BIZ UDPGothic" pitchFamily="34" charset="0"/>
                <a:ea typeface="BIZ UDPGothic" pitchFamily="34" charset="-122"/>
                <a:cs typeface="BIZ UDPGothic" pitchFamily="34" charset="-120"/>
              </a:rPr>
              <a:t>ずっと知っている人が賢くなった状態。</a:t>
            </a:r>
            <a:endParaRPr lang="en-US" sz="13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22252E"/>
                </a:solidFill>
                <a:latin typeface="Cambria"/>
                <a:ea typeface="Cambria"/>
                <a:cs typeface="Cambria"/>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0E8C88"/>
                </a:solidFill>
                <a:latin typeface="Cambria" pitchFamily="34" charset="0"/>
                <a:ea typeface="Cambria" pitchFamily="34" charset="-122"/>
                <a:cs typeface="Cambria" pitchFamily="34" charset="-120"/>
              </a:rPr>
              <a:t>BUILD YOUR CONTEXT  —  AN EXAMPLE</a:t>
            </a:r>
            <a:endParaRPr lang="en-US" sz="1300" dirty="0"/>
          </a:p>
        </p:txBody>
      </p:sp>
      <p:sp>
        <p:nvSpPr>
          <p:cNvPr id="3" name="Text 1"/>
          <p:cNvSpPr txBox="1"/>
          <p:nvPr/>
        </p:nvSpPr>
        <p:spPr>
          <a:xfrm>
            <a:off x="777240" y="896112"/>
            <a:ext cx="10637215" cy="685800"/>
          </a:xfrm>
          <a:prstGeom prst="rect">
            <a:avLst/>
          </a:prstGeom>
          <a:noFill/>
          <a:ln/>
        </p:spPr>
        <p:txBody>
          <a:bodyPr wrap="square" lIns="0" tIns="0" rIns="0" bIns="0" rtlCol="0" anchor="t"/>
          <a:lstStyle/>
          <a:p>
            <a:pPr indent="0" marL="0">
              <a:buNone/>
            </a:pPr>
            <a:r>
              <a:rPr lang="en-US" sz="3200" b="1" dirty="0">
                <a:solidFill>
                  <a:srgbClr val="22252E"/>
                </a:solidFill>
                <a:latin typeface="BIZ UDPGothic" pitchFamily="34" charset="0"/>
                <a:ea typeface="BIZ UDPGothic" pitchFamily="34" charset="-122"/>
                <a:cs typeface="BIZ UDPGothic" pitchFamily="34" charset="-120"/>
              </a:rPr>
              <a:t>記録があれば、AIはここまで提案できる</a:t>
            </a:r>
            <a:endParaRPr lang="en-US" sz="3200" dirty="0"/>
          </a:p>
        </p:txBody>
      </p:sp>
      <p:sp>
        <p:nvSpPr>
          <p:cNvPr id="4" name="Text 2"/>
          <p:cNvSpPr txBox="1"/>
          <p:nvPr/>
        </p:nvSpPr>
        <p:spPr>
          <a:xfrm>
            <a:off x="777240" y="1920240"/>
            <a:ext cx="4663440" cy="274320"/>
          </a:xfrm>
          <a:prstGeom prst="rect">
            <a:avLst/>
          </a:prstGeom>
          <a:noFill/>
          <a:ln/>
        </p:spPr>
        <p:txBody>
          <a:bodyPr wrap="square" lIns="0" tIns="0" rIns="0" bIns="0" rtlCol="0" anchor="t"/>
          <a:lstStyle/>
          <a:p>
            <a:pPr indent="0" marL="0">
              <a:buNone/>
            </a:pPr>
            <a:r>
              <a:rPr lang="en-US" sz="1200" b="1" dirty="0">
                <a:solidFill>
                  <a:srgbClr val="6B7180"/>
                </a:solidFill>
                <a:latin typeface="BIZ UDPGothic" pitchFamily="34" charset="0"/>
                <a:ea typeface="BIZ UDPGothic" pitchFamily="34" charset="-122"/>
                <a:cs typeface="BIZ UDPGothic" pitchFamily="34" charset="-120"/>
              </a:rPr>
              <a:t>記録されていた一次情報</a:t>
            </a:r>
            <a:endParaRPr lang="en-US" sz="1200" dirty="0"/>
          </a:p>
        </p:txBody>
      </p:sp>
      <p:sp>
        <p:nvSpPr>
          <p:cNvPr id="5" name="Shape 3"/>
          <p:cNvSpPr/>
          <p:nvPr/>
        </p:nvSpPr>
        <p:spPr>
          <a:xfrm>
            <a:off x="777240" y="2331720"/>
            <a:ext cx="4663440" cy="0"/>
          </a:xfrm>
          <a:prstGeom prst="line">
            <a:avLst/>
          </a:prstGeom>
          <a:noFill/>
          <a:ln w="12700">
            <a:solidFill>
              <a:srgbClr val="22252E"/>
            </a:solidFill>
            <a:prstDash val="solid"/>
          </a:ln>
        </p:spPr>
      </p:sp>
      <p:sp>
        <p:nvSpPr>
          <p:cNvPr id="6" name="Text 4"/>
          <p:cNvSpPr txBox="1"/>
          <p:nvPr/>
        </p:nvSpPr>
        <p:spPr>
          <a:xfrm>
            <a:off x="777240" y="2468880"/>
            <a:ext cx="1188720" cy="320040"/>
          </a:xfrm>
          <a:prstGeom prst="rect">
            <a:avLst/>
          </a:prstGeom>
          <a:noFill/>
          <a:ln/>
        </p:spPr>
        <p:txBody>
          <a:bodyPr wrap="square" lIns="0" tIns="0" rIns="0" bIns="0" rtlCol="0" anchor="t"/>
          <a:lstStyle/>
          <a:p>
            <a:pPr indent="0" marL="0">
              <a:buNone/>
            </a:pPr>
            <a:r>
              <a:rPr lang="en-US" sz="1300" b="1" dirty="0">
                <a:solidFill>
                  <a:srgbClr val="0E8C88"/>
                </a:solidFill>
                <a:latin typeface="BIZ UDPGothic" pitchFamily="34" charset="0"/>
                <a:ea typeface="BIZ UDPGothic" pitchFamily="34" charset="-122"/>
                <a:cs typeface="BIZ UDPGothic" pitchFamily="34" charset="-120"/>
              </a:rPr>
              <a:t>○月○日</a:t>
            </a:r>
            <a:endParaRPr lang="en-US" sz="1300" dirty="0"/>
          </a:p>
        </p:txBody>
      </p:sp>
      <p:sp>
        <p:nvSpPr>
          <p:cNvPr id="7" name="Text 5"/>
          <p:cNvSpPr txBox="1"/>
          <p:nvPr/>
        </p:nvSpPr>
        <p:spPr>
          <a:xfrm>
            <a:off x="2057400" y="2468880"/>
            <a:ext cx="3383280" cy="640080"/>
          </a:xfrm>
          <a:prstGeom prst="rect">
            <a:avLst/>
          </a:prstGeom>
          <a:noFill/>
          <a:ln/>
        </p:spPr>
        <p:txBody>
          <a:bodyPr wrap="square" lIns="0" tIns="0" rIns="0" bIns="0" rtlCol="0" anchor="t"/>
          <a:lstStyle/>
          <a:p>
            <a:pPr indent="0" marL="0">
              <a:lnSpc>
                <a:spcPct val="130000"/>
              </a:lnSpc>
              <a:buNone/>
            </a:pPr>
            <a:r>
              <a:rPr lang="en-US" sz="1500" dirty="0">
                <a:solidFill>
                  <a:srgbClr val="22252E"/>
                </a:solidFill>
                <a:latin typeface="BIZ UDPGothic" pitchFamily="34" charset="0"/>
                <a:ea typeface="BIZ UDPGothic" pitchFamily="34" charset="-122"/>
                <a:cs typeface="BIZ UDPGothic" pitchFamily="34" charset="-120"/>
              </a:rPr>
              <a:t>○○のゴルフショップで、30秒ほど商品を眺めていた</a:t>
            </a:r>
            <a:endParaRPr lang="en-US" sz="1500" dirty="0"/>
          </a:p>
        </p:txBody>
      </p:sp>
      <p:sp>
        <p:nvSpPr>
          <p:cNvPr id="8" name="Shape 6"/>
          <p:cNvSpPr/>
          <p:nvPr/>
        </p:nvSpPr>
        <p:spPr>
          <a:xfrm>
            <a:off x="777240" y="3218688"/>
            <a:ext cx="4663440" cy="0"/>
          </a:xfrm>
          <a:prstGeom prst="line">
            <a:avLst/>
          </a:prstGeom>
          <a:noFill/>
          <a:ln w="9525">
            <a:solidFill>
              <a:srgbClr val="D3D7DE"/>
            </a:solidFill>
            <a:prstDash val="solid"/>
          </a:ln>
        </p:spPr>
      </p:sp>
      <p:sp>
        <p:nvSpPr>
          <p:cNvPr id="9" name="Text 7"/>
          <p:cNvSpPr txBox="1"/>
          <p:nvPr/>
        </p:nvSpPr>
        <p:spPr>
          <a:xfrm>
            <a:off x="777240" y="3337560"/>
            <a:ext cx="1188720" cy="320040"/>
          </a:xfrm>
          <a:prstGeom prst="rect">
            <a:avLst/>
          </a:prstGeom>
          <a:noFill/>
          <a:ln/>
        </p:spPr>
        <p:txBody>
          <a:bodyPr wrap="square" lIns="0" tIns="0" rIns="0" bIns="0" rtlCol="0" anchor="t"/>
          <a:lstStyle/>
          <a:p>
            <a:pPr indent="0" marL="0">
              <a:buNone/>
            </a:pPr>
            <a:r>
              <a:rPr lang="en-US" sz="1300" b="1" dirty="0">
                <a:solidFill>
                  <a:srgbClr val="0E8C88"/>
                </a:solidFill>
                <a:latin typeface="BIZ UDPGothic" pitchFamily="34" charset="0"/>
                <a:ea typeface="BIZ UDPGothic" pitchFamily="34" charset="-122"/>
                <a:cs typeface="BIZ UDPGothic" pitchFamily="34" charset="-120"/>
              </a:rPr>
              <a:t>音声メモ</a:t>
            </a:r>
            <a:endParaRPr lang="en-US" sz="1300" dirty="0"/>
          </a:p>
        </p:txBody>
      </p:sp>
      <p:sp>
        <p:nvSpPr>
          <p:cNvPr id="10" name="Text 8"/>
          <p:cNvSpPr txBox="1"/>
          <p:nvPr/>
        </p:nvSpPr>
        <p:spPr>
          <a:xfrm>
            <a:off x="2057400" y="3337560"/>
            <a:ext cx="3383280" cy="640080"/>
          </a:xfrm>
          <a:prstGeom prst="rect">
            <a:avLst/>
          </a:prstGeom>
          <a:noFill/>
          <a:ln/>
        </p:spPr>
        <p:txBody>
          <a:bodyPr wrap="square" lIns="0" tIns="0" rIns="0" bIns="0" rtlCol="0" anchor="t"/>
          <a:lstStyle/>
          <a:p>
            <a:pPr indent="0" marL="0">
              <a:lnSpc>
                <a:spcPct val="130000"/>
              </a:lnSpc>
              <a:buNone/>
            </a:pPr>
            <a:r>
              <a:rPr lang="en-US" sz="1500" dirty="0">
                <a:solidFill>
                  <a:srgbClr val="22252E"/>
                </a:solidFill>
                <a:latin typeface="BIZ UDPGothic" pitchFamily="34" charset="0"/>
                <a:ea typeface="BIZ UDPGothic" pitchFamily="34" charset="-122"/>
                <a:cs typeface="BIZ UDPGothic" pitchFamily="34" charset="-120"/>
              </a:rPr>
              <a:t>「最近ゴルフに興味が出てきた」</a:t>
            </a:r>
            <a:endParaRPr lang="en-US" sz="1500" dirty="0"/>
          </a:p>
        </p:txBody>
      </p:sp>
      <p:sp>
        <p:nvSpPr>
          <p:cNvPr id="11" name="Shape 9"/>
          <p:cNvSpPr/>
          <p:nvPr/>
        </p:nvSpPr>
        <p:spPr>
          <a:xfrm>
            <a:off x="777240" y="4087368"/>
            <a:ext cx="4663440" cy="0"/>
          </a:xfrm>
          <a:prstGeom prst="line">
            <a:avLst/>
          </a:prstGeom>
          <a:noFill/>
          <a:ln w="9525">
            <a:solidFill>
              <a:srgbClr val="D3D7DE"/>
            </a:solidFill>
            <a:prstDash val="solid"/>
          </a:ln>
        </p:spPr>
      </p:sp>
      <p:sp>
        <p:nvSpPr>
          <p:cNvPr id="12" name="Text 10"/>
          <p:cNvSpPr txBox="1"/>
          <p:nvPr/>
        </p:nvSpPr>
        <p:spPr>
          <a:xfrm>
            <a:off x="777240" y="4206240"/>
            <a:ext cx="1188720" cy="320040"/>
          </a:xfrm>
          <a:prstGeom prst="rect">
            <a:avLst/>
          </a:prstGeom>
          <a:noFill/>
          <a:ln/>
        </p:spPr>
        <p:txBody>
          <a:bodyPr wrap="square" lIns="0" tIns="0" rIns="0" bIns="0" rtlCol="0" anchor="t"/>
          <a:lstStyle/>
          <a:p>
            <a:pPr indent="0" marL="0">
              <a:buNone/>
            </a:pPr>
            <a:r>
              <a:rPr lang="en-US" sz="1300" b="1" dirty="0">
                <a:solidFill>
                  <a:srgbClr val="0E8C88"/>
                </a:solidFill>
                <a:latin typeface="BIZ UDPGothic" pitchFamily="34" charset="0"/>
                <a:ea typeface="BIZ UDPGothic" pitchFamily="34" charset="-122"/>
                <a:cs typeface="BIZ UDPGothic" pitchFamily="34" charset="-120"/>
              </a:rPr>
              <a:t>商談記録</a:t>
            </a:r>
            <a:endParaRPr lang="en-US" sz="1300" dirty="0"/>
          </a:p>
        </p:txBody>
      </p:sp>
      <p:sp>
        <p:nvSpPr>
          <p:cNvPr id="13" name="Text 11"/>
          <p:cNvSpPr txBox="1"/>
          <p:nvPr/>
        </p:nvSpPr>
        <p:spPr>
          <a:xfrm>
            <a:off x="2057400" y="4206240"/>
            <a:ext cx="3383280" cy="640080"/>
          </a:xfrm>
          <a:prstGeom prst="rect">
            <a:avLst/>
          </a:prstGeom>
          <a:noFill/>
          <a:ln/>
        </p:spPr>
        <p:txBody>
          <a:bodyPr wrap="square" lIns="0" tIns="0" rIns="0" bIns="0" rtlCol="0" anchor="t"/>
          <a:lstStyle/>
          <a:p>
            <a:pPr indent="0" marL="0">
              <a:lnSpc>
                <a:spcPct val="130000"/>
              </a:lnSpc>
              <a:buNone/>
            </a:pPr>
            <a:r>
              <a:rPr lang="en-US" sz="1500" dirty="0">
                <a:solidFill>
                  <a:srgbClr val="22252E"/>
                </a:solidFill>
                <a:latin typeface="BIZ UDPGothic" pitchFamily="34" charset="0"/>
                <a:ea typeface="BIZ UDPGothic" pitchFamily="34" charset="-122"/>
                <a:cs typeface="BIZ UDPGothic" pitchFamily="34" charset="-120"/>
              </a:rPr>
              <a:t>△△社の役員はプロゴルファーとつながりがある</a:t>
            </a:r>
            <a:endParaRPr lang="en-US" sz="1500" dirty="0"/>
          </a:p>
        </p:txBody>
      </p:sp>
      <p:sp>
        <p:nvSpPr>
          <p:cNvPr id="14" name="Shape 12"/>
          <p:cNvSpPr/>
          <p:nvPr/>
        </p:nvSpPr>
        <p:spPr>
          <a:xfrm>
            <a:off x="777240" y="4956048"/>
            <a:ext cx="4663440" cy="0"/>
          </a:xfrm>
          <a:prstGeom prst="line">
            <a:avLst/>
          </a:prstGeom>
          <a:noFill/>
          <a:ln w="9525">
            <a:solidFill>
              <a:srgbClr val="D3D7DE"/>
            </a:solidFill>
            <a:prstDash val="solid"/>
          </a:ln>
        </p:spPr>
      </p:sp>
      <p:sp>
        <p:nvSpPr>
          <p:cNvPr id="15" name="Shape 13"/>
          <p:cNvSpPr/>
          <p:nvPr/>
        </p:nvSpPr>
        <p:spPr>
          <a:xfrm>
            <a:off x="5760720" y="3246120"/>
            <a:ext cx="640080" cy="0"/>
          </a:xfrm>
          <a:prstGeom prst="line">
            <a:avLst/>
          </a:prstGeom>
          <a:noFill/>
          <a:ln w="19050">
            <a:solidFill>
              <a:srgbClr val="6B7180"/>
            </a:solidFill>
            <a:prstDash val="solid"/>
            <a:tailEnd type="triangle"/>
          </a:ln>
        </p:spPr>
      </p:sp>
      <p:sp>
        <p:nvSpPr>
          <p:cNvPr id="16" name="Shape 14"/>
          <p:cNvSpPr/>
          <p:nvPr/>
        </p:nvSpPr>
        <p:spPr>
          <a:xfrm>
            <a:off x="6720840" y="1920240"/>
            <a:ext cx="4693615" cy="3063240"/>
          </a:xfrm>
          <a:prstGeom prst="rect">
            <a:avLst/>
          </a:prstGeom>
          <a:solidFill>
            <a:srgbClr val="15181C"/>
          </a:solidFill>
          <a:ln/>
        </p:spPr>
      </p:sp>
      <p:sp>
        <p:nvSpPr>
          <p:cNvPr id="17" name="Text 15"/>
          <p:cNvSpPr txBox="1"/>
          <p:nvPr/>
        </p:nvSpPr>
        <p:spPr>
          <a:xfrm>
            <a:off x="7040880" y="2194560"/>
            <a:ext cx="4053535" cy="274320"/>
          </a:xfrm>
          <a:prstGeom prst="rect">
            <a:avLst/>
          </a:prstGeom>
          <a:noFill/>
          <a:ln/>
        </p:spPr>
        <p:txBody>
          <a:bodyPr wrap="square" lIns="0" tIns="0" rIns="0" bIns="0" rtlCol="0" anchor="t"/>
          <a:lstStyle/>
          <a:p>
            <a:pPr indent="0" marL="0">
              <a:buNone/>
            </a:pPr>
            <a:r>
              <a:rPr lang="en-US" sz="1200" b="1" dirty="0">
                <a:solidFill>
                  <a:srgbClr val="7FD1CC"/>
                </a:solidFill>
                <a:latin typeface="BIZ UDPGothic" pitchFamily="34" charset="0"/>
                <a:ea typeface="BIZ UDPGothic" pitchFamily="34" charset="-122"/>
                <a:cs typeface="BIZ UDPGothic" pitchFamily="34" charset="-120"/>
              </a:rPr>
              <a:t>AIからの提案</a:t>
            </a:r>
            <a:endParaRPr lang="en-US" sz="1200" dirty="0"/>
          </a:p>
        </p:txBody>
      </p:sp>
      <p:sp>
        <p:nvSpPr>
          <p:cNvPr id="18" name="Text 16"/>
          <p:cNvSpPr txBox="1"/>
          <p:nvPr/>
        </p:nvSpPr>
        <p:spPr>
          <a:xfrm>
            <a:off x="7040880" y="2606040"/>
            <a:ext cx="4053535" cy="2103120"/>
          </a:xfrm>
          <a:prstGeom prst="rect">
            <a:avLst/>
          </a:prstGeom>
          <a:noFill/>
          <a:ln/>
        </p:spPr>
        <p:txBody>
          <a:bodyPr wrap="square" lIns="0" tIns="0" rIns="0" bIns="0" rtlCol="0" anchor="t"/>
          <a:lstStyle/>
          <a:p>
            <a:pPr indent="0" marL="0">
              <a:lnSpc>
                <a:spcPct val="145000"/>
              </a:lnSpc>
              <a:buNone/>
            </a:pPr>
            <a:r>
              <a:rPr lang="en-US" sz="1900" b="1" dirty="0">
                <a:solidFill>
                  <a:srgbClr val="FFFFFF"/>
                </a:solidFill>
                <a:latin typeface="BIZ UDPGothic" pitchFamily="34" charset="0"/>
                <a:ea typeface="BIZ UDPGothic" pitchFamily="34" charset="-122"/>
                <a:cs typeface="BIZ UDPGothic" pitchFamily="34" charset="-120"/>
              </a:rPr>
              <a:t>「ゴルフに興味があるようなので、講師を探しませんか。△△社の役員がプロとつながっているので、そちらに依頼するのがよさそうです」</a:t>
            </a:r>
            <a:endParaRPr lang="en-US" sz="1900" dirty="0"/>
          </a:p>
        </p:txBody>
      </p:sp>
      <p:sp>
        <p:nvSpPr>
          <p:cNvPr id="19" name="Text 17"/>
          <p:cNvSpPr txBox="1"/>
          <p:nvPr/>
        </p:nvSpPr>
        <p:spPr>
          <a:xfrm>
            <a:off x="777240" y="5257800"/>
            <a:ext cx="10637215" cy="640080"/>
          </a:xfrm>
          <a:prstGeom prst="rect">
            <a:avLst/>
          </a:prstGeom>
          <a:noFill/>
          <a:ln/>
        </p:spPr>
        <p:txBody>
          <a:bodyPr wrap="square" lIns="0" tIns="0" rIns="0" bIns="0" rtlCol="0" anchor="t"/>
          <a:lstStyle/>
          <a:p>
            <a:pPr indent="0" marL="0">
              <a:lnSpc>
                <a:spcPct val="135000"/>
              </a:lnSpc>
              <a:buNone/>
            </a:pPr>
            <a:r>
              <a:rPr lang="en-US" sz="1500" dirty="0">
                <a:solidFill>
                  <a:srgbClr val="22252E"/>
                </a:solidFill>
                <a:latin typeface="BIZ UDPGothic" pitchFamily="34" charset="0"/>
                <a:ea typeface="BIZ UDPGothic" pitchFamily="34" charset="-122"/>
                <a:cs typeface="BIZ UDPGothic" pitchFamily="34" charset="-120"/>
              </a:rPr>
              <a:t>こうした提案は、裏付けとなるデータが残っていて初めて成立します。記録がなければ、AIは一般論しか返せません。</a:t>
            </a:r>
            <a:endParaRPr lang="en-US" sz="15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22252E"/>
                </a:solidFill>
                <a:latin typeface="Cambria"/>
                <a:ea typeface="Cambria"/>
                <a:cs typeface="Cambria"/>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0E8C88"/>
                </a:solidFill>
                <a:latin typeface="Cambria" pitchFamily="34" charset="0"/>
                <a:ea typeface="Cambria" pitchFamily="34" charset="-122"/>
                <a:cs typeface="Cambria" pitchFamily="34" charset="-120"/>
              </a:rPr>
              <a:t>BUILD YOUR CONTEXT  —  HOW</a:t>
            </a:r>
            <a:endParaRPr lang="en-US" sz="1300" dirty="0"/>
          </a:p>
        </p:txBody>
      </p:sp>
      <p:sp>
        <p:nvSpPr>
          <p:cNvPr id="3" name="Text 1"/>
          <p:cNvSpPr txBox="1"/>
          <p:nvPr/>
        </p:nvSpPr>
        <p:spPr>
          <a:xfrm>
            <a:off x="777240" y="896112"/>
            <a:ext cx="10637215" cy="685800"/>
          </a:xfrm>
          <a:prstGeom prst="rect">
            <a:avLst/>
          </a:prstGeom>
          <a:noFill/>
          <a:ln/>
        </p:spPr>
        <p:txBody>
          <a:bodyPr wrap="square" lIns="0" tIns="0" rIns="0" bIns="0" rtlCol="0" anchor="t"/>
          <a:lstStyle/>
          <a:p>
            <a:pPr indent="0" marL="0">
              <a:buNone/>
            </a:pPr>
            <a:r>
              <a:rPr lang="en-US" sz="3200" b="1" dirty="0">
                <a:solidFill>
                  <a:srgbClr val="22252E"/>
                </a:solidFill>
                <a:latin typeface="BIZ UDPGothic" pitchFamily="34" charset="0"/>
                <a:ea typeface="BIZ UDPGothic" pitchFamily="34" charset="-122"/>
                <a:cs typeface="BIZ UDPGothic" pitchFamily="34" charset="-120"/>
              </a:rPr>
              <a:t>貯め方は、シンプルでいい</a:t>
            </a:r>
            <a:endParaRPr lang="en-US" sz="3200" dirty="0"/>
          </a:p>
        </p:txBody>
      </p:sp>
      <p:sp>
        <p:nvSpPr>
          <p:cNvPr id="4" name="Shape 2"/>
          <p:cNvSpPr/>
          <p:nvPr/>
        </p:nvSpPr>
        <p:spPr>
          <a:xfrm>
            <a:off x="777240" y="1874520"/>
            <a:ext cx="2387498" cy="0"/>
          </a:xfrm>
          <a:prstGeom prst="line">
            <a:avLst/>
          </a:prstGeom>
          <a:noFill/>
          <a:ln w="25400">
            <a:solidFill>
              <a:srgbClr val="0E8C88"/>
            </a:solidFill>
            <a:prstDash val="solid"/>
          </a:ln>
        </p:spPr>
      </p:sp>
      <p:sp>
        <p:nvSpPr>
          <p:cNvPr id="5" name="Text 3"/>
          <p:cNvSpPr txBox="1"/>
          <p:nvPr/>
        </p:nvSpPr>
        <p:spPr>
          <a:xfrm>
            <a:off x="777240" y="2039112"/>
            <a:ext cx="2387498" cy="274320"/>
          </a:xfrm>
          <a:prstGeom prst="rect">
            <a:avLst/>
          </a:prstGeom>
          <a:noFill/>
          <a:ln/>
        </p:spPr>
        <p:txBody>
          <a:bodyPr wrap="square" lIns="0" tIns="0" rIns="0" bIns="0" rtlCol="0" anchor="t"/>
          <a:lstStyle/>
          <a:p>
            <a:pPr indent="0" marL="0">
              <a:buNone/>
            </a:pPr>
            <a:r>
              <a:rPr lang="en-US" sz="1200" b="1" i="1" dirty="0">
                <a:solidFill>
                  <a:srgbClr val="0E8C88"/>
                </a:solidFill>
                <a:latin typeface="Cambria" pitchFamily="34" charset="0"/>
                <a:ea typeface="Cambria" pitchFamily="34" charset="-122"/>
                <a:cs typeface="Cambria" pitchFamily="34" charset="-120"/>
              </a:rPr>
              <a:t>STEP 1</a:t>
            </a:r>
            <a:endParaRPr lang="en-US" sz="1200" dirty="0"/>
          </a:p>
        </p:txBody>
      </p:sp>
      <p:sp>
        <p:nvSpPr>
          <p:cNvPr id="6" name="Text 4"/>
          <p:cNvSpPr txBox="1"/>
          <p:nvPr/>
        </p:nvSpPr>
        <p:spPr>
          <a:xfrm>
            <a:off x="777240" y="2331720"/>
            <a:ext cx="2387498" cy="45720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音声で残す</a:t>
            </a:r>
            <a:endParaRPr lang="en-US" sz="2200" dirty="0"/>
          </a:p>
        </p:txBody>
      </p:sp>
      <p:sp>
        <p:nvSpPr>
          <p:cNvPr id="7" name="Text 5"/>
          <p:cNvSpPr txBox="1"/>
          <p:nvPr/>
        </p:nvSpPr>
        <p:spPr>
          <a:xfrm>
            <a:off x="777240" y="2862072"/>
            <a:ext cx="2387498" cy="731520"/>
          </a:xfrm>
          <a:prstGeom prst="rect">
            <a:avLst/>
          </a:prstGeom>
          <a:noFill/>
          <a:ln/>
        </p:spPr>
        <p:txBody>
          <a:bodyPr wrap="square" lIns="0" tIns="0" rIns="0" bIns="0" rtlCol="0" anchor="t"/>
          <a:lstStyle/>
          <a:p>
            <a:pPr indent="0" marL="0">
              <a:lnSpc>
                <a:spcPct val="135000"/>
              </a:lnSpc>
              <a:buNone/>
            </a:pPr>
            <a:r>
              <a:rPr lang="en-US" sz="1300" dirty="0">
                <a:solidFill>
                  <a:srgbClr val="6B7180"/>
                </a:solidFill>
                <a:latin typeface="BIZ UDPGothic" pitchFamily="34" charset="0"/>
                <a:ea typeface="BIZ UDPGothic" pitchFamily="34" charset="-122"/>
                <a:cs typeface="BIZ UDPGothic" pitchFamily="34" charset="-120"/>
              </a:rPr>
              <a:t>動画が理想だが続かない。</a:t>
            </a:r>
            <a:endParaRPr lang="en-US" sz="1300" dirty="0"/>
          </a:p>
          <a:p>
            <a:pPr indent="0" marL="0">
              <a:lnSpc>
                <a:spcPct val="135000"/>
              </a:lnSpc>
              <a:buNone/>
            </a:pPr>
            <a:r>
              <a:rPr lang="en-US" sz="1300" dirty="0">
                <a:solidFill>
                  <a:srgbClr val="6B7180"/>
                </a:solidFill>
                <a:latin typeface="BIZ UDPGothic" pitchFamily="34" charset="0"/>
                <a:ea typeface="BIZ UDPGothic" pitchFamily="34" charset="-122"/>
                <a:cs typeface="BIZ UDPGothic" pitchFamily="34" charset="-120"/>
              </a:rPr>
              <a:t>データが小さい音声で十分</a:t>
            </a:r>
            <a:endParaRPr lang="en-US" sz="1300" dirty="0"/>
          </a:p>
        </p:txBody>
      </p:sp>
      <p:sp>
        <p:nvSpPr>
          <p:cNvPr id="8" name="Shape 6"/>
          <p:cNvSpPr/>
          <p:nvPr/>
        </p:nvSpPr>
        <p:spPr>
          <a:xfrm>
            <a:off x="3256178" y="2560320"/>
            <a:ext cx="274320" cy="0"/>
          </a:xfrm>
          <a:prstGeom prst="line">
            <a:avLst/>
          </a:prstGeom>
          <a:noFill/>
          <a:ln w="15875">
            <a:solidFill>
              <a:srgbClr val="6B7180"/>
            </a:solidFill>
            <a:prstDash val="solid"/>
            <a:tailEnd type="triangle"/>
          </a:ln>
        </p:spPr>
      </p:sp>
      <p:sp>
        <p:nvSpPr>
          <p:cNvPr id="9" name="Shape 7"/>
          <p:cNvSpPr/>
          <p:nvPr/>
        </p:nvSpPr>
        <p:spPr>
          <a:xfrm>
            <a:off x="3621938" y="1874520"/>
            <a:ext cx="2387498" cy="0"/>
          </a:xfrm>
          <a:prstGeom prst="line">
            <a:avLst/>
          </a:prstGeom>
          <a:noFill/>
          <a:ln w="25400">
            <a:solidFill>
              <a:srgbClr val="0E8C88"/>
            </a:solidFill>
            <a:prstDash val="solid"/>
          </a:ln>
        </p:spPr>
      </p:sp>
      <p:sp>
        <p:nvSpPr>
          <p:cNvPr id="10" name="Text 8"/>
          <p:cNvSpPr txBox="1"/>
          <p:nvPr/>
        </p:nvSpPr>
        <p:spPr>
          <a:xfrm>
            <a:off x="3621938" y="2039112"/>
            <a:ext cx="2387498" cy="274320"/>
          </a:xfrm>
          <a:prstGeom prst="rect">
            <a:avLst/>
          </a:prstGeom>
          <a:noFill/>
          <a:ln/>
        </p:spPr>
        <p:txBody>
          <a:bodyPr wrap="square" lIns="0" tIns="0" rIns="0" bIns="0" rtlCol="0" anchor="t"/>
          <a:lstStyle/>
          <a:p>
            <a:pPr indent="0" marL="0">
              <a:buNone/>
            </a:pPr>
            <a:r>
              <a:rPr lang="en-US" sz="1200" b="1" i="1" dirty="0">
                <a:solidFill>
                  <a:srgbClr val="0E8C88"/>
                </a:solidFill>
                <a:latin typeface="Cambria" pitchFamily="34" charset="0"/>
                <a:ea typeface="Cambria" pitchFamily="34" charset="-122"/>
                <a:cs typeface="Cambria" pitchFamily="34" charset="-120"/>
              </a:rPr>
              <a:t>STEP 2</a:t>
            </a:r>
            <a:endParaRPr lang="en-US" sz="1200" dirty="0"/>
          </a:p>
        </p:txBody>
      </p:sp>
      <p:sp>
        <p:nvSpPr>
          <p:cNvPr id="11" name="Text 9"/>
          <p:cNvSpPr txBox="1"/>
          <p:nvPr/>
        </p:nvSpPr>
        <p:spPr>
          <a:xfrm>
            <a:off x="3621938" y="2331720"/>
            <a:ext cx="2387498" cy="45720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文字起こしする</a:t>
            </a:r>
            <a:endParaRPr lang="en-US" sz="2200" dirty="0"/>
          </a:p>
        </p:txBody>
      </p:sp>
      <p:sp>
        <p:nvSpPr>
          <p:cNvPr id="12" name="Text 10"/>
          <p:cNvSpPr txBox="1"/>
          <p:nvPr/>
        </p:nvSpPr>
        <p:spPr>
          <a:xfrm>
            <a:off x="3621938" y="2862072"/>
            <a:ext cx="2387498" cy="731520"/>
          </a:xfrm>
          <a:prstGeom prst="rect">
            <a:avLst/>
          </a:prstGeom>
          <a:noFill/>
          <a:ln/>
        </p:spPr>
        <p:txBody>
          <a:bodyPr wrap="square" lIns="0" tIns="0" rIns="0" bIns="0" rtlCol="0" anchor="t"/>
          <a:lstStyle/>
          <a:p>
            <a:pPr indent="0" marL="0">
              <a:lnSpc>
                <a:spcPct val="135000"/>
              </a:lnSpc>
              <a:buNone/>
            </a:pPr>
            <a:r>
              <a:rPr lang="en-US" sz="1300" dirty="0">
                <a:solidFill>
                  <a:srgbClr val="6B7180"/>
                </a:solidFill>
                <a:latin typeface="BIZ UDPGothic" pitchFamily="34" charset="0"/>
                <a:ea typeface="BIZ UDPGothic" pitchFamily="34" charset="-122"/>
                <a:cs typeface="BIZ UDPGothic" pitchFamily="34" charset="-120"/>
              </a:rPr>
              <a:t>商談音声（許可がある場合）</a:t>
            </a:r>
            <a:endParaRPr lang="en-US" sz="1300" dirty="0"/>
          </a:p>
          <a:p>
            <a:pPr indent="0" marL="0">
              <a:lnSpc>
                <a:spcPct val="135000"/>
              </a:lnSpc>
              <a:buNone/>
            </a:pPr>
            <a:r>
              <a:rPr lang="en-US" sz="1300" dirty="0">
                <a:solidFill>
                  <a:srgbClr val="6B7180"/>
                </a:solidFill>
                <a:latin typeface="BIZ UDPGothic" pitchFamily="34" charset="0"/>
                <a:ea typeface="BIZ UDPGothic" pitchFamily="34" charset="-122"/>
                <a:cs typeface="BIZ UDPGothic" pitchFamily="34" charset="-120"/>
              </a:rPr>
              <a:t>日々の気づき・独り言</a:t>
            </a:r>
            <a:endParaRPr lang="en-US" sz="1300" dirty="0"/>
          </a:p>
        </p:txBody>
      </p:sp>
      <p:sp>
        <p:nvSpPr>
          <p:cNvPr id="13" name="Shape 11"/>
          <p:cNvSpPr/>
          <p:nvPr/>
        </p:nvSpPr>
        <p:spPr>
          <a:xfrm>
            <a:off x="6100877" y="2560320"/>
            <a:ext cx="274320" cy="0"/>
          </a:xfrm>
          <a:prstGeom prst="line">
            <a:avLst/>
          </a:prstGeom>
          <a:noFill/>
          <a:ln w="15875">
            <a:solidFill>
              <a:srgbClr val="6B7180"/>
            </a:solidFill>
            <a:prstDash val="solid"/>
            <a:tailEnd type="triangle"/>
          </a:ln>
        </p:spPr>
      </p:sp>
      <p:sp>
        <p:nvSpPr>
          <p:cNvPr id="14" name="Shape 12"/>
          <p:cNvSpPr/>
          <p:nvPr/>
        </p:nvSpPr>
        <p:spPr>
          <a:xfrm>
            <a:off x="6466637" y="1874520"/>
            <a:ext cx="2387498" cy="0"/>
          </a:xfrm>
          <a:prstGeom prst="line">
            <a:avLst/>
          </a:prstGeom>
          <a:noFill/>
          <a:ln w="25400">
            <a:solidFill>
              <a:srgbClr val="0E8C88"/>
            </a:solidFill>
            <a:prstDash val="solid"/>
          </a:ln>
        </p:spPr>
      </p:sp>
      <p:sp>
        <p:nvSpPr>
          <p:cNvPr id="15" name="Text 13"/>
          <p:cNvSpPr txBox="1"/>
          <p:nvPr/>
        </p:nvSpPr>
        <p:spPr>
          <a:xfrm>
            <a:off x="6466637" y="2039112"/>
            <a:ext cx="2387498" cy="274320"/>
          </a:xfrm>
          <a:prstGeom prst="rect">
            <a:avLst/>
          </a:prstGeom>
          <a:noFill/>
          <a:ln/>
        </p:spPr>
        <p:txBody>
          <a:bodyPr wrap="square" lIns="0" tIns="0" rIns="0" bIns="0" rtlCol="0" anchor="t"/>
          <a:lstStyle/>
          <a:p>
            <a:pPr indent="0" marL="0">
              <a:buNone/>
            </a:pPr>
            <a:r>
              <a:rPr lang="en-US" sz="1200" b="1" i="1" dirty="0">
                <a:solidFill>
                  <a:srgbClr val="0E8C88"/>
                </a:solidFill>
                <a:latin typeface="Cambria" pitchFamily="34" charset="0"/>
                <a:ea typeface="Cambria" pitchFamily="34" charset="-122"/>
                <a:cs typeface="Cambria" pitchFamily="34" charset="-120"/>
              </a:rPr>
              <a:t>STEP 3</a:t>
            </a:r>
            <a:endParaRPr lang="en-US" sz="1200" dirty="0"/>
          </a:p>
        </p:txBody>
      </p:sp>
      <p:sp>
        <p:nvSpPr>
          <p:cNvPr id="16" name="Text 14"/>
          <p:cNvSpPr txBox="1"/>
          <p:nvPr/>
        </p:nvSpPr>
        <p:spPr>
          <a:xfrm>
            <a:off x="6466637" y="2331720"/>
            <a:ext cx="2387498" cy="45720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1つのフォルダへ</a:t>
            </a:r>
            <a:endParaRPr lang="en-US" sz="2200" dirty="0"/>
          </a:p>
        </p:txBody>
      </p:sp>
      <p:sp>
        <p:nvSpPr>
          <p:cNvPr id="17" name="Text 15"/>
          <p:cNvSpPr txBox="1"/>
          <p:nvPr/>
        </p:nvSpPr>
        <p:spPr>
          <a:xfrm>
            <a:off x="6466637" y="2862072"/>
            <a:ext cx="2387498" cy="731520"/>
          </a:xfrm>
          <a:prstGeom prst="rect">
            <a:avLst/>
          </a:prstGeom>
          <a:noFill/>
          <a:ln/>
        </p:spPr>
        <p:txBody>
          <a:bodyPr wrap="square" lIns="0" tIns="0" rIns="0" bIns="0" rtlCol="0" anchor="t"/>
          <a:lstStyle/>
          <a:p>
            <a:pPr indent="0" marL="0">
              <a:lnSpc>
                <a:spcPct val="135000"/>
              </a:lnSpc>
              <a:buNone/>
            </a:pPr>
            <a:r>
              <a:rPr lang="en-US" sz="1300" dirty="0">
                <a:solidFill>
                  <a:srgbClr val="6B7180"/>
                </a:solidFill>
                <a:latin typeface="BIZ UDPGothic" pitchFamily="34" charset="0"/>
                <a:ea typeface="BIZ UDPGothic" pitchFamily="34" charset="-122"/>
                <a:cs typeface="BIZ UDPGothic" pitchFamily="34" charset="-120"/>
              </a:rPr>
              <a:t>デスクトップにフォルダを作り</a:t>
            </a:r>
            <a:endParaRPr lang="en-US" sz="1300" dirty="0"/>
          </a:p>
          <a:p>
            <a:pPr indent="0" marL="0">
              <a:lnSpc>
                <a:spcPct val="135000"/>
              </a:lnSpc>
              <a:buNone/>
            </a:pPr>
            <a:r>
              <a:rPr lang="en-US" sz="1300" dirty="0">
                <a:solidFill>
                  <a:srgbClr val="6B7180"/>
                </a:solidFill>
                <a:latin typeface="BIZ UDPGothic" pitchFamily="34" charset="0"/>
                <a:ea typeface="BIZ UDPGothic" pitchFamily="34" charset="-122"/>
                <a:cs typeface="BIZ UDPGothic" pitchFamily="34" charset="-120"/>
              </a:rPr>
              <a:t>テキストのまま放り込む</a:t>
            </a:r>
            <a:endParaRPr lang="en-US" sz="1300" dirty="0"/>
          </a:p>
        </p:txBody>
      </p:sp>
      <p:sp>
        <p:nvSpPr>
          <p:cNvPr id="18" name="Text 16"/>
          <p:cNvSpPr txBox="1"/>
          <p:nvPr/>
        </p:nvSpPr>
        <p:spPr>
          <a:xfrm>
            <a:off x="9311335" y="2331720"/>
            <a:ext cx="2103120" cy="914400"/>
          </a:xfrm>
          <a:prstGeom prst="rect">
            <a:avLst/>
          </a:prstGeom>
          <a:noFill/>
          <a:ln/>
        </p:spPr>
        <p:txBody>
          <a:bodyPr wrap="square" lIns="0" tIns="0" rIns="0" bIns="0" rtlCol="0" anchor="t"/>
          <a:lstStyle/>
          <a:p>
            <a:pPr indent="0" marL="0">
              <a:lnSpc>
                <a:spcPct val="135000"/>
              </a:lnSpc>
              <a:buNone/>
            </a:pPr>
            <a:r>
              <a:rPr lang="en-US" sz="1400" b="1" dirty="0">
                <a:solidFill>
                  <a:srgbClr val="0E8C88"/>
                </a:solidFill>
                <a:latin typeface="BIZ UDPGothic" pitchFamily="34" charset="0"/>
                <a:ea typeface="BIZ UDPGothic" pitchFamily="34" charset="-122"/>
                <a:cs typeface="BIZ UDPGothic" pitchFamily="34" charset="-120"/>
              </a:rPr>
              <a:t>細かい要約は不要。</a:t>
            </a:r>
            <a:endParaRPr lang="en-US" sz="1400" dirty="0"/>
          </a:p>
          <a:p>
            <a:pPr indent="0" marL="0">
              <a:lnSpc>
                <a:spcPct val="135000"/>
              </a:lnSpc>
              <a:buNone/>
            </a:pPr>
            <a:r>
              <a:rPr lang="en-US" sz="1400" b="1" dirty="0">
                <a:solidFill>
                  <a:srgbClr val="0E8C88"/>
                </a:solidFill>
                <a:latin typeface="BIZ UDPGothic" pitchFamily="34" charset="0"/>
                <a:ea typeface="BIZ UDPGothic" pitchFamily="34" charset="-122"/>
                <a:cs typeface="BIZ UDPGothic" pitchFamily="34" charset="-120"/>
              </a:rPr>
              <a:t>貯めることが最優先。</a:t>
            </a:r>
            <a:endParaRPr lang="en-US" sz="1400" dirty="0"/>
          </a:p>
        </p:txBody>
      </p:sp>
      <p:sp>
        <p:nvSpPr>
          <p:cNvPr id="19" name="Shape 17"/>
          <p:cNvSpPr/>
          <p:nvPr/>
        </p:nvSpPr>
        <p:spPr>
          <a:xfrm>
            <a:off x="777240" y="3886200"/>
            <a:ext cx="10637215" cy="2148840"/>
          </a:xfrm>
          <a:prstGeom prst="rect">
            <a:avLst/>
          </a:prstGeom>
          <a:solidFill>
            <a:srgbClr val="F2F4F6"/>
          </a:solidFill>
          <a:ln/>
        </p:spPr>
      </p:sp>
      <p:sp>
        <p:nvSpPr>
          <p:cNvPr id="20" name="Text 18"/>
          <p:cNvSpPr txBox="1"/>
          <p:nvPr/>
        </p:nvSpPr>
        <p:spPr>
          <a:xfrm>
            <a:off x="1097280" y="4142232"/>
            <a:ext cx="3657600" cy="274320"/>
          </a:xfrm>
          <a:prstGeom prst="rect">
            <a:avLst/>
          </a:prstGeom>
          <a:noFill/>
          <a:ln/>
        </p:spPr>
        <p:txBody>
          <a:bodyPr wrap="square" lIns="0" tIns="0" rIns="0" bIns="0" rtlCol="0" anchor="t"/>
          <a:lstStyle/>
          <a:p>
            <a:pPr indent="0" marL="0">
              <a:buNone/>
            </a:pPr>
            <a:r>
              <a:rPr lang="en-US" sz="1200" b="1" dirty="0">
                <a:solidFill>
                  <a:srgbClr val="0E8C88"/>
                </a:solidFill>
                <a:latin typeface="BIZ UDPGothic" pitchFamily="34" charset="0"/>
                <a:ea typeface="BIZ UDPGothic" pitchFamily="34" charset="-122"/>
                <a:cs typeface="BIZ UDPGothic" pitchFamily="34" charset="-120"/>
              </a:rPr>
              <a:t>もう1つの貯め方</a:t>
            </a:r>
            <a:endParaRPr lang="en-US" sz="1200" dirty="0"/>
          </a:p>
        </p:txBody>
      </p:sp>
      <p:sp>
        <p:nvSpPr>
          <p:cNvPr id="21" name="Text 19"/>
          <p:cNvSpPr txBox="1"/>
          <p:nvPr/>
        </p:nvSpPr>
        <p:spPr>
          <a:xfrm>
            <a:off x="1097280" y="4434840"/>
            <a:ext cx="5120640" cy="457200"/>
          </a:xfrm>
          <a:prstGeom prst="rect">
            <a:avLst/>
          </a:prstGeom>
          <a:noFill/>
          <a:ln/>
        </p:spPr>
        <p:txBody>
          <a:bodyPr wrap="square" lIns="0" tIns="0" rIns="0" bIns="0" rtlCol="0" anchor="t"/>
          <a:lstStyle/>
          <a:p>
            <a:pPr indent="0" marL="0">
              <a:buNone/>
            </a:pPr>
            <a:r>
              <a:rPr lang="en-US" sz="2200" b="1" dirty="0">
                <a:solidFill>
                  <a:srgbClr val="22252E"/>
                </a:solidFill>
                <a:latin typeface="BIZ UDPGothic" pitchFamily="34" charset="0"/>
                <a:ea typeface="BIZ UDPGothic" pitchFamily="34" charset="-122"/>
                <a:cs typeface="BIZ UDPGothic" pitchFamily="34" charset="-120"/>
              </a:rPr>
              <a:t>1つのAIに、何でも質問しまくる</a:t>
            </a:r>
            <a:endParaRPr lang="en-US" sz="2200" dirty="0"/>
          </a:p>
        </p:txBody>
      </p:sp>
      <p:sp>
        <p:nvSpPr>
          <p:cNvPr id="22" name="Text 20"/>
          <p:cNvSpPr txBox="1"/>
          <p:nvPr/>
        </p:nvSpPr>
        <p:spPr>
          <a:xfrm>
            <a:off x="1097280" y="4983480"/>
            <a:ext cx="4937760" cy="914400"/>
          </a:xfrm>
          <a:prstGeom prst="rect">
            <a:avLst/>
          </a:prstGeom>
          <a:noFill/>
          <a:ln/>
        </p:spPr>
        <p:txBody>
          <a:bodyPr wrap="square" lIns="0" tIns="0" rIns="0" bIns="0" rtlCol="0" anchor="t"/>
          <a:lstStyle/>
          <a:p>
            <a:pPr indent="0" marL="0">
              <a:lnSpc>
                <a:spcPct val="140000"/>
              </a:lnSpc>
              <a:buNone/>
            </a:pPr>
            <a:r>
              <a:rPr lang="en-US" sz="1300" dirty="0">
                <a:solidFill>
                  <a:srgbClr val="6B7180"/>
                </a:solidFill>
                <a:latin typeface="BIZ UDPGothic" pitchFamily="34" charset="0"/>
                <a:ea typeface="BIZ UDPGothic" pitchFamily="34" charset="-122"/>
                <a:cs typeface="BIZ UDPGothic" pitchFamily="34" charset="-120"/>
              </a:rPr>
              <a:t>会話履歴そのものがコンテキストになる。後からその部分だけ抜き出せるので、どんな新しいAIが出てもそれを渡せばすぐ「自分のAI」になる。</a:t>
            </a:r>
            <a:endParaRPr lang="en-US" sz="1300" dirty="0"/>
          </a:p>
        </p:txBody>
      </p:sp>
      <p:sp>
        <p:nvSpPr>
          <p:cNvPr id="23" name="Text 21"/>
          <p:cNvSpPr txBox="1"/>
          <p:nvPr/>
        </p:nvSpPr>
        <p:spPr>
          <a:xfrm>
            <a:off x="6629400" y="4142232"/>
            <a:ext cx="4465015" cy="274320"/>
          </a:xfrm>
          <a:prstGeom prst="rect">
            <a:avLst/>
          </a:prstGeom>
          <a:noFill/>
          <a:ln/>
        </p:spPr>
        <p:txBody>
          <a:bodyPr wrap="square" lIns="0" tIns="0" rIns="0" bIns="0" rtlCol="0" anchor="t"/>
          <a:lstStyle/>
          <a:p>
            <a:pPr indent="0" marL="0">
              <a:buNone/>
            </a:pPr>
            <a:r>
              <a:rPr lang="en-US" sz="1200" b="1" dirty="0">
                <a:solidFill>
                  <a:srgbClr val="6B7180"/>
                </a:solidFill>
                <a:latin typeface="BIZ UDPGothic" pitchFamily="34" charset="0"/>
                <a:ea typeface="BIZ UDPGothic" pitchFamily="34" charset="-122"/>
                <a:cs typeface="BIZ UDPGothic" pitchFamily="34" charset="-120"/>
              </a:rPr>
              <a:t>例えば</a:t>
            </a:r>
            <a:endParaRPr lang="en-US" sz="1200" dirty="0"/>
          </a:p>
        </p:txBody>
      </p:sp>
      <p:sp>
        <p:nvSpPr>
          <p:cNvPr id="24" name="Text 22"/>
          <p:cNvSpPr txBox="1"/>
          <p:nvPr/>
        </p:nvSpPr>
        <p:spPr>
          <a:xfrm>
            <a:off x="6629400" y="4480560"/>
            <a:ext cx="4465015" cy="320040"/>
          </a:xfrm>
          <a:prstGeom prst="rect">
            <a:avLst/>
          </a:prstGeom>
          <a:noFill/>
          <a:ln/>
        </p:spPr>
        <p:txBody>
          <a:bodyPr wrap="square" lIns="0" tIns="0" rIns="0" bIns="0" rtlCol="0" anchor="t"/>
          <a:lstStyle/>
          <a:p>
            <a:pPr indent="0" marL="0">
              <a:buNone/>
            </a:pPr>
            <a:r>
              <a:rPr lang="en-US" sz="1500" dirty="0">
                <a:solidFill>
                  <a:srgbClr val="22252E"/>
                </a:solidFill>
                <a:latin typeface="BIZ UDPGothic" pitchFamily="34" charset="0"/>
                <a:ea typeface="BIZ UDPGothic" pitchFamily="34" charset="-122"/>
                <a:cs typeface="BIZ UDPGothic" pitchFamily="34" charset="-120"/>
              </a:rPr>
              <a:t>—  見積もりの作り方</a:t>
            </a:r>
            <a:endParaRPr lang="en-US" sz="1500" dirty="0"/>
          </a:p>
        </p:txBody>
      </p:sp>
      <p:sp>
        <p:nvSpPr>
          <p:cNvPr id="25" name="Text 23"/>
          <p:cNvSpPr txBox="1"/>
          <p:nvPr/>
        </p:nvSpPr>
        <p:spPr>
          <a:xfrm>
            <a:off x="6629400" y="4846320"/>
            <a:ext cx="4465015" cy="320040"/>
          </a:xfrm>
          <a:prstGeom prst="rect">
            <a:avLst/>
          </a:prstGeom>
          <a:noFill/>
          <a:ln/>
        </p:spPr>
        <p:txBody>
          <a:bodyPr wrap="square" lIns="0" tIns="0" rIns="0" bIns="0" rtlCol="0" anchor="t"/>
          <a:lstStyle/>
          <a:p>
            <a:pPr indent="0" marL="0">
              <a:buNone/>
            </a:pPr>
            <a:r>
              <a:rPr lang="en-US" sz="1500" dirty="0">
                <a:solidFill>
                  <a:srgbClr val="22252E"/>
                </a:solidFill>
                <a:latin typeface="BIZ UDPGothic" pitchFamily="34" charset="0"/>
                <a:ea typeface="BIZ UDPGothic" pitchFamily="34" charset="-122"/>
                <a:cs typeface="BIZ UDPGothic" pitchFamily="34" charset="-120"/>
              </a:rPr>
              <a:t>—  提案の際に自分が注意していること</a:t>
            </a:r>
            <a:endParaRPr lang="en-US" sz="1500" dirty="0"/>
          </a:p>
        </p:txBody>
      </p:sp>
      <p:sp>
        <p:nvSpPr>
          <p:cNvPr id="26" name="Text 24"/>
          <p:cNvSpPr txBox="1"/>
          <p:nvPr/>
        </p:nvSpPr>
        <p:spPr>
          <a:xfrm>
            <a:off x="6629400" y="5212080"/>
            <a:ext cx="4465015" cy="320040"/>
          </a:xfrm>
          <a:prstGeom prst="rect">
            <a:avLst/>
          </a:prstGeom>
          <a:noFill/>
          <a:ln/>
        </p:spPr>
        <p:txBody>
          <a:bodyPr wrap="square" lIns="0" tIns="0" rIns="0" bIns="0" rtlCol="0" anchor="t"/>
          <a:lstStyle/>
          <a:p>
            <a:pPr indent="0" marL="0">
              <a:buNone/>
            </a:pPr>
            <a:r>
              <a:rPr lang="en-US" sz="1500" dirty="0">
                <a:solidFill>
                  <a:srgbClr val="22252E"/>
                </a:solidFill>
                <a:latin typeface="BIZ UDPGothic" pitchFamily="34" charset="0"/>
                <a:ea typeface="BIZ UDPGothic" pitchFamily="34" charset="-122"/>
                <a:cs typeface="BIZ UDPGothic" pitchFamily="34" charset="-120"/>
              </a:rPr>
              <a:t>—  プロジェクトを進める上で重要だと思うこと</a:t>
            </a:r>
            <a:endParaRPr lang="en-US" sz="1500" dirty="0"/>
          </a:p>
        </p:txBody>
      </p:sp>
      <p:sp>
        <p:nvSpPr>
          <p:cNvPr id="27" name="Text 25"/>
          <p:cNvSpPr txBox="1"/>
          <p:nvPr/>
        </p:nvSpPr>
        <p:spPr>
          <a:xfrm>
            <a:off x="6629400" y="5577840"/>
            <a:ext cx="4465015" cy="320040"/>
          </a:xfrm>
          <a:prstGeom prst="rect">
            <a:avLst/>
          </a:prstGeom>
          <a:noFill/>
          <a:ln/>
        </p:spPr>
        <p:txBody>
          <a:bodyPr wrap="square" lIns="0" tIns="0" rIns="0" bIns="0" rtlCol="0" anchor="t"/>
          <a:lstStyle/>
          <a:p>
            <a:pPr indent="0" marL="0">
              <a:buNone/>
            </a:pPr>
            <a:r>
              <a:rPr lang="en-US" sz="1500" dirty="0">
                <a:solidFill>
                  <a:srgbClr val="22252E"/>
                </a:solidFill>
                <a:latin typeface="BIZ UDPGothic" pitchFamily="34" charset="0"/>
                <a:ea typeface="BIZ UDPGothic" pitchFamily="34" charset="-122"/>
                <a:cs typeface="BIZ UDPGothic" pitchFamily="34" charset="-120"/>
              </a:rPr>
              <a:t>—  プライベートなことでも何でも</a:t>
            </a:r>
            <a:endParaRPr lang="en-US" sz="15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22252E"/>
                </a:solidFill>
                <a:latin typeface="Cambria"/>
                <a:ea typeface="Cambria"/>
                <a:cs typeface="Cambria"/>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0E8C88"/>
                </a:solidFill>
                <a:latin typeface="Cambria" pitchFamily="34" charset="0"/>
                <a:ea typeface="Cambria" pitchFamily="34" charset="-122"/>
                <a:cs typeface="Cambria" pitchFamily="34" charset="-120"/>
              </a:rPr>
              <a:t>AI PROMOTION TEAM</a:t>
            </a:r>
            <a:endParaRPr lang="en-US" sz="1300" dirty="0"/>
          </a:p>
        </p:txBody>
      </p:sp>
      <p:sp>
        <p:nvSpPr>
          <p:cNvPr id="3" name="Text 1"/>
          <p:cNvSpPr txBox="1"/>
          <p:nvPr/>
        </p:nvSpPr>
        <p:spPr>
          <a:xfrm>
            <a:off x="777240" y="896112"/>
            <a:ext cx="10637215" cy="685800"/>
          </a:xfrm>
          <a:prstGeom prst="rect">
            <a:avLst/>
          </a:prstGeom>
          <a:noFill/>
          <a:ln/>
        </p:spPr>
        <p:txBody>
          <a:bodyPr wrap="square" lIns="0" tIns="0" rIns="0" bIns="0" rtlCol="0" anchor="t"/>
          <a:lstStyle/>
          <a:p>
            <a:pPr indent="0" marL="0">
              <a:buNone/>
            </a:pPr>
            <a:r>
              <a:rPr lang="en-US" sz="3200" b="1" dirty="0">
                <a:solidFill>
                  <a:srgbClr val="22252E"/>
                </a:solidFill>
                <a:latin typeface="BIZ UDPGothic" pitchFamily="34" charset="0"/>
                <a:ea typeface="BIZ UDPGothic" pitchFamily="34" charset="-122"/>
                <a:cs typeface="BIZ UDPGothic" pitchFamily="34" charset="-120"/>
              </a:rPr>
              <a:t>今後のAI推進チームについて</a:t>
            </a:r>
            <a:endParaRPr lang="en-US" sz="3200" dirty="0"/>
          </a:p>
        </p:txBody>
      </p:sp>
      <p:sp>
        <p:nvSpPr>
          <p:cNvPr id="4" name="Text 2"/>
          <p:cNvSpPr txBox="1"/>
          <p:nvPr/>
        </p:nvSpPr>
        <p:spPr>
          <a:xfrm>
            <a:off x="777240" y="2011680"/>
            <a:ext cx="3657600" cy="914400"/>
          </a:xfrm>
          <a:prstGeom prst="rect">
            <a:avLst/>
          </a:prstGeom>
          <a:noFill/>
          <a:ln/>
        </p:spPr>
        <p:txBody>
          <a:bodyPr wrap="square" lIns="0" tIns="0" rIns="0" bIns="0" rtlCol="0" anchor="t"/>
          <a:lstStyle/>
          <a:p>
            <a:pPr indent="0" marL="0">
              <a:buNone/>
            </a:pPr>
            <a:r>
              <a:rPr lang="en-US" sz="5400" b="1" dirty="0">
                <a:solidFill>
                  <a:srgbClr val="0E8C88"/>
                </a:solidFill>
                <a:latin typeface="BIZ UDPGothic" pitchFamily="34" charset="0"/>
                <a:ea typeface="BIZ UDPGothic" pitchFamily="34" charset="-122"/>
                <a:cs typeface="BIZ UDPGothic" pitchFamily="34" charset="-120"/>
              </a:rPr>
              <a:t>検討中</a:t>
            </a:r>
            <a:endParaRPr lang="en-US" sz="5400" dirty="0"/>
          </a:p>
        </p:txBody>
      </p:sp>
      <p:sp>
        <p:nvSpPr>
          <p:cNvPr id="5" name="Text 3"/>
          <p:cNvSpPr txBox="1"/>
          <p:nvPr/>
        </p:nvSpPr>
        <p:spPr>
          <a:xfrm>
            <a:off x="777240" y="3063240"/>
            <a:ext cx="4206240" cy="914400"/>
          </a:xfrm>
          <a:prstGeom prst="rect">
            <a:avLst/>
          </a:prstGeom>
          <a:noFill/>
          <a:ln/>
        </p:spPr>
        <p:txBody>
          <a:bodyPr wrap="square" lIns="0" tIns="0" rIns="0" bIns="0" rtlCol="0" anchor="t"/>
          <a:lstStyle/>
          <a:p>
            <a:pPr indent="0" marL="0">
              <a:lnSpc>
                <a:spcPct val="140000"/>
              </a:lnSpc>
              <a:buNone/>
            </a:pPr>
            <a:r>
              <a:rPr lang="en-US" sz="1800" b="1" dirty="0">
                <a:solidFill>
                  <a:srgbClr val="22252E"/>
                </a:solidFill>
                <a:latin typeface="BIZ UDPGothic" pitchFamily="34" charset="0"/>
                <a:ea typeface="BIZ UDPGothic" pitchFamily="34" charset="-122"/>
                <a:cs typeface="BIZ UDPGothic" pitchFamily="34" charset="-120"/>
              </a:rPr>
              <a:t>詳細はまだ詰め切れていません。</a:t>
            </a:r>
            <a:endParaRPr lang="en-US" sz="1800" dirty="0"/>
          </a:p>
          <a:p>
            <a:pPr indent="0" marL="0">
              <a:lnSpc>
                <a:spcPct val="140000"/>
              </a:lnSpc>
              <a:buNone/>
            </a:pPr>
            <a:r>
              <a:rPr lang="en-US" sz="1800" b="1" dirty="0">
                <a:solidFill>
                  <a:srgbClr val="22252E"/>
                </a:solidFill>
                <a:latin typeface="BIZ UDPGothic" pitchFamily="34" charset="0"/>
                <a:ea typeface="BIZ UDPGothic" pitchFamily="34" charset="-122"/>
                <a:cs typeface="BIZ UDPGothic" pitchFamily="34" charset="-120"/>
              </a:rPr>
              <a:t>役員と相談しながら決めていきます。</a:t>
            </a:r>
            <a:endParaRPr lang="en-US" sz="1800" dirty="0"/>
          </a:p>
        </p:txBody>
      </p:sp>
      <p:sp>
        <p:nvSpPr>
          <p:cNvPr id="6" name="Shape 4"/>
          <p:cNvSpPr/>
          <p:nvPr/>
        </p:nvSpPr>
        <p:spPr>
          <a:xfrm>
            <a:off x="5440680" y="2011680"/>
            <a:ext cx="0" cy="3931920"/>
          </a:xfrm>
          <a:prstGeom prst="line">
            <a:avLst/>
          </a:prstGeom>
          <a:noFill/>
          <a:ln w="9525">
            <a:solidFill>
              <a:srgbClr val="D3D7DE"/>
            </a:solidFill>
            <a:prstDash val="solid"/>
          </a:ln>
        </p:spPr>
      </p:sp>
      <p:sp>
        <p:nvSpPr>
          <p:cNvPr id="7" name="Text 5"/>
          <p:cNvSpPr txBox="1"/>
          <p:nvPr/>
        </p:nvSpPr>
        <p:spPr>
          <a:xfrm>
            <a:off x="5852160" y="2011680"/>
            <a:ext cx="5562295" cy="274320"/>
          </a:xfrm>
          <a:prstGeom prst="rect">
            <a:avLst/>
          </a:prstGeom>
          <a:noFill/>
          <a:ln/>
        </p:spPr>
        <p:txBody>
          <a:bodyPr wrap="square" lIns="0" tIns="0" rIns="0" bIns="0" rtlCol="0" anchor="t"/>
          <a:lstStyle/>
          <a:p>
            <a:pPr indent="0" marL="0">
              <a:buNone/>
            </a:pPr>
            <a:r>
              <a:rPr lang="en-US" sz="1200" b="1" dirty="0">
                <a:solidFill>
                  <a:srgbClr val="6B7180"/>
                </a:solidFill>
                <a:latin typeface="BIZ UDPGothic" pitchFamily="34" charset="0"/>
                <a:ea typeface="BIZ UDPGothic" pitchFamily="34" charset="-122"/>
                <a:cs typeface="BIZ UDPGothic" pitchFamily="34" charset="-120"/>
              </a:rPr>
              <a:t>決まり次第お知らせする項目（想定）</a:t>
            </a:r>
            <a:endParaRPr lang="en-US" sz="1200" dirty="0"/>
          </a:p>
        </p:txBody>
      </p:sp>
      <p:sp>
        <p:nvSpPr>
          <p:cNvPr id="8" name="Shape 6"/>
          <p:cNvSpPr/>
          <p:nvPr/>
        </p:nvSpPr>
        <p:spPr>
          <a:xfrm>
            <a:off x="5852160" y="2423160"/>
            <a:ext cx="5562295" cy="0"/>
          </a:xfrm>
          <a:prstGeom prst="line">
            <a:avLst/>
          </a:prstGeom>
          <a:noFill/>
          <a:ln w="9525">
            <a:solidFill>
              <a:srgbClr val="D3D7DE"/>
            </a:solidFill>
            <a:prstDash val="solid"/>
          </a:ln>
        </p:spPr>
      </p:sp>
      <p:sp>
        <p:nvSpPr>
          <p:cNvPr id="9" name="Text 7"/>
          <p:cNvSpPr txBox="1"/>
          <p:nvPr/>
        </p:nvSpPr>
        <p:spPr>
          <a:xfrm>
            <a:off x="5852160" y="2624328"/>
            <a:ext cx="4190695" cy="365760"/>
          </a:xfrm>
          <a:prstGeom prst="rect">
            <a:avLst/>
          </a:prstGeom>
          <a:noFill/>
          <a:ln/>
        </p:spPr>
        <p:txBody>
          <a:bodyPr wrap="square" lIns="0" tIns="0" rIns="0" bIns="0" rtlCol="0" anchor="t"/>
          <a:lstStyle/>
          <a:p>
            <a:pPr indent="0" marL="0">
              <a:buNone/>
            </a:pPr>
            <a:r>
              <a:rPr lang="en-US" sz="1800" dirty="0">
                <a:solidFill>
                  <a:srgbClr val="22252E"/>
                </a:solidFill>
                <a:latin typeface="BIZ UDPGothic" pitchFamily="34" charset="0"/>
                <a:ea typeface="BIZ UDPGothic" pitchFamily="34" charset="-122"/>
                <a:cs typeface="BIZ UDPGothic" pitchFamily="34" charset="-120"/>
              </a:rPr>
              <a:t>チームの体制・メンバー</a:t>
            </a:r>
            <a:endParaRPr lang="en-US" sz="1800" dirty="0"/>
          </a:p>
        </p:txBody>
      </p:sp>
      <p:sp>
        <p:nvSpPr>
          <p:cNvPr id="10" name="Text 8"/>
          <p:cNvSpPr txBox="1"/>
          <p:nvPr/>
        </p:nvSpPr>
        <p:spPr>
          <a:xfrm>
            <a:off x="10317175" y="2642616"/>
            <a:ext cx="1097280" cy="365760"/>
          </a:xfrm>
          <a:prstGeom prst="rect">
            <a:avLst/>
          </a:prstGeom>
          <a:noFill/>
          <a:ln/>
        </p:spPr>
        <p:txBody>
          <a:bodyPr wrap="square" lIns="0" tIns="0" rIns="0" bIns="0" rtlCol="0" anchor="t"/>
          <a:lstStyle/>
          <a:p>
            <a:pPr algn="r" indent="0" marL="0">
              <a:buNone/>
            </a:pPr>
            <a:r>
              <a:rPr lang="en-US" sz="1400" b="1" dirty="0">
                <a:solidFill>
                  <a:srgbClr val="C00000"/>
                </a:solidFill>
                <a:latin typeface="BIZ UDPGothic" pitchFamily="34" charset="0"/>
                <a:ea typeface="BIZ UDPGothic" pitchFamily="34" charset="-122"/>
                <a:cs typeface="BIZ UDPGothic" pitchFamily="34" charset="-120"/>
              </a:rPr>
              <a:t>未定</a:t>
            </a:r>
            <a:endParaRPr lang="en-US" sz="1400" dirty="0"/>
          </a:p>
        </p:txBody>
      </p:sp>
      <p:sp>
        <p:nvSpPr>
          <p:cNvPr id="11" name="Shape 9"/>
          <p:cNvSpPr/>
          <p:nvPr/>
        </p:nvSpPr>
        <p:spPr>
          <a:xfrm>
            <a:off x="5852160" y="3200400"/>
            <a:ext cx="5562295" cy="0"/>
          </a:xfrm>
          <a:prstGeom prst="line">
            <a:avLst/>
          </a:prstGeom>
          <a:noFill/>
          <a:ln w="9525">
            <a:solidFill>
              <a:srgbClr val="D3D7DE"/>
            </a:solidFill>
            <a:prstDash val="solid"/>
          </a:ln>
        </p:spPr>
      </p:sp>
      <p:sp>
        <p:nvSpPr>
          <p:cNvPr id="12" name="Text 10"/>
          <p:cNvSpPr txBox="1"/>
          <p:nvPr/>
        </p:nvSpPr>
        <p:spPr>
          <a:xfrm>
            <a:off x="5852160" y="3401568"/>
            <a:ext cx="4190695" cy="365760"/>
          </a:xfrm>
          <a:prstGeom prst="rect">
            <a:avLst/>
          </a:prstGeom>
          <a:noFill/>
          <a:ln/>
        </p:spPr>
        <p:txBody>
          <a:bodyPr wrap="square" lIns="0" tIns="0" rIns="0" bIns="0" rtlCol="0" anchor="t"/>
          <a:lstStyle/>
          <a:p>
            <a:pPr indent="0" marL="0">
              <a:buNone/>
            </a:pPr>
            <a:r>
              <a:rPr lang="en-US" sz="1800" dirty="0">
                <a:solidFill>
                  <a:srgbClr val="22252E"/>
                </a:solidFill>
                <a:latin typeface="BIZ UDPGothic" pitchFamily="34" charset="0"/>
                <a:ea typeface="BIZ UDPGothic" pitchFamily="34" charset="-122"/>
                <a:cs typeface="BIZ UDPGothic" pitchFamily="34" charset="-120"/>
              </a:rPr>
              <a:t>活動内容と頻度</a:t>
            </a:r>
            <a:endParaRPr lang="en-US" sz="1800" dirty="0"/>
          </a:p>
        </p:txBody>
      </p:sp>
      <p:sp>
        <p:nvSpPr>
          <p:cNvPr id="13" name="Text 11"/>
          <p:cNvSpPr txBox="1"/>
          <p:nvPr/>
        </p:nvSpPr>
        <p:spPr>
          <a:xfrm>
            <a:off x="10317175" y="3419856"/>
            <a:ext cx="1097280" cy="365760"/>
          </a:xfrm>
          <a:prstGeom prst="rect">
            <a:avLst/>
          </a:prstGeom>
          <a:noFill/>
          <a:ln/>
        </p:spPr>
        <p:txBody>
          <a:bodyPr wrap="square" lIns="0" tIns="0" rIns="0" bIns="0" rtlCol="0" anchor="t"/>
          <a:lstStyle/>
          <a:p>
            <a:pPr algn="r" indent="0" marL="0">
              <a:buNone/>
            </a:pPr>
            <a:r>
              <a:rPr lang="en-US" sz="1400" b="1" dirty="0">
                <a:solidFill>
                  <a:srgbClr val="C00000"/>
                </a:solidFill>
                <a:latin typeface="BIZ UDPGothic" pitchFamily="34" charset="0"/>
                <a:ea typeface="BIZ UDPGothic" pitchFamily="34" charset="-122"/>
                <a:cs typeface="BIZ UDPGothic" pitchFamily="34" charset="-120"/>
              </a:rPr>
              <a:t>未定</a:t>
            </a:r>
            <a:endParaRPr lang="en-US" sz="1400" dirty="0"/>
          </a:p>
        </p:txBody>
      </p:sp>
      <p:sp>
        <p:nvSpPr>
          <p:cNvPr id="14" name="Shape 12"/>
          <p:cNvSpPr/>
          <p:nvPr/>
        </p:nvSpPr>
        <p:spPr>
          <a:xfrm>
            <a:off x="5852160" y="3977640"/>
            <a:ext cx="5562295" cy="0"/>
          </a:xfrm>
          <a:prstGeom prst="line">
            <a:avLst/>
          </a:prstGeom>
          <a:noFill/>
          <a:ln w="9525">
            <a:solidFill>
              <a:srgbClr val="D3D7DE"/>
            </a:solidFill>
            <a:prstDash val="solid"/>
          </a:ln>
        </p:spPr>
      </p:sp>
      <p:sp>
        <p:nvSpPr>
          <p:cNvPr id="15" name="Text 13"/>
          <p:cNvSpPr txBox="1"/>
          <p:nvPr/>
        </p:nvSpPr>
        <p:spPr>
          <a:xfrm>
            <a:off x="5852160" y="4178808"/>
            <a:ext cx="4190695" cy="365760"/>
          </a:xfrm>
          <a:prstGeom prst="rect">
            <a:avLst/>
          </a:prstGeom>
          <a:noFill/>
          <a:ln/>
        </p:spPr>
        <p:txBody>
          <a:bodyPr wrap="square" lIns="0" tIns="0" rIns="0" bIns="0" rtlCol="0" anchor="t"/>
          <a:lstStyle/>
          <a:p>
            <a:pPr indent="0" marL="0">
              <a:buNone/>
            </a:pPr>
            <a:r>
              <a:rPr lang="en-US" sz="1800" dirty="0">
                <a:solidFill>
                  <a:srgbClr val="22252E"/>
                </a:solidFill>
                <a:latin typeface="BIZ UDPGothic" pitchFamily="34" charset="0"/>
                <a:ea typeface="BIZ UDPGothic" pitchFamily="34" charset="-122"/>
                <a:cs typeface="BIZ UDPGothic" pitchFamily="34" charset="-120"/>
              </a:rPr>
              <a:t>次回の発表会・共有の場</a:t>
            </a:r>
            <a:endParaRPr lang="en-US" sz="1800" dirty="0"/>
          </a:p>
        </p:txBody>
      </p:sp>
      <p:sp>
        <p:nvSpPr>
          <p:cNvPr id="16" name="Text 14"/>
          <p:cNvSpPr txBox="1"/>
          <p:nvPr/>
        </p:nvSpPr>
        <p:spPr>
          <a:xfrm>
            <a:off x="10317175" y="4197096"/>
            <a:ext cx="1097280" cy="365760"/>
          </a:xfrm>
          <a:prstGeom prst="rect">
            <a:avLst/>
          </a:prstGeom>
          <a:noFill/>
          <a:ln/>
        </p:spPr>
        <p:txBody>
          <a:bodyPr wrap="square" lIns="0" tIns="0" rIns="0" bIns="0" rtlCol="0" anchor="t"/>
          <a:lstStyle/>
          <a:p>
            <a:pPr algn="r" indent="0" marL="0">
              <a:buNone/>
            </a:pPr>
            <a:r>
              <a:rPr lang="en-US" sz="1400" b="1" dirty="0">
                <a:solidFill>
                  <a:srgbClr val="C00000"/>
                </a:solidFill>
                <a:latin typeface="BIZ UDPGothic" pitchFamily="34" charset="0"/>
                <a:ea typeface="BIZ UDPGothic" pitchFamily="34" charset="-122"/>
                <a:cs typeface="BIZ UDPGothic" pitchFamily="34" charset="-120"/>
              </a:rPr>
              <a:t>未定</a:t>
            </a:r>
            <a:endParaRPr lang="en-US" sz="1400" dirty="0"/>
          </a:p>
        </p:txBody>
      </p:sp>
      <p:sp>
        <p:nvSpPr>
          <p:cNvPr id="17" name="Shape 15"/>
          <p:cNvSpPr/>
          <p:nvPr/>
        </p:nvSpPr>
        <p:spPr>
          <a:xfrm>
            <a:off x="5852160" y="4754880"/>
            <a:ext cx="5562295" cy="0"/>
          </a:xfrm>
          <a:prstGeom prst="line">
            <a:avLst/>
          </a:prstGeom>
          <a:noFill/>
          <a:ln w="9525">
            <a:solidFill>
              <a:srgbClr val="D3D7DE"/>
            </a:solidFill>
            <a:prstDash val="solid"/>
          </a:ln>
        </p:spPr>
      </p:sp>
      <p:sp>
        <p:nvSpPr>
          <p:cNvPr id="18" name="Text 16"/>
          <p:cNvSpPr txBox="1"/>
          <p:nvPr/>
        </p:nvSpPr>
        <p:spPr>
          <a:xfrm>
            <a:off x="5852160" y="4956048"/>
            <a:ext cx="4190695" cy="365760"/>
          </a:xfrm>
          <a:prstGeom prst="rect">
            <a:avLst/>
          </a:prstGeom>
          <a:noFill/>
          <a:ln/>
        </p:spPr>
        <p:txBody>
          <a:bodyPr wrap="square" lIns="0" tIns="0" rIns="0" bIns="0" rtlCol="0" anchor="t"/>
          <a:lstStyle/>
          <a:p>
            <a:pPr indent="0" marL="0">
              <a:buNone/>
            </a:pPr>
            <a:r>
              <a:rPr lang="en-US" sz="1800" dirty="0">
                <a:solidFill>
                  <a:srgbClr val="22252E"/>
                </a:solidFill>
                <a:latin typeface="BIZ UDPGothic" pitchFamily="34" charset="0"/>
                <a:ea typeface="BIZ UDPGothic" pitchFamily="34" charset="-122"/>
                <a:cs typeface="BIZ UDPGothic" pitchFamily="34" charset="-120"/>
              </a:rPr>
              <a:t>ツール・環境の整備</a:t>
            </a:r>
            <a:endParaRPr lang="en-US" sz="1800" dirty="0"/>
          </a:p>
        </p:txBody>
      </p:sp>
      <p:sp>
        <p:nvSpPr>
          <p:cNvPr id="19" name="Text 17"/>
          <p:cNvSpPr txBox="1"/>
          <p:nvPr/>
        </p:nvSpPr>
        <p:spPr>
          <a:xfrm>
            <a:off x="10317175" y="4974336"/>
            <a:ext cx="1097280" cy="365760"/>
          </a:xfrm>
          <a:prstGeom prst="rect">
            <a:avLst/>
          </a:prstGeom>
          <a:noFill/>
          <a:ln/>
        </p:spPr>
        <p:txBody>
          <a:bodyPr wrap="square" lIns="0" tIns="0" rIns="0" bIns="0" rtlCol="0" anchor="t"/>
          <a:lstStyle/>
          <a:p>
            <a:pPr algn="r" indent="0" marL="0">
              <a:buNone/>
            </a:pPr>
            <a:r>
              <a:rPr lang="en-US" sz="1400" b="1" dirty="0">
                <a:solidFill>
                  <a:srgbClr val="C00000"/>
                </a:solidFill>
                <a:latin typeface="BIZ UDPGothic" pitchFamily="34" charset="0"/>
                <a:ea typeface="BIZ UDPGothic" pitchFamily="34" charset="-122"/>
                <a:cs typeface="BIZ UDPGothic" pitchFamily="34" charset="-120"/>
              </a:rPr>
              <a:t>未定</a:t>
            </a:r>
            <a:endParaRPr lang="en-US" sz="1400" dirty="0"/>
          </a:p>
        </p:txBody>
      </p:sp>
      <p:sp>
        <p:nvSpPr>
          <p:cNvPr id="20" name="Shape 18"/>
          <p:cNvSpPr/>
          <p:nvPr/>
        </p:nvSpPr>
        <p:spPr>
          <a:xfrm>
            <a:off x="5852160" y="5532120"/>
            <a:ext cx="5562295" cy="0"/>
          </a:xfrm>
          <a:prstGeom prst="line">
            <a:avLst/>
          </a:prstGeom>
          <a:noFill/>
          <a:ln w="9525">
            <a:solidFill>
              <a:srgbClr val="D3D7DE"/>
            </a:solidFill>
            <a:prstDash val="solid"/>
          </a:ln>
        </p:spPr>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22252E"/>
                </a:solidFill>
                <a:latin typeface="Cambria"/>
                <a:ea typeface="Cambria"/>
                <a:cs typeface="Cambria"/>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77240" y="548640"/>
            <a:ext cx="8229600" cy="292608"/>
          </a:xfrm>
          <a:prstGeom prst="rect">
            <a:avLst/>
          </a:prstGeom>
          <a:noFill/>
          <a:ln/>
        </p:spPr>
        <p:txBody>
          <a:bodyPr wrap="square" lIns="0" tIns="0" rIns="0" bIns="0" rtlCol="0" anchor="t"/>
          <a:lstStyle/>
          <a:p>
            <a:pPr indent="0" marL="0">
              <a:buNone/>
            </a:pPr>
            <a:r>
              <a:rPr lang="en-US" sz="1300" b="1" i="1" spc="200" kern="0" dirty="0">
                <a:solidFill>
                  <a:srgbClr val="7FD1CC"/>
                </a:solidFill>
                <a:latin typeface="Cambria" pitchFamily="34" charset="0"/>
                <a:ea typeface="Cambria" pitchFamily="34" charset="-122"/>
                <a:cs typeface="Cambria" pitchFamily="34" charset="-120"/>
              </a:rPr>
              <a:t>TAKEAWAY</a:t>
            </a:r>
            <a:endParaRPr lang="en-US" sz="1300" dirty="0"/>
          </a:p>
        </p:txBody>
      </p:sp>
      <p:sp>
        <p:nvSpPr>
          <p:cNvPr id="3" name="Text 1"/>
          <p:cNvSpPr txBox="1"/>
          <p:nvPr/>
        </p:nvSpPr>
        <p:spPr>
          <a:xfrm>
            <a:off x="777240" y="1280160"/>
            <a:ext cx="10637215" cy="2011680"/>
          </a:xfrm>
          <a:prstGeom prst="rect">
            <a:avLst/>
          </a:prstGeom>
          <a:noFill/>
          <a:ln/>
        </p:spPr>
        <p:txBody>
          <a:bodyPr wrap="square" lIns="0" tIns="0" rIns="0" bIns="0" rtlCol="0" anchor="t"/>
          <a:lstStyle/>
          <a:p>
            <a:pPr indent="0" marL="0">
              <a:lnSpc>
                <a:spcPct val="120000"/>
              </a:lnSpc>
              <a:buNone/>
            </a:pPr>
            <a:r>
              <a:rPr lang="en-US" sz="4800" b="1" dirty="0">
                <a:solidFill>
                  <a:srgbClr val="FFFFFF"/>
                </a:solidFill>
                <a:latin typeface="BIZ UDPGothic" pitchFamily="34" charset="0"/>
                <a:ea typeface="BIZ UDPGothic" pitchFamily="34" charset="-122"/>
                <a:cs typeface="BIZ UDPGothic" pitchFamily="34" charset="-120"/>
              </a:rPr>
              <a:t>考え続ける。対話し続ける。</a:t>
            </a:r>
            <a:endParaRPr lang="en-US" sz="4800" dirty="0"/>
          </a:p>
          <a:p>
            <a:pPr indent="0" marL="0">
              <a:lnSpc>
                <a:spcPct val="120000"/>
              </a:lnSpc>
              <a:buNone/>
            </a:pPr>
            <a:r>
              <a:rPr lang="en-US" sz="4800" b="1" dirty="0">
                <a:solidFill>
                  <a:srgbClr val="FFFFFF"/>
                </a:solidFill>
                <a:latin typeface="BIZ UDPGothic" pitchFamily="34" charset="0"/>
                <a:ea typeface="BIZ UDPGothic" pitchFamily="34" charset="-122"/>
                <a:cs typeface="BIZ UDPGothic" pitchFamily="34" charset="-120"/>
              </a:rPr>
              <a:t>貯め続ける。</a:t>
            </a:r>
            <a:endParaRPr lang="en-US" sz="4800" dirty="0"/>
          </a:p>
        </p:txBody>
      </p:sp>
      <p:sp>
        <p:nvSpPr>
          <p:cNvPr id="4" name="Shape 2"/>
          <p:cNvSpPr/>
          <p:nvPr/>
        </p:nvSpPr>
        <p:spPr>
          <a:xfrm>
            <a:off x="777240" y="3429000"/>
            <a:ext cx="2011680" cy="54864"/>
          </a:xfrm>
          <a:prstGeom prst="rect">
            <a:avLst/>
          </a:prstGeom>
          <a:solidFill>
            <a:srgbClr val="0E8C88"/>
          </a:solidFill>
          <a:ln/>
        </p:spPr>
      </p:sp>
      <p:sp>
        <p:nvSpPr>
          <p:cNvPr id="5" name="Text 3"/>
          <p:cNvSpPr txBox="1"/>
          <p:nvPr/>
        </p:nvSpPr>
        <p:spPr>
          <a:xfrm>
            <a:off x="777240" y="3886200"/>
            <a:ext cx="822960" cy="457200"/>
          </a:xfrm>
          <a:prstGeom prst="rect">
            <a:avLst/>
          </a:prstGeom>
          <a:noFill/>
          <a:ln/>
        </p:spPr>
        <p:txBody>
          <a:bodyPr wrap="square" lIns="0" tIns="0" rIns="0" bIns="0" rtlCol="0" anchor="t"/>
          <a:lstStyle/>
          <a:p>
            <a:pPr indent="0" marL="0">
              <a:buNone/>
            </a:pPr>
            <a:r>
              <a:rPr lang="en-US" sz="2200" b="1" dirty="0">
                <a:solidFill>
                  <a:srgbClr val="6E7581"/>
                </a:solidFill>
                <a:latin typeface="Cambria" pitchFamily="34" charset="0"/>
                <a:ea typeface="Cambria" pitchFamily="34" charset="-122"/>
                <a:cs typeface="Cambria" pitchFamily="34" charset="-120"/>
              </a:rPr>
              <a:t>01</a:t>
            </a:r>
            <a:endParaRPr lang="en-US" sz="2200" dirty="0"/>
          </a:p>
        </p:txBody>
      </p:sp>
      <p:sp>
        <p:nvSpPr>
          <p:cNvPr id="6" name="Text 4"/>
          <p:cNvSpPr txBox="1"/>
          <p:nvPr/>
        </p:nvSpPr>
        <p:spPr>
          <a:xfrm>
            <a:off x="1691640" y="3913632"/>
            <a:ext cx="4114800" cy="411480"/>
          </a:xfrm>
          <a:prstGeom prst="rect">
            <a:avLst/>
          </a:prstGeom>
          <a:noFill/>
          <a:ln/>
        </p:spPr>
        <p:txBody>
          <a:bodyPr wrap="square" lIns="0" tIns="0" rIns="0" bIns="0" rtlCol="0" anchor="t"/>
          <a:lstStyle/>
          <a:p>
            <a:pPr indent="0" marL="0">
              <a:buNone/>
            </a:pPr>
            <a:r>
              <a:rPr lang="en-US" sz="2000" b="1" dirty="0">
                <a:solidFill>
                  <a:srgbClr val="FFFFFF"/>
                </a:solidFill>
                <a:latin typeface="BIZ UDPGothic" pitchFamily="34" charset="0"/>
                <a:ea typeface="BIZ UDPGothic" pitchFamily="34" charset="-122"/>
                <a:cs typeface="BIZ UDPGothic" pitchFamily="34" charset="-120"/>
              </a:rPr>
              <a:t>課題を考え続ける</a:t>
            </a:r>
            <a:endParaRPr lang="en-US" sz="2000" dirty="0"/>
          </a:p>
        </p:txBody>
      </p:sp>
      <p:sp>
        <p:nvSpPr>
          <p:cNvPr id="7" name="Text 5"/>
          <p:cNvSpPr txBox="1"/>
          <p:nvPr/>
        </p:nvSpPr>
        <p:spPr>
          <a:xfrm>
            <a:off x="5715000" y="3950208"/>
            <a:ext cx="5699455" cy="365760"/>
          </a:xfrm>
          <a:prstGeom prst="rect">
            <a:avLst/>
          </a:prstGeom>
          <a:noFill/>
          <a:ln/>
        </p:spPr>
        <p:txBody>
          <a:bodyPr wrap="square" lIns="0" tIns="0" rIns="0" bIns="0" rtlCol="0" anchor="t"/>
          <a:lstStyle/>
          <a:p>
            <a:pPr indent="0" marL="0">
              <a:buNone/>
            </a:pPr>
            <a:r>
              <a:rPr lang="en-US" sz="1400" dirty="0">
                <a:solidFill>
                  <a:srgbClr val="C3C8D0"/>
                </a:solidFill>
                <a:latin typeface="BIZ UDPGothic" pitchFamily="34" charset="0"/>
                <a:ea typeface="BIZ UDPGothic" pitchFamily="34" charset="-122"/>
                <a:cs typeface="BIZ UDPGothic" pitchFamily="34" charset="-120"/>
              </a:rPr>
              <a:t>自分は何に困っているか。周りは何に困っているか。</a:t>
            </a:r>
            <a:endParaRPr lang="en-US" sz="1400" dirty="0"/>
          </a:p>
        </p:txBody>
      </p:sp>
      <p:sp>
        <p:nvSpPr>
          <p:cNvPr id="8" name="Text 6"/>
          <p:cNvSpPr txBox="1"/>
          <p:nvPr/>
        </p:nvSpPr>
        <p:spPr>
          <a:xfrm>
            <a:off x="777240" y="4526280"/>
            <a:ext cx="822960" cy="457200"/>
          </a:xfrm>
          <a:prstGeom prst="rect">
            <a:avLst/>
          </a:prstGeom>
          <a:noFill/>
          <a:ln/>
        </p:spPr>
        <p:txBody>
          <a:bodyPr wrap="square" lIns="0" tIns="0" rIns="0" bIns="0" rtlCol="0" anchor="t"/>
          <a:lstStyle/>
          <a:p>
            <a:pPr indent="0" marL="0">
              <a:buNone/>
            </a:pPr>
            <a:r>
              <a:rPr lang="en-US" sz="2200" b="1" dirty="0">
                <a:solidFill>
                  <a:srgbClr val="6E7581"/>
                </a:solidFill>
                <a:latin typeface="Cambria" pitchFamily="34" charset="0"/>
                <a:ea typeface="Cambria" pitchFamily="34" charset="-122"/>
                <a:cs typeface="Cambria" pitchFamily="34" charset="-120"/>
              </a:rPr>
              <a:t>02</a:t>
            </a:r>
            <a:endParaRPr lang="en-US" sz="2200" dirty="0"/>
          </a:p>
        </p:txBody>
      </p:sp>
      <p:sp>
        <p:nvSpPr>
          <p:cNvPr id="9" name="Text 7"/>
          <p:cNvSpPr txBox="1"/>
          <p:nvPr/>
        </p:nvSpPr>
        <p:spPr>
          <a:xfrm>
            <a:off x="1691640" y="4553712"/>
            <a:ext cx="4114800" cy="411480"/>
          </a:xfrm>
          <a:prstGeom prst="rect">
            <a:avLst/>
          </a:prstGeom>
          <a:noFill/>
          <a:ln/>
        </p:spPr>
        <p:txBody>
          <a:bodyPr wrap="square" lIns="0" tIns="0" rIns="0" bIns="0" rtlCol="0" anchor="t"/>
          <a:lstStyle/>
          <a:p>
            <a:pPr indent="0" marL="0">
              <a:buNone/>
            </a:pPr>
            <a:r>
              <a:rPr lang="en-US" sz="2000" b="1" dirty="0">
                <a:solidFill>
                  <a:srgbClr val="FFFFFF"/>
                </a:solidFill>
                <a:latin typeface="BIZ UDPGothic" pitchFamily="34" charset="0"/>
                <a:ea typeface="BIZ UDPGothic" pitchFamily="34" charset="-122"/>
                <a:cs typeface="BIZ UDPGothic" pitchFamily="34" charset="-120"/>
              </a:rPr>
              <a:t>AIと対話し続ける</a:t>
            </a:r>
            <a:endParaRPr lang="en-US" sz="2000" dirty="0"/>
          </a:p>
        </p:txBody>
      </p:sp>
      <p:sp>
        <p:nvSpPr>
          <p:cNvPr id="10" name="Text 8"/>
          <p:cNvSpPr txBox="1"/>
          <p:nvPr/>
        </p:nvSpPr>
        <p:spPr>
          <a:xfrm>
            <a:off x="5715000" y="4590288"/>
            <a:ext cx="5699455" cy="365760"/>
          </a:xfrm>
          <a:prstGeom prst="rect">
            <a:avLst/>
          </a:prstGeom>
          <a:noFill/>
          <a:ln/>
        </p:spPr>
        <p:txBody>
          <a:bodyPr wrap="square" lIns="0" tIns="0" rIns="0" bIns="0" rtlCol="0" anchor="t"/>
          <a:lstStyle/>
          <a:p>
            <a:pPr indent="0" marL="0">
              <a:buNone/>
            </a:pPr>
            <a:r>
              <a:rPr lang="en-US" sz="1400" dirty="0">
                <a:solidFill>
                  <a:srgbClr val="C3C8D0"/>
                </a:solidFill>
                <a:latin typeface="BIZ UDPGothic" pitchFamily="34" charset="0"/>
                <a:ea typeface="BIZ UDPGothic" pitchFamily="34" charset="-122"/>
                <a:cs typeface="BIZ UDPGothic" pitchFamily="34" charset="-120"/>
              </a:rPr>
              <a:t>その課題、AIで解決できないか。毎回聞いてみる。</a:t>
            </a:r>
            <a:endParaRPr lang="en-US" sz="1400" dirty="0"/>
          </a:p>
        </p:txBody>
      </p:sp>
      <p:sp>
        <p:nvSpPr>
          <p:cNvPr id="11" name="Text 9"/>
          <p:cNvSpPr txBox="1"/>
          <p:nvPr/>
        </p:nvSpPr>
        <p:spPr>
          <a:xfrm>
            <a:off x="777240" y="5166360"/>
            <a:ext cx="822960" cy="457200"/>
          </a:xfrm>
          <a:prstGeom prst="rect">
            <a:avLst/>
          </a:prstGeom>
          <a:noFill/>
          <a:ln/>
        </p:spPr>
        <p:txBody>
          <a:bodyPr wrap="square" lIns="0" tIns="0" rIns="0" bIns="0" rtlCol="0" anchor="t"/>
          <a:lstStyle/>
          <a:p>
            <a:pPr indent="0" marL="0">
              <a:buNone/>
            </a:pPr>
            <a:r>
              <a:rPr lang="en-US" sz="2200" b="1" dirty="0">
                <a:solidFill>
                  <a:srgbClr val="7FD1CC"/>
                </a:solidFill>
                <a:latin typeface="Cambria" pitchFamily="34" charset="0"/>
                <a:ea typeface="Cambria" pitchFamily="34" charset="-122"/>
                <a:cs typeface="Cambria" pitchFamily="34" charset="-120"/>
              </a:rPr>
              <a:t>03</a:t>
            </a:r>
            <a:endParaRPr lang="en-US" sz="2200" dirty="0"/>
          </a:p>
        </p:txBody>
      </p:sp>
      <p:sp>
        <p:nvSpPr>
          <p:cNvPr id="12" name="Text 10"/>
          <p:cNvSpPr txBox="1"/>
          <p:nvPr/>
        </p:nvSpPr>
        <p:spPr>
          <a:xfrm>
            <a:off x="1691640" y="5193792"/>
            <a:ext cx="4114800" cy="411480"/>
          </a:xfrm>
          <a:prstGeom prst="rect">
            <a:avLst/>
          </a:prstGeom>
          <a:noFill/>
          <a:ln/>
        </p:spPr>
        <p:txBody>
          <a:bodyPr wrap="square" lIns="0" tIns="0" rIns="0" bIns="0" rtlCol="0" anchor="t"/>
          <a:lstStyle/>
          <a:p>
            <a:pPr indent="0" marL="0">
              <a:buNone/>
            </a:pPr>
            <a:r>
              <a:rPr lang="en-US" sz="2000" b="1" dirty="0">
                <a:solidFill>
                  <a:srgbClr val="FFFFFF"/>
                </a:solidFill>
                <a:latin typeface="BIZ UDPGothic" pitchFamily="34" charset="0"/>
                <a:ea typeface="BIZ UDPGothic" pitchFamily="34" charset="-122"/>
                <a:cs typeface="BIZ UDPGothic" pitchFamily="34" charset="-120"/>
              </a:rPr>
              <a:t>コンテキストを貯める</a:t>
            </a:r>
            <a:endParaRPr lang="en-US" sz="2000" dirty="0"/>
          </a:p>
        </p:txBody>
      </p:sp>
      <p:sp>
        <p:nvSpPr>
          <p:cNvPr id="13" name="Text 11"/>
          <p:cNvSpPr txBox="1"/>
          <p:nvPr/>
        </p:nvSpPr>
        <p:spPr>
          <a:xfrm>
            <a:off x="5715000" y="5230368"/>
            <a:ext cx="5699455" cy="365760"/>
          </a:xfrm>
          <a:prstGeom prst="rect">
            <a:avLst/>
          </a:prstGeom>
          <a:noFill/>
          <a:ln/>
        </p:spPr>
        <p:txBody>
          <a:bodyPr wrap="square" lIns="0" tIns="0" rIns="0" bIns="0" rtlCol="0" anchor="t"/>
          <a:lstStyle/>
          <a:p>
            <a:pPr indent="0" marL="0">
              <a:buNone/>
            </a:pPr>
            <a:r>
              <a:rPr lang="en-US" sz="1400" dirty="0">
                <a:solidFill>
                  <a:srgbClr val="C3C8D0"/>
                </a:solidFill>
                <a:latin typeface="BIZ UDPGothic" pitchFamily="34" charset="0"/>
                <a:ea typeface="BIZ UDPGothic" pitchFamily="34" charset="-122"/>
                <a:cs typeface="BIZ UDPGothic" pitchFamily="34" charset="-120"/>
              </a:rPr>
              <a:t>自分の一次情報を残す。これだけは全員やる。</a:t>
            </a:r>
            <a:endParaRPr lang="en-US" sz="1400" dirty="0"/>
          </a:p>
        </p:txBody>
      </p:sp>
      <p:sp>
        <p:nvSpPr>
          <p:cNvPr id="25" name="Slide Number Placeholder 0"/>
          <p:cNvSpPr>
            <a:spLocks noGrp="1"/>
          </p:cNvSpPr>
          <p:nvPr>
            <p:ph type="sldNum" sz="quarter" idx="4294967295"/>
          </p:nvPr>
        </p:nvSpPr>
        <p:spPr>
          <a:xfrm>
            <a:off x="10682935" y="6400800"/>
            <a:ext cx="731520" cy="274320"/>
          </a:xfrm>
          <a:prstGeom prst="rect">
            <a:avLst/>
          </a:prstGeom>
          <a:extLst>
            <a:ext uri="{C572A759-6A51-4108-AA02-DFA0A04FC94B}">
              <ma14:wrappingTextBoxFlag xmlns:ma14="http://schemas.microsoft.com/office/mac/drawingml/2011/main" val="0"/>
            </a:ext>
          </a:extLst>
        </p:spPr>
        <p:txBody>
          <a:bodyPr lIns="0" tIns="0" rIns="0" bIns="0"/>
          <a:lstStyle>
            <a:lvl1pPr>
              <a:defRPr sz="1100">
                <a:solidFill>
                  <a:srgbClr val="FFFFFF"/>
                </a:solidFill>
                <a:latin typeface="Cambria"/>
                <a:ea typeface="Cambria"/>
                <a:cs typeface="Cambria"/>
              </a:defRPr>
            </a:lvl1pPr>
          </a:lstStyle>
          <a:p>
            <a:pPr algn="r"/>
            <a:fld id="{F7021451-1387-4CA6-816F-3879F97B5CBC}" type="slidenum">
              <a:rPr b="1" lang="en-US"/>
              <a:t>18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IZ UDP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IZ UDP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AI成果発表会</dc:title>
  <dc:subject>PptxGenJS Presentation</dc:subject>
  <dc:creator>株式会社ティーズブレイン</dc:creator>
  <cp:lastModifiedBy>株式会社ティーズブレイン</cp:lastModifiedBy>
  <cp:revision>1</cp:revision>
  <dcterms:created xsi:type="dcterms:W3CDTF">2026-10-05T06:12:01Z</dcterms:created>
  <dcterms:modified xsi:type="dcterms:W3CDTF">2026-10-05T06:12:01Z</dcterms:modified>
</cp:coreProperties>
</file>