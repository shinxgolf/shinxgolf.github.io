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本日は、営業の顧客フォローを仕組み化する新しいツール『TRACE』をご提案します。TRACEはTotal Relationship &amp; AI Customer Engineの略で、『会ったはずの相手を忘れない』、つまりフォロー漏れによる機会損失をなくすことを目的としています。既存のMicrosoft 365環境だけで、追加コストゼロで作ったテスト版です。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現状の課題です。大きく3つ。既存顧客は、移転プロジェクトが終わった瞬間にフォローが途絶え、数年後に他社経由で移転されてしまう。仲介業者は、訪問が滞ると紹介も止まります。年に2件紹介をもらえれば優秀という世界なので、関係維持そのものが営業活動です。そして今はExcel管理で、最後にいつ会ったかが一覧で見えない。共通する根っこは『最終接触日が見えていない』ことです。ここを起点に解決策を設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解決策の核心はシンプルです。ステータス管理はあえてしません。更新されずに形骸化するからです。代わりに『最終接触日』だけを見て、放置されている相手を自動で浮かび上がらせます。仲介業者は2ヶ月、既存顧客は6ヶ月で黄色、1年で赤のアラート。案件が進行中のお客様はKintoneに任せ、TRACEのアラートからは自動で外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には2つの目的があります。1つ目は営業向け。フォロー記録を限りなく簡単にすること。スマホで30秒、種別を選んでテキストを入れればAIが要約してくれます。2つ目はマネジメント向け。フォロー状況を可視化し、誰がどこをフォローできていないかを発見できるようにすることです。この後、それぞれ実際の画面でお見せ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デモの1つ目、営業モードです。実機（またはプロトタイプ）でお見せします。ホームの『訪問を記録する』を押し、相手を選び、種別を選択。訪問アポ・ついで・電話に加え、メールの重要事項や思いつきを残す『メモ』も用意しました。テキストを貼るか録音すると、AIが要約し、次回フォロー日や決算月などの更新を提案します。ここで実際に1件、30秒で記録してみ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デモは、AIによるメール下書きです。詳細画面で『メール下書き作成』を押すと、相手の趣味や前回の会話、訪問履歴を踏まえた文面を生成します。『息子さんの野球、準優勝おめでとうございます』といった一言まで自動で入ります。関係構築が物を言う仲介業者営業と非常に相性が良い機能です。なお現環境ではOutlookの下書きに直接保存、難しければPCで文章を生成してコピーする形で実現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デモはマネジメントダッシュボードです。上部のKPIで全体の訪問件数・未フォロー件数・アラート数が一目で分かります。下段は担当者別カードで、未フォローが多い順に並びます。誰のフォローが滞っているかが即座に分かります。そして右下、週次報告。毎週火曜13時に自動でTeamsへサマリーが届きます。水曜朝の会議の前日に状況を把握できる設計です。この曜日・時刻は、会議が変わっても設定画面から変更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重要なのはコストです。TRACEはすでに契約済みのMicrosoft 365の上に作っています。Power AppsでUI、SharePointでデータ、Power Automateで自動化、CopilotでAI。すべて既存の枠内です。つまりテスト段階は追加コストゼロ。本番で営業メンバーに展開する時だけ、使う人数分のPower Appsライセンス、1人あたり月750円程度が必要になります。営業3名なら月2,250円程度です。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は段階的に進めます。今はフェーズ1、私1人でのテスト検証です。ご承認いただければフェーズ2として営業チームに展開し、その時点で初めてライセンスコストが発生します。フェーズ3では音声の全自動化やKintone連携でさらに省力化していきます。いきなり全社導入ではなく、効果を確認しながらリスクなく広げられ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将来像です。1つ目は音声のワンボタン全自動化。録音するだけで文字起こしから要約、情報更新まで全自動にします。2つ目はKintoneのスケジュール連携。予定の双方向同期で、これは技術的に実現可能なことを確認済みです。3つ目は紹介経路の分析。直接案件と仲介経由の比較や、仲介業者ごとの貢献度をデータで見られる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期待効果は3つ。フォロー漏れの削減による機会損失の防止。誰がフォローできていないかの早期発見。そして訪問準備や引き継ぎの効率化です。いずれも、これまで属人的で見えなかったものを仕組みで可視化することで実現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最後にご依頼事項です。2点。1つ目、テスト版の動作と効果をご確認いただき、営業チームへの展開可否をご判断ください。2つ目、展開時のPower Appsライセンス追加、営業人数分のご承認をお願いします。TRACEで『会ったはずの相手を、忘れない』営業を実現します。ご清聴ありがとうございました。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40280"/>
            <a:ext cx="10058400" cy="1280160"/>
          </a:xfrm>
          <a:prstGeom prst="rect">
            <a:avLst/>
          </a:prstGeom>
          <a:noFill/>
        </p:spPr>
        <p:txBody>
          <a:bodyPr wrap="square" anchor="t" lIns="0" rIns="0" tIns="0" bIns="0">
            <a:spAutoFit/>
          </a:bodyPr>
          <a:lstStyle/>
          <a:p>
            <a:pPr algn="l">
              <a:lnSpc>
                <a:spcPct val="100000"/>
              </a:lnSpc>
            </a:pPr>
            <a:r>
              <a:rPr sz="7200" b="1">
                <a:solidFill>
                  <a:srgbClr val="00D4FF"/>
                </a:solidFill>
                <a:latin typeface="Arial Black"/>
              </a:rPr>
              <a:t>T</a:t>
            </a:r>
            <a:r>
              <a:rPr sz="7200" b="1">
                <a:solidFill>
                  <a:srgbClr val="F0F4F8"/>
                </a:solidFill>
                <a:latin typeface="Arial Black"/>
              </a:rPr>
              <a:t>RACE</a:t>
            </a:r>
          </a:p>
        </p:txBody>
      </p:sp>
      <p:sp>
        <p:nvSpPr>
          <p:cNvPr id="6" name="TextBox 5"/>
          <p:cNvSpPr txBox="1"/>
          <p:nvPr/>
        </p:nvSpPr>
        <p:spPr>
          <a:xfrm>
            <a:off x="960120" y="3429000"/>
            <a:ext cx="10058400" cy="457200"/>
          </a:xfrm>
          <a:prstGeom prst="rect">
            <a:avLst/>
          </a:prstGeom>
          <a:noFill/>
        </p:spPr>
        <p:txBody>
          <a:bodyPr wrap="square" anchor="t" lIns="0" rIns="0" tIns="0" bIns="0">
            <a:spAutoFit/>
          </a:bodyPr>
          <a:lstStyle/>
          <a:p>
            <a:pPr algn="l">
              <a:lnSpc>
                <a:spcPct val="100000"/>
              </a:lnSpc>
            </a:pPr>
            <a:r>
              <a:rPr sz="1500" b="1">
                <a:solidFill>
                  <a:srgbClr val="8899AA"/>
                </a:solidFill>
                <a:latin typeface="Arial"/>
              </a:rPr>
              <a:t>TOTAL  RELATIONSHIP  &amp;  AI  CUSTOMER  ENGINE</a:t>
            </a:r>
          </a:p>
        </p:txBody>
      </p:sp>
      <p:sp>
        <p:nvSpPr>
          <p:cNvPr id="7" name="TextBox 6"/>
          <p:cNvSpPr txBox="1"/>
          <p:nvPr/>
        </p:nvSpPr>
        <p:spPr>
          <a:xfrm>
            <a:off x="960120" y="4160520"/>
            <a:ext cx="10058400" cy="548640"/>
          </a:xfrm>
          <a:prstGeom prst="rect">
            <a:avLst/>
          </a:prstGeom>
          <a:noFill/>
        </p:spPr>
        <p:txBody>
          <a:bodyPr wrap="square" anchor="t" lIns="0" rIns="0" tIns="0" bIns="0">
            <a:spAutoFit/>
          </a:bodyPr>
          <a:lstStyle/>
          <a:p>
            <a:pPr algn="l">
              <a:lnSpc>
                <a:spcPct val="100000"/>
              </a:lnSpc>
            </a:pPr>
            <a:r>
              <a:rPr sz="2600" b="1">
                <a:solidFill>
                  <a:srgbClr val="F0F4F8"/>
                </a:solidFill>
                <a:latin typeface="Arial"/>
              </a:rPr>
              <a:t>会ったはずの相手を、忘れない。</a:t>
            </a:r>
          </a:p>
        </p:txBody>
      </p:sp>
      <p:sp>
        <p:nvSpPr>
          <p:cNvPr id="8" name="TextBox 7"/>
          <p:cNvSpPr txBox="1"/>
          <p:nvPr/>
        </p:nvSpPr>
        <p:spPr>
          <a:xfrm>
            <a:off x="960120" y="5852160"/>
            <a:ext cx="10058400" cy="365760"/>
          </a:xfrm>
          <a:prstGeom prst="rect">
            <a:avLst/>
          </a:prstGeom>
          <a:noFill/>
        </p:spPr>
        <p:txBody>
          <a:bodyPr wrap="square" anchor="t" lIns="0" rIns="0" tIns="0" bIns="0">
            <a:spAutoFit/>
          </a:bodyPr>
          <a:lstStyle/>
          <a:p>
            <a:pPr algn="l">
              <a:lnSpc>
                <a:spcPct val="100000"/>
              </a:lnSpc>
            </a:pPr>
            <a:r>
              <a:rPr sz="1300" b="0">
                <a:solidFill>
                  <a:srgbClr val="8899AA"/>
                </a:solidFill>
                <a:latin typeface="Arial"/>
              </a:rPr>
              <a:t>ティーズブレイン  顧客フォロー基盤  ／  事業推進会議 提案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課題：フォローの“穴”が機会損失になっている</a:t>
            </a:r>
          </a:p>
        </p:txBody>
      </p:sp>
      <p:sp>
        <p:nvSpPr>
          <p:cNvPr id="4" name="Rounded Rectangle 3"/>
          <p:cNvSpPr/>
          <p:nvPr/>
        </p:nvSpPr>
        <p:spPr>
          <a:xfrm>
            <a:off x="822960" y="1737360"/>
            <a:ext cx="3456432" cy="356616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43000" y="2057400"/>
            <a:ext cx="731520" cy="731520"/>
          </a:xfrm>
          <a:prstGeom prst="ellipse">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130552"/>
            <a:ext cx="731520" cy="548640"/>
          </a:xfrm>
          <a:prstGeom prst="rect">
            <a:avLst/>
          </a:prstGeom>
          <a:noFill/>
        </p:spPr>
        <p:txBody>
          <a:bodyPr wrap="square" anchor="ctr" lIns="0" rIns="0" tIns="0" bIns="0">
            <a:spAutoFit/>
          </a:bodyPr>
          <a:lstStyle/>
          <a:p>
            <a:pPr algn="ctr">
              <a:lnSpc>
                <a:spcPct val="100000"/>
              </a:lnSpc>
            </a:pPr>
            <a:r>
              <a:rPr sz="2600" b="0">
                <a:solidFill>
                  <a:srgbClr val="F0F4F8"/>
                </a:solidFill>
                <a:latin typeface="Arial"/>
              </a:rPr>
              <a:t>🏢</a:t>
            </a:r>
          </a:p>
        </p:txBody>
      </p:sp>
      <p:sp>
        <p:nvSpPr>
          <p:cNvPr id="7" name="Rectangle 6"/>
          <p:cNvSpPr/>
          <p:nvPr/>
        </p:nvSpPr>
        <p:spPr>
          <a:xfrm>
            <a:off x="1143000" y="3063240"/>
            <a:ext cx="822960" cy="64008"/>
          </a:xfrm>
          <a:prstGeom prst="rect">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200400"/>
            <a:ext cx="2834640" cy="457200"/>
          </a:xfrm>
          <a:prstGeom prst="rect">
            <a:avLst/>
          </a:prstGeom>
          <a:noFill/>
        </p:spPr>
        <p:txBody>
          <a:bodyPr wrap="square" anchor="t" lIns="0" rIns="0" tIns="0" bIns="0">
            <a:spAutoFit/>
          </a:bodyPr>
          <a:lstStyle/>
          <a:p>
            <a:pPr algn="l">
              <a:lnSpc>
                <a:spcPct val="100000"/>
              </a:lnSpc>
            </a:pPr>
            <a:r>
              <a:rPr sz="2000" b="1">
                <a:solidFill>
                  <a:srgbClr val="F0F4F8"/>
                </a:solidFill>
                <a:latin typeface="Arial"/>
              </a:rPr>
              <a:t>既存顧客</a:t>
            </a:r>
          </a:p>
        </p:txBody>
      </p:sp>
      <p:sp>
        <p:nvSpPr>
          <p:cNvPr id="9" name="TextBox 8"/>
          <p:cNvSpPr txBox="1"/>
          <p:nvPr/>
        </p:nvSpPr>
        <p:spPr>
          <a:xfrm>
            <a:off x="1143000" y="3749039"/>
            <a:ext cx="2834640" cy="1463040"/>
          </a:xfrm>
          <a:prstGeom prst="rect">
            <a:avLst/>
          </a:prstGeom>
          <a:noFill/>
        </p:spPr>
        <p:txBody>
          <a:bodyPr wrap="square" anchor="t" lIns="0" rIns="0" tIns="0" bIns="0">
            <a:spAutoFit/>
          </a:bodyPr>
          <a:lstStyle/>
          <a:p>
            <a:pPr algn="l">
              <a:lnSpc>
                <a:spcPct val="125000"/>
              </a:lnSpc>
            </a:pPr>
            <a:r>
              <a:rPr sz="1300" b="0">
                <a:solidFill>
                  <a:srgbClr val="8899AA"/>
                </a:solidFill>
                <a:latin typeface="Arial"/>
              </a:rPr>
              <a:t>移転後のフォローが数年途絶え、『気づいたら他社で移転していた』が起きている。レイアウト変更などの小さな商機も逃している。</a:t>
            </a:r>
          </a:p>
        </p:txBody>
      </p:sp>
      <p:sp>
        <p:nvSpPr>
          <p:cNvPr id="10" name="Rounded Rectangle 9"/>
          <p:cNvSpPr/>
          <p:nvPr/>
        </p:nvSpPr>
        <p:spPr>
          <a:xfrm>
            <a:off x="4526280" y="1737360"/>
            <a:ext cx="3456432" cy="356616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46320" y="2057400"/>
            <a:ext cx="731520" cy="731520"/>
          </a:xfrm>
          <a:prstGeom prst="ellipse">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0" y="2130552"/>
            <a:ext cx="731520" cy="548640"/>
          </a:xfrm>
          <a:prstGeom prst="rect">
            <a:avLst/>
          </a:prstGeom>
          <a:noFill/>
        </p:spPr>
        <p:txBody>
          <a:bodyPr wrap="square" anchor="ctr" lIns="0" rIns="0" tIns="0" bIns="0">
            <a:spAutoFit/>
          </a:bodyPr>
          <a:lstStyle/>
          <a:p>
            <a:pPr algn="ctr">
              <a:lnSpc>
                <a:spcPct val="100000"/>
              </a:lnSpc>
            </a:pPr>
            <a:r>
              <a:rPr sz="2600" b="0">
                <a:solidFill>
                  <a:srgbClr val="F0F4F8"/>
                </a:solidFill>
                <a:latin typeface="Arial"/>
              </a:rPr>
              <a:t>🤝</a:t>
            </a:r>
          </a:p>
        </p:txBody>
      </p:sp>
      <p:sp>
        <p:nvSpPr>
          <p:cNvPr id="13" name="Rectangle 12"/>
          <p:cNvSpPr/>
          <p:nvPr/>
        </p:nvSpPr>
        <p:spPr>
          <a:xfrm>
            <a:off x="4846320" y="3063240"/>
            <a:ext cx="822960" cy="6400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3200400"/>
            <a:ext cx="2834640" cy="457200"/>
          </a:xfrm>
          <a:prstGeom prst="rect">
            <a:avLst/>
          </a:prstGeom>
          <a:noFill/>
        </p:spPr>
        <p:txBody>
          <a:bodyPr wrap="square" anchor="t" lIns="0" rIns="0" tIns="0" bIns="0">
            <a:spAutoFit/>
          </a:bodyPr>
          <a:lstStyle/>
          <a:p>
            <a:pPr algn="l">
              <a:lnSpc>
                <a:spcPct val="100000"/>
              </a:lnSpc>
            </a:pPr>
            <a:r>
              <a:rPr sz="2000" b="1">
                <a:solidFill>
                  <a:srgbClr val="F0F4F8"/>
                </a:solidFill>
                <a:latin typeface="Arial"/>
              </a:rPr>
              <a:t>仲介業者</a:t>
            </a:r>
          </a:p>
        </p:txBody>
      </p:sp>
      <p:sp>
        <p:nvSpPr>
          <p:cNvPr id="15" name="TextBox 14"/>
          <p:cNvSpPr txBox="1"/>
          <p:nvPr/>
        </p:nvSpPr>
        <p:spPr>
          <a:xfrm>
            <a:off x="4846320" y="3749039"/>
            <a:ext cx="2834640" cy="1463040"/>
          </a:xfrm>
          <a:prstGeom prst="rect">
            <a:avLst/>
          </a:prstGeom>
          <a:noFill/>
        </p:spPr>
        <p:txBody>
          <a:bodyPr wrap="square" anchor="t" lIns="0" rIns="0" tIns="0" bIns="0">
            <a:spAutoFit/>
          </a:bodyPr>
          <a:lstStyle/>
          <a:p>
            <a:pPr algn="l">
              <a:lnSpc>
                <a:spcPct val="125000"/>
              </a:lnSpc>
            </a:pPr>
            <a:r>
              <a:rPr sz="1300" b="0">
                <a:solidFill>
                  <a:srgbClr val="8899AA"/>
                </a:solidFill>
                <a:latin typeface="Arial"/>
              </a:rPr>
              <a:t>訪問が滞ると紹介も止まる。年2件もらえれば優秀という世界で、関係維持が命。</a:t>
            </a:r>
          </a:p>
        </p:txBody>
      </p:sp>
      <p:sp>
        <p:nvSpPr>
          <p:cNvPr id="16" name="Rounded Rectangle 15"/>
          <p:cNvSpPr/>
          <p:nvPr/>
        </p:nvSpPr>
        <p:spPr>
          <a:xfrm>
            <a:off x="8229600" y="1737360"/>
            <a:ext cx="3456432" cy="356616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49640" y="2057400"/>
            <a:ext cx="731520" cy="731520"/>
          </a:xfrm>
          <a:prstGeom prst="ellipse">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2130552"/>
            <a:ext cx="731520" cy="548640"/>
          </a:xfrm>
          <a:prstGeom prst="rect">
            <a:avLst/>
          </a:prstGeom>
          <a:noFill/>
        </p:spPr>
        <p:txBody>
          <a:bodyPr wrap="square" anchor="ctr" lIns="0" rIns="0" tIns="0" bIns="0">
            <a:spAutoFit/>
          </a:bodyPr>
          <a:lstStyle/>
          <a:p>
            <a:pPr algn="ctr">
              <a:lnSpc>
                <a:spcPct val="100000"/>
              </a:lnSpc>
            </a:pPr>
            <a:r>
              <a:rPr sz="2600" b="0">
                <a:solidFill>
                  <a:srgbClr val="F0F4F8"/>
                </a:solidFill>
                <a:latin typeface="Arial"/>
              </a:rPr>
              <a:t>📊</a:t>
            </a:r>
          </a:p>
        </p:txBody>
      </p:sp>
      <p:sp>
        <p:nvSpPr>
          <p:cNvPr id="19" name="Rectangle 18"/>
          <p:cNvSpPr/>
          <p:nvPr/>
        </p:nvSpPr>
        <p:spPr>
          <a:xfrm>
            <a:off x="8549640" y="3063240"/>
            <a:ext cx="822960" cy="64008"/>
          </a:xfrm>
          <a:prstGeom prst="rect">
            <a:avLst/>
          </a:prstGeom>
          <a:solidFill>
            <a:srgbClr val="889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3200400"/>
            <a:ext cx="2834640" cy="457200"/>
          </a:xfrm>
          <a:prstGeom prst="rect">
            <a:avLst/>
          </a:prstGeom>
          <a:noFill/>
        </p:spPr>
        <p:txBody>
          <a:bodyPr wrap="square" anchor="t" lIns="0" rIns="0" tIns="0" bIns="0">
            <a:spAutoFit/>
          </a:bodyPr>
          <a:lstStyle/>
          <a:p>
            <a:pPr algn="l">
              <a:lnSpc>
                <a:spcPct val="100000"/>
              </a:lnSpc>
            </a:pPr>
            <a:r>
              <a:rPr sz="2000" b="1">
                <a:solidFill>
                  <a:srgbClr val="F0F4F8"/>
                </a:solidFill>
                <a:latin typeface="Arial"/>
              </a:rPr>
              <a:t>現状のExcel</a:t>
            </a:r>
          </a:p>
        </p:txBody>
      </p:sp>
      <p:sp>
        <p:nvSpPr>
          <p:cNvPr id="21" name="TextBox 20"/>
          <p:cNvSpPr txBox="1"/>
          <p:nvPr/>
        </p:nvSpPr>
        <p:spPr>
          <a:xfrm>
            <a:off x="8549640" y="3749039"/>
            <a:ext cx="2834640" cy="1463040"/>
          </a:xfrm>
          <a:prstGeom prst="rect">
            <a:avLst/>
          </a:prstGeom>
          <a:noFill/>
        </p:spPr>
        <p:txBody>
          <a:bodyPr wrap="square" anchor="t" lIns="0" rIns="0" tIns="0" bIns="0">
            <a:spAutoFit/>
          </a:bodyPr>
          <a:lstStyle/>
          <a:p>
            <a:pPr algn="l">
              <a:lnSpc>
                <a:spcPct val="125000"/>
              </a:lnSpc>
            </a:pPr>
            <a:r>
              <a:rPr sz="1300" b="0">
                <a:solidFill>
                  <a:srgbClr val="8899AA"/>
                </a:solidFill>
                <a:latin typeface="Arial"/>
              </a:rPr>
              <a:t>『最後にいつ会ったか』が一覧で見えない。属人的で、抜け漏れに誰も気づけない。</a:t>
            </a:r>
          </a:p>
        </p:txBody>
      </p:sp>
      <p:sp>
        <p:nvSpPr>
          <p:cNvPr id="22" name="TextBox 21"/>
          <p:cNvSpPr txBox="1"/>
          <p:nvPr/>
        </p:nvSpPr>
        <p:spPr>
          <a:xfrm>
            <a:off x="822960" y="5577840"/>
            <a:ext cx="10515600" cy="731520"/>
          </a:xfrm>
          <a:prstGeom prst="rect">
            <a:avLst/>
          </a:prstGeom>
          <a:noFill/>
        </p:spPr>
        <p:txBody>
          <a:bodyPr wrap="square" anchor="t" lIns="0" rIns="0" tIns="0" bIns="0">
            <a:spAutoFit/>
          </a:bodyPr>
          <a:lstStyle/>
          <a:p>
            <a:pPr algn="l">
              <a:lnSpc>
                <a:spcPct val="100000"/>
              </a:lnSpc>
            </a:pPr>
            <a:r>
              <a:rPr sz="1500" b="0">
                <a:solidFill>
                  <a:srgbClr val="8899AA"/>
                </a:solidFill>
                <a:latin typeface="Arial"/>
              </a:rPr>
              <a:t>→ 共通の根っこは「</a:t>
            </a:r>
            <a:r>
              <a:rPr sz="1500" b="1">
                <a:solidFill>
                  <a:srgbClr val="00D4FF"/>
                </a:solidFill>
                <a:latin typeface="Arial"/>
              </a:rPr>
              <a:t>最後に接触した日が見えていない</a:t>
            </a:r>
            <a:r>
              <a:rPr sz="1500" b="0">
                <a:solidFill>
                  <a:srgbClr val="8899AA"/>
                </a:solidFill>
                <a:latin typeface="Arial"/>
              </a:rPr>
              <a:t>」こと。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解決の核心：「最終接触日」だけを見える化する</a:t>
            </a:r>
          </a:p>
        </p:txBody>
      </p:sp>
      <p:sp>
        <p:nvSpPr>
          <p:cNvPr id="4" name="TextBox 3"/>
          <p:cNvSpPr txBox="1"/>
          <p:nvPr/>
        </p:nvSpPr>
        <p:spPr>
          <a:xfrm>
            <a:off x="822960" y="1600200"/>
            <a:ext cx="10515600" cy="548640"/>
          </a:xfrm>
          <a:prstGeom prst="rect">
            <a:avLst/>
          </a:prstGeom>
          <a:noFill/>
        </p:spPr>
        <p:txBody>
          <a:bodyPr wrap="square" anchor="t" lIns="0" rIns="0" tIns="0" bIns="0">
            <a:spAutoFit/>
          </a:bodyPr>
          <a:lstStyle/>
          <a:p>
            <a:pPr algn="l">
              <a:lnSpc>
                <a:spcPct val="100000"/>
              </a:lnSpc>
            </a:pPr>
            <a:r>
              <a:rPr sz="1500" b="0">
                <a:solidFill>
                  <a:srgbClr val="8899AA"/>
                </a:solidFill>
                <a:latin typeface="Arial"/>
              </a:rPr>
              <a:t>複雑なステータス管理はしない（更新されないから）。放置されている相手が自動で浮かび上がる。</a:t>
            </a:r>
          </a:p>
        </p:txBody>
      </p:sp>
      <p:sp>
        <p:nvSpPr>
          <p:cNvPr id="5" name="Rounded Rectangle 4"/>
          <p:cNvSpPr/>
          <p:nvPr/>
        </p:nvSpPr>
        <p:spPr>
          <a:xfrm>
            <a:off x="822960" y="2468880"/>
            <a:ext cx="10515600" cy="960120"/>
          </a:xfrm>
          <a:prstGeom prst="roundRect">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468880"/>
            <a:ext cx="3200400" cy="960120"/>
          </a:xfrm>
          <a:prstGeom prst="rect">
            <a:avLst/>
          </a:prstGeom>
          <a:noFill/>
        </p:spPr>
        <p:txBody>
          <a:bodyPr wrap="square" anchor="ctr" lIns="0" rIns="0" tIns="0" bIns="0">
            <a:spAutoFit/>
          </a:bodyPr>
          <a:lstStyle/>
          <a:p>
            <a:pPr algn="l">
              <a:lnSpc>
                <a:spcPct val="100000"/>
              </a:lnSpc>
            </a:pPr>
            <a:r>
              <a:rPr sz="1700" b="1">
                <a:solidFill>
                  <a:srgbClr val="F0F4F8"/>
                </a:solidFill>
                <a:latin typeface="Arial"/>
              </a:rPr>
              <a:t>対象</a:t>
            </a:r>
          </a:p>
        </p:txBody>
      </p:sp>
      <p:sp>
        <p:nvSpPr>
          <p:cNvPr id="7" name="TextBox 6"/>
          <p:cNvSpPr txBox="1"/>
          <p:nvPr/>
        </p:nvSpPr>
        <p:spPr>
          <a:xfrm>
            <a:off x="4572000" y="2468880"/>
            <a:ext cx="3291840" cy="960120"/>
          </a:xfrm>
          <a:prstGeom prst="rect">
            <a:avLst/>
          </a:prstGeom>
          <a:noFill/>
        </p:spPr>
        <p:txBody>
          <a:bodyPr wrap="square" anchor="ctr" lIns="0" rIns="0" tIns="0" bIns="0">
            <a:spAutoFit/>
          </a:bodyPr>
          <a:lstStyle/>
          <a:p>
            <a:pPr algn="l">
              <a:lnSpc>
                <a:spcPct val="100000"/>
              </a:lnSpc>
            </a:pPr>
            <a:r>
              <a:rPr sz="1700" b="0">
                <a:solidFill>
                  <a:srgbClr val="F0F4F8"/>
                </a:solidFill>
                <a:latin typeface="Arial"/>
              </a:rPr>
              <a:t>黄アラート（警戒）</a:t>
            </a:r>
          </a:p>
        </p:txBody>
      </p:sp>
      <p:sp>
        <p:nvSpPr>
          <p:cNvPr id="8" name="TextBox 7"/>
          <p:cNvSpPr txBox="1"/>
          <p:nvPr/>
        </p:nvSpPr>
        <p:spPr>
          <a:xfrm>
            <a:off x="8046720" y="2468880"/>
            <a:ext cx="3108960" cy="960120"/>
          </a:xfrm>
          <a:prstGeom prst="rect">
            <a:avLst/>
          </a:prstGeom>
          <a:noFill/>
        </p:spPr>
        <p:txBody>
          <a:bodyPr wrap="square" anchor="ctr" lIns="0" rIns="0" tIns="0" bIns="0">
            <a:spAutoFit/>
          </a:bodyPr>
          <a:lstStyle/>
          <a:p>
            <a:pPr algn="l">
              <a:lnSpc>
                <a:spcPct val="100000"/>
              </a:lnSpc>
            </a:pPr>
            <a:r>
              <a:rPr sz="1700" b="0">
                <a:solidFill>
                  <a:srgbClr val="F0F4F8"/>
                </a:solidFill>
                <a:latin typeface="Arial"/>
              </a:rPr>
              <a:t>赤アラート（危険）</a:t>
            </a:r>
          </a:p>
        </p:txBody>
      </p:sp>
      <p:sp>
        <p:nvSpPr>
          <p:cNvPr id="9" name="Rounded Rectangle 8"/>
          <p:cNvSpPr/>
          <p:nvPr/>
        </p:nvSpPr>
        <p:spPr>
          <a:xfrm>
            <a:off x="822960" y="3538728"/>
            <a:ext cx="10515600" cy="9601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538728"/>
            <a:ext cx="3200400" cy="960120"/>
          </a:xfrm>
          <a:prstGeom prst="rect">
            <a:avLst/>
          </a:prstGeom>
          <a:noFill/>
        </p:spPr>
        <p:txBody>
          <a:bodyPr wrap="square" anchor="ctr" lIns="0" rIns="0" tIns="0" bIns="0">
            <a:spAutoFit/>
          </a:bodyPr>
          <a:lstStyle/>
          <a:p>
            <a:pPr algn="l">
              <a:lnSpc>
                <a:spcPct val="100000"/>
              </a:lnSpc>
            </a:pPr>
            <a:r>
              <a:rPr sz="1700" b="1">
                <a:solidFill>
                  <a:srgbClr val="F0F4F8"/>
                </a:solidFill>
                <a:latin typeface="Arial"/>
              </a:rPr>
              <a:t>仲介業者</a:t>
            </a:r>
          </a:p>
        </p:txBody>
      </p:sp>
      <p:sp>
        <p:nvSpPr>
          <p:cNvPr id="11" name="TextBox 10"/>
          <p:cNvSpPr txBox="1"/>
          <p:nvPr/>
        </p:nvSpPr>
        <p:spPr>
          <a:xfrm>
            <a:off x="4572000" y="3538728"/>
            <a:ext cx="3291840" cy="960120"/>
          </a:xfrm>
          <a:prstGeom prst="rect">
            <a:avLst/>
          </a:prstGeom>
          <a:noFill/>
        </p:spPr>
        <p:txBody>
          <a:bodyPr wrap="square" anchor="ctr" lIns="0" rIns="0" tIns="0" bIns="0">
            <a:spAutoFit/>
          </a:bodyPr>
          <a:lstStyle/>
          <a:p>
            <a:pPr algn="l">
              <a:lnSpc>
                <a:spcPct val="100000"/>
              </a:lnSpc>
            </a:pPr>
            <a:r>
              <a:rPr sz="1700" b="1">
                <a:solidFill>
                  <a:srgbClr val="FFB800"/>
                </a:solidFill>
                <a:latin typeface="Arial"/>
              </a:rPr>
              <a:t>2ヶ月 未接触</a:t>
            </a:r>
          </a:p>
        </p:txBody>
      </p:sp>
      <p:sp>
        <p:nvSpPr>
          <p:cNvPr id="12" name="TextBox 11"/>
          <p:cNvSpPr txBox="1"/>
          <p:nvPr/>
        </p:nvSpPr>
        <p:spPr>
          <a:xfrm>
            <a:off x="8046720" y="3538728"/>
            <a:ext cx="3108960" cy="960120"/>
          </a:xfrm>
          <a:prstGeom prst="rect">
            <a:avLst/>
          </a:prstGeom>
          <a:noFill/>
        </p:spPr>
        <p:txBody>
          <a:bodyPr wrap="square" anchor="ctr" lIns="0" rIns="0" tIns="0" bIns="0">
            <a:spAutoFit/>
          </a:bodyPr>
          <a:lstStyle/>
          <a:p>
            <a:pPr algn="l">
              <a:lnSpc>
                <a:spcPct val="100000"/>
              </a:lnSpc>
            </a:pPr>
            <a:r>
              <a:rPr sz="1700" b="1">
                <a:solidFill>
                  <a:srgbClr val="FF4444"/>
                </a:solidFill>
                <a:latin typeface="Arial"/>
              </a:rPr>
              <a:t>—</a:t>
            </a:r>
          </a:p>
        </p:txBody>
      </p:sp>
      <p:sp>
        <p:nvSpPr>
          <p:cNvPr id="13" name="Rounded Rectangle 12"/>
          <p:cNvSpPr/>
          <p:nvPr/>
        </p:nvSpPr>
        <p:spPr>
          <a:xfrm>
            <a:off x="822960" y="4608576"/>
            <a:ext cx="10515600" cy="9601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608576"/>
            <a:ext cx="3200400" cy="960120"/>
          </a:xfrm>
          <a:prstGeom prst="rect">
            <a:avLst/>
          </a:prstGeom>
          <a:noFill/>
        </p:spPr>
        <p:txBody>
          <a:bodyPr wrap="square" anchor="ctr" lIns="0" rIns="0" tIns="0" bIns="0">
            <a:spAutoFit/>
          </a:bodyPr>
          <a:lstStyle/>
          <a:p>
            <a:pPr algn="l">
              <a:lnSpc>
                <a:spcPct val="100000"/>
              </a:lnSpc>
            </a:pPr>
            <a:r>
              <a:rPr sz="1700" b="1">
                <a:solidFill>
                  <a:srgbClr val="F0F4F8"/>
                </a:solidFill>
                <a:latin typeface="Arial"/>
              </a:rPr>
              <a:t>既存顧客</a:t>
            </a:r>
          </a:p>
        </p:txBody>
      </p:sp>
      <p:sp>
        <p:nvSpPr>
          <p:cNvPr id="15" name="TextBox 14"/>
          <p:cNvSpPr txBox="1"/>
          <p:nvPr/>
        </p:nvSpPr>
        <p:spPr>
          <a:xfrm>
            <a:off x="4572000" y="4608576"/>
            <a:ext cx="3291840" cy="960120"/>
          </a:xfrm>
          <a:prstGeom prst="rect">
            <a:avLst/>
          </a:prstGeom>
          <a:noFill/>
        </p:spPr>
        <p:txBody>
          <a:bodyPr wrap="square" anchor="ctr" lIns="0" rIns="0" tIns="0" bIns="0">
            <a:spAutoFit/>
          </a:bodyPr>
          <a:lstStyle/>
          <a:p>
            <a:pPr algn="l">
              <a:lnSpc>
                <a:spcPct val="100000"/>
              </a:lnSpc>
            </a:pPr>
            <a:r>
              <a:rPr sz="1700" b="1">
                <a:solidFill>
                  <a:srgbClr val="FFB800"/>
                </a:solidFill>
                <a:latin typeface="Arial"/>
              </a:rPr>
              <a:t>6ヶ月 未接触</a:t>
            </a:r>
          </a:p>
        </p:txBody>
      </p:sp>
      <p:sp>
        <p:nvSpPr>
          <p:cNvPr id="16" name="TextBox 15"/>
          <p:cNvSpPr txBox="1"/>
          <p:nvPr/>
        </p:nvSpPr>
        <p:spPr>
          <a:xfrm>
            <a:off x="8046720" y="4608576"/>
            <a:ext cx="3108960" cy="960120"/>
          </a:xfrm>
          <a:prstGeom prst="rect">
            <a:avLst/>
          </a:prstGeom>
          <a:noFill/>
        </p:spPr>
        <p:txBody>
          <a:bodyPr wrap="square" anchor="ctr" lIns="0" rIns="0" tIns="0" bIns="0">
            <a:spAutoFit/>
          </a:bodyPr>
          <a:lstStyle/>
          <a:p>
            <a:pPr algn="l">
              <a:lnSpc>
                <a:spcPct val="100000"/>
              </a:lnSpc>
            </a:pPr>
            <a:r>
              <a:rPr sz="1700" b="1">
                <a:solidFill>
                  <a:srgbClr val="FF4444"/>
                </a:solidFill>
                <a:latin typeface="Arial"/>
              </a:rPr>
              <a:t>1年 未接触</a:t>
            </a:r>
          </a:p>
        </p:txBody>
      </p:sp>
      <p:sp>
        <p:nvSpPr>
          <p:cNvPr id="17" name="TextBox 16"/>
          <p:cNvSpPr txBox="1"/>
          <p:nvPr/>
        </p:nvSpPr>
        <p:spPr>
          <a:xfrm>
            <a:off x="822960" y="5943600"/>
            <a:ext cx="10515600" cy="457200"/>
          </a:xfrm>
          <a:prstGeom prst="rect">
            <a:avLst/>
          </a:prstGeom>
          <a:noFill/>
        </p:spPr>
        <p:txBody>
          <a:bodyPr wrap="square" anchor="t" lIns="0" rIns="0" tIns="0" bIns="0">
            <a:spAutoFit/>
          </a:bodyPr>
          <a:lstStyle/>
          <a:p>
            <a:pPr algn="l">
              <a:lnSpc>
                <a:spcPct val="100000"/>
              </a:lnSpc>
            </a:pPr>
            <a:r>
              <a:rPr sz="1300" b="0">
                <a:solidFill>
                  <a:srgbClr val="8899AA"/>
                </a:solidFill>
                <a:latin typeface="Arial"/>
              </a:rPr>
              <a:t>案件対応中（Kintoneで進行中）の顧客はアラート対象から自動除外。二重管理を防止。</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TRACE とは — 2つの目的</a:t>
            </a:r>
          </a:p>
        </p:txBody>
      </p:sp>
      <p:sp>
        <p:nvSpPr>
          <p:cNvPr id="4" name="Rounded Rectangle 3"/>
          <p:cNvSpPr/>
          <p:nvPr/>
        </p:nvSpPr>
        <p:spPr>
          <a:xfrm>
            <a:off x="822960" y="1828800"/>
            <a:ext cx="5120640" cy="384048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828800"/>
            <a:ext cx="5120640" cy="16459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331720"/>
            <a:ext cx="4389120" cy="548640"/>
          </a:xfrm>
          <a:prstGeom prst="rect">
            <a:avLst/>
          </a:prstGeom>
          <a:noFill/>
        </p:spPr>
        <p:txBody>
          <a:bodyPr wrap="square" anchor="t" lIns="0" rIns="0" tIns="0" bIns="0">
            <a:spAutoFit/>
          </a:bodyPr>
          <a:lstStyle/>
          <a:p>
            <a:pPr algn="l">
              <a:lnSpc>
                <a:spcPct val="100000"/>
              </a:lnSpc>
            </a:pPr>
            <a:r>
              <a:rPr sz="1600" b="1">
                <a:solidFill>
                  <a:srgbClr val="00D4FF"/>
                </a:solidFill>
                <a:latin typeface="Arial"/>
              </a:rPr>
              <a:t>① 営業</a:t>
            </a:r>
          </a:p>
        </p:txBody>
      </p:sp>
      <p:sp>
        <p:nvSpPr>
          <p:cNvPr id="7" name="TextBox 6"/>
          <p:cNvSpPr txBox="1"/>
          <p:nvPr/>
        </p:nvSpPr>
        <p:spPr>
          <a:xfrm>
            <a:off x="1188720" y="2926080"/>
            <a:ext cx="4480560" cy="914400"/>
          </a:xfrm>
          <a:prstGeom prst="rect">
            <a:avLst/>
          </a:prstGeom>
          <a:noFill/>
        </p:spPr>
        <p:txBody>
          <a:bodyPr wrap="square" anchor="t" lIns="0" rIns="0" tIns="0" bIns="0">
            <a:spAutoFit/>
          </a:bodyPr>
          <a:lstStyle/>
          <a:p>
            <a:pPr algn="l">
              <a:lnSpc>
                <a:spcPct val="110000"/>
              </a:lnSpc>
            </a:pPr>
            <a:r>
              <a:rPr sz="2400" b="1">
                <a:solidFill>
                  <a:srgbClr val="F0F4F8"/>
                </a:solidFill>
                <a:latin typeface="Arial"/>
              </a:rPr>
              <a:t>フォロー記録を</a:t>
            </a:r>
          </a:p>
          <a:p>
            <a:pPr algn="l">
              <a:lnSpc>
                <a:spcPct val="110000"/>
              </a:lnSpc>
            </a:pPr>
            <a:r>
              <a:rPr sz="2400" b="1">
                <a:solidFill>
                  <a:srgbClr val="F0F4F8"/>
                </a:solidFill>
                <a:latin typeface="Arial"/>
              </a:rPr>
              <a:t>限りなく簡単に</a:t>
            </a:r>
          </a:p>
        </p:txBody>
      </p:sp>
      <p:sp>
        <p:nvSpPr>
          <p:cNvPr id="8" name="TextBox 7"/>
          <p:cNvSpPr txBox="1"/>
          <p:nvPr/>
        </p:nvSpPr>
        <p:spPr>
          <a:xfrm>
            <a:off x="1188720" y="4114800"/>
            <a:ext cx="4480560" cy="1280160"/>
          </a:xfrm>
          <a:prstGeom prst="rect">
            <a:avLst/>
          </a:prstGeom>
          <a:noFill/>
        </p:spPr>
        <p:txBody>
          <a:bodyPr wrap="square" anchor="t" lIns="0" rIns="0" tIns="0" bIns="0">
            <a:spAutoFit/>
          </a:bodyPr>
          <a:lstStyle/>
          <a:p>
            <a:pPr algn="l">
              <a:lnSpc>
                <a:spcPct val="130000"/>
              </a:lnSpc>
            </a:pPr>
            <a:r>
              <a:rPr sz="1400" b="0">
                <a:solidFill>
                  <a:srgbClr val="8899AA"/>
                </a:solidFill>
                <a:latin typeface="Arial"/>
              </a:rPr>
              <a:t>スマホで30秒。種別を選んで音声/テキストを入れるだけ。AIが要約し、情報を自動更新提案。</a:t>
            </a:r>
          </a:p>
        </p:txBody>
      </p:sp>
      <p:sp>
        <p:nvSpPr>
          <p:cNvPr id="9" name="Rounded Rectangle 8"/>
          <p:cNvSpPr/>
          <p:nvPr/>
        </p:nvSpPr>
        <p:spPr>
          <a:xfrm>
            <a:off x="6263640" y="1828800"/>
            <a:ext cx="5120640" cy="384048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828800"/>
            <a:ext cx="5120640" cy="164592"/>
          </a:xfrm>
          <a:prstGeom prst="rect">
            <a:avLst/>
          </a:prstGeom>
          <a:solidFill>
            <a:srgbClr val="00C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331720"/>
            <a:ext cx="4389120" cy="548640"/>
          </a:xfrm>
          <a:prstGeom prst="rect">
            <a:avLst/>
          </a:prstGeom>
          <a:noFill/>
        </p:spPr>
        <p:txBody>
          <a:bodyPr wrap="square" anchor="t" lIns="0" rIns="0" tIns="0" bIns="0">
            <a:spAutoFit/>
          </a:bodyPr>
          <a:lstStyle/>
          <a:p>
            <a:pPr algn="l">
              <a:lnSpc>
                <a:spcPct val="100000"/>
              </a:lnSpc>
            </a:pPr>
            <a:r>
              <a:rPr sz="1600" b="1">
                <a:solidFill>
                  <a:srgbClr val="00CC88"/>
                </a:solidFill>
                <a:latin typeface="Arial"/>
              </a:rPr>
              <a:t>② マネジメント</a:t>
            </a:r>
          </a:p>
        </p:txBody>
      </p:sp>
      <p:sp>
        <p:nvSpPr>
          <p:cNvPr id="12" name="TextBox 11"/>
          <p:cNvSpPr txBox="1"/>
          <p:nvPr/>
        </p:nvSpPr>
        <p:spPr>
          <a:xfrm>
            <a:off x="6629400" y="2926080"/>
            <a:ext cx="4480560" cy="914400"/>
          </a:xfrm>
          <a:prstGeom prst="rect">
            <a:avLst/>
          </a:prstGeom>
          <a:noFill/>
        </p:spPr>
        <p:txBody>
          <a:bodyPr wrap="square" anchor="t" lIns="0" rIns="0" tIns="0" bIns="0">
            <a:spAutoFit/>
          </a:bodyPr>
          <a:lstStyle/>
          <a:p>
            <a:pPr algn="l">
              <a:lnSpc>
                <a:spcPct val="110000"/>
              </a:lnSpc>
            </a:pPr>
            <a:r>
              <a:rPr sz="2400" b="1">
                <a:solidFill>
                  <a:srgbClr val="F0F4F8"/>
                </a:solidFill>
                <a:latin typeface="Arial"/>
              </a:rPr>
              <a:t>フォロー状況を</a:t>
            </a:r>
          </a:p>
          <a:p>
            <a:pPr algn="l">
              <a:lnSpc>
                <a:spcPct val="110000"/>
              </a:lnSpc>
            </a:pPr>
            <a:r>
              <a:rPr sz="2400" b="1">
                <a:solidFill>
                  <a:srgbClr val="F0F4F8"/>
                </a:solidFill>
                <a:latin typeface="Arial"/>
              </a:rPr>
              <a:t>可視化・分析</a:t>
            </a:r>
          </a:p>
        </p:txBody>
      </p:sp>
      <p:sp>
        <p:nvSpPr>
          <p:cNvPr id="13" name="TextBox 12"/>
          <p:cNvSpPr txBox="1"/>
          <p:nvPr/>
        </p:nvSpPr>
        <p:spPr>
          <a:xfrm>
            <a:off x="6629400" y="4114800"/>
            <a:ext cx="4480560" cy="1280160"/>
          </a:xfrm>
          <a:prstGeom prst="rect">
            <a:avLst/>
          </a:prstGeom>
          <a:noFill/>
        </p:spPr>
        <p:txBody>
          <a:bodyPr wrap="square" anchor="t" lIns="0" rIns="0" tIns="0" bIns="0">
            <a:spAutoFit/>
          </a:bodyPr>
          <a:lstStyle/>
          <a:p>
            <a:pPr algn="l">
              <a:lnSpc>
                <a:spcPct val="130000"/>
              </a:lnSpc>
            </a:pPr>
            <a:r>
              <a:rPr sz="1400" b="0">
                <a:solidFill>
                  <a:srgbClr val="8899AA"/>
                </a:solidFill>
                <a:latin typeface="Arial"/>
              </a:rPr>
              <a:t>担当者別の訪問件数・未フォロー件数が一目で。抜け漏れを発見し、行動につなげる。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594360"/>
            <a:ext cx="1353312" cy="384048"/>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12648"/>
            <a:ext cx="1353312" cy="347472"/>
          </a:xfrm>
          <a:prstGeom prst="rect">
            <a:avLst/>
          </a:prstGeom>
          <a:noFill/>
        </p:spPr>
        <p:txBody>
          <a:bodyPr wrap="square" anchor="ctr" lIns="0" rIns="0" tIns="0" bIns="0">
            <a:spAutoFit/>
          </a:bodyPr>
          <a:lstStyle/>
          <a:p>
            <a:pPr algn="ctr">
              <a:lnSpc>
                <a:spcPct val="100000"/>
              </a:lnSpc>
            </a:pPr>
            <a:r>
              <a:rPr sz="1200" b="1">
                <a:solidFill>
                  <a:srgbClr val="0F1923"/>
                </a:solidFill>
                <a:latin typeface="Arial"/>
              </a:rPr>
              <a:t>DEMO ①</a:t>
            </a:r>
          </a:p>
        </p:txBody>
      </p:sp>
      <p:sp>
        <p:nvSpPr>
          <p:cNvPr id="5" name="TextBox 4"/>
          <p:cNvSpPr txBox="1"/>
          <p:nvPr/>
        </p:nvSpPr>
        <p:spPr>
          <a:xfrm>
            <a:off x="822960" y="1097280"/>
            <a:ext cx="10515600" cy="731520"/>
          </a:xfrm>
          <a:prstGeom prst="rect">
            <a:avLst/>
          </a:prstGeom>
          <a:noFill/>
        </p:spPr>
        <p:txBody>
          <a:bodyPr wrap="square" anchor="t" lIns="0" rIns="0" tIns="0" bIns="0">
            <a:spAutoFit/>
          </a:bodyPr>
          <a:lstStyle/>
          <a:p>
            <a:pPr algn="l">
              <a:lnSpc>
                <a:spcPct val="100000"/>
              </a:lnSpc>
            </a:pPr>
            <a:r>
              <a:rPr sz="3200" b="1">
                <a:solidFill>
                  <a:srgbClr val="F0F4F8"/>
                </a:solidFill>
                <a:latin typeface="Arial Black"/>
              </a:rPr>
              <a:t>営業モード（スマホ）— 訪問を30秒で記録</a:t>
            </a:r>
          </a:p>
        </p:txBody>
      </p:sp>
      <p:sp>
        <p:nvSpPr>
          <p:cNvPr id="6" name="Rounded Rectangle 5"/>
          <p:cNvSpPr/>
          <p:nvPr/>
        </p:nvSpPr>
        <p:spPr>
          <a:xfrm>
            <a:off x="822960" y="2194560"/>
            <a:ext cx="2542032" cy="265176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2468880"/>
            <a:ext cx="640080" cy="6400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87168"/>
            <a:ext cx="640080" cy="603504"/>
          </a:xfrm>
          <a:prstGeom prst="rect">
            <a:avLst/>
          </a:prstGeom>
          <a:noFill/>
        </p:spPr>
        <p:txBody>
          <a:bodyPr wrap="square" anchor="ctr" lIns="0" rIns="0" tIns="0" bIns="0">
            <a:spAutoFit/>
          </a:bodyPr>
          <a:lstStyle/>
          <a:p>
            <a:pPr algn="ctr">
              <a:lnSpc>
                <a:spcPct val="100000"/>
              </a:lnSpc>
            </a:pPr>
            <a:r>
              <a:rPr sz="2200" b="1">
                <a:solidFill>
                  <a:srgbClr val="0F1923"/>
                </a:solidFill>
                <a:latin typeface="Arial Black"/>
              </a:rPr>
              <a:t>1</a:t>
            </a:r>
          </a:p>
        </p:txBody>
      </p:sp>
      <p:sp>
        <p:nvSpPr>
          <p:cNvPr id="9" name="TextBox 8"/>
          <p:cNvSpPr txBox="1"/>
          <p:nvPr/>
        </p:nvSpPr>
        <p:spPr>
          <a:xfrm>
            <a:off x="1097280" y="3291840"/>
            <a:ext cx="2011680" cy="548640"/>
          </a:xfrm>
          <a:prstGeom prst="rect">
            <a:avLst/>
          </a:prstGeom>
          <a:noFill/>
        </p:spPr>
        <p:txBody>
          <a:bodyPr wrap="square" anchor="t" lIns="0" rIns="0" tIns="0" bIns="0">
            <a:spAutoFit/>
          </a:bodyPr>
          <a:lstStyle/>
          <a:p>
            <a:pPr algn="l">
              <a:lnSpc>
                <a:spcPct val="105000"/>
              </a:lnSpc>
            </a:pPr>
            <a:r>
              <a:rPr sz="1600" b="1">
                <a:solidFill>
                  <a:srgbClr val="F0F4F8"/>
                </a:solidFill>
                <a:latin typeface="Arial"/>
              </a:rPr>
              <a:t>相手を選ぶ</a:t>
            </a:r>
          </a:p>
        </p:txBody>
      </p:sp>
      <p:sp>
        <p:nvSpPr>
          <p:cNvPr id="10" name="TextBox 9"/>
          <p:cNvSpPr txBox="1"/>
          <p:nvPr/>
        </p:nvSpPr>
        <p:spPr>
          <a:xfrm>
            <a:off x="1097280" y="3977639"/>
            <a:ext cx="2057400" cy="914400"/>
          </a:xfrm>
          <a:prstGeom prst="rect">
            <a:avLst/>
          </a:prstGeom>
          <a:noFill/>
        </p:spPr>
        <p:txBody>
          <a:bodyPr wrap="square" anchor="t" lIns="0" rIns="0" tIns="0" bIns="0">
            <a:spAutoFit/>
          </a:bodyPr>
          <a:lstStyle/>
          <a:p>
            <a:pPr algn="l">
              <a:lnSpc>
                <a:spcPct val="120000"/>
              </a:lnSpc>
            </a:pPr>
            <a:r>
              <a:rPr sz="1200" b="0">
                <a:solidFill>
                  <a:srgbClr val="8899AA"/>
                </a:solidFill>
                <a:latin typeface="Arial"/>
              </a:rPr>
              <a:t>名前・会社名で検索</a:t>
            </a:r>
          </a:p>
        </p:txBody>
      </p:sp>
      <p:sp>
        <p:nvSpPr>
          <p:cNvPr id="11" name="TextBox 10"/>
          <p:cNvSpPr txBox="1"/>
          <p:nvPr/>
        </p:nvSpPr>
        <p:spPr>
          <a:xfrm>
            <a:off x="3154679" y="3017520"/>
            <a:ext cx="365760" cy="548640"/>
          </a:xfrm>
          <a:prstGeom prst="rect">
            <a:avLst/>
          </a:prstGeom>
          <a:noFill/>
        </p:spPr>
        <p:txBody>
          <a:bodyPr wrap="square" anchor="t" lIns="0" rIns="0" tIns="0" bIns="0">
            <a:spAutoFit/>
          </a:bodyPr>
          <a:lstStyle/>
          <a:p>
            <a:pPr algn="ctr">
              <a:lnSpc>
                <a:spcPct val="100000"/>
              </a:lnSpc>
            </a:pPr>
            <a:r>
              <a:rPr sz="2600" b="1">
                <a:solidFill>
                  <a:srgbClr val="00D4FF"/>
                </a:solidFill>
                <a:latin typeface="Arial"/>
              </a:rPr>
              <a:t>›</a:t>
            </a:r>
          </a:p>
        </p:txBody>
      </p:sp>
      <p:sp>
        <p:nvSpPr>
          <p:cNvPr id="12" name="Rounded Rectangle 11"/>
          <p:cNvSpPr/>
          <p:nvPr/>
        </p:nvSpPr>
        <p:spPr>
          <a:xfrm>
            <a:off x="3502152" y="2194560"/>
            <a:ext cx="2542032" cy="265176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776472" y="2468880"/>
            <a:ext cx="640080" cy="6400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487168"/>
            <a:ext cx="640080" cy="603504"/>
          </a:xfrm>
          <a:prstGeom prst="rect">
            <a:avLst/>
          </a:prstGeom>
          <a:noFill/>
        </p:spPr>
        <p:txBody>
          <a:bodyPr wrap="square" anchor="ctr" lIns="0" rIns="0" tIns="0" bIns="0">
            <a:spAutoFit/>
          </a:bodyPr>
          <a:lstStyle/>
          <a:p>
            <a:pPr algn="ctr">
              <a:lnSpc>
                <a:spcPct val="100000"/>
              </a:lnSpc>
            </a:pPr>
            <a:r>
              <a:rPr sz="2200" b="1">
                <a:solidFill>
                  <a:srgbClr val="0F1923"/>
                </a:solidFill>
                <a:latin typeface="Arial Black"/>
              </a:rPr>
              <a:t>2</a:t>
            </a:r>
          </a:p>
        </p:txBody>
      </p:sp>
      <p:sp>
        <p:nvSpPr>
          <p:cNvPr id="15" name="TextBox 14"/>
          <p:cNvSpPr txBox="1"/>
          <p:nvPr/>
        </p:nvSpPr>
        <p:spPr>
          <a:xfrm>
            <a:off x="3776472" y="3291840"/>
            <a:ext cx="2011680" cy="548640"/>
          </a:xfrm>
          <a:prstGeom prst="rect">
            <a:avLst/>
          </a:prstGeom>
          <a:noFill/>
        </p:spPr>
        <p:txBody>
          <a:bodyPr wrap="square" anchor="t" lIns="0" rIns="0" tIns="0" bIns="0">
            <a:spAutoFit/>
          </a:bodyPr>
          <a:lstStyle/>
          <a:p>
            <a:pPr algn="l">
              <a:lnSpc>
                <a:spcPct val="105000"/>
              </a:lnSpc>
            </a:pPr>
            <a:r>
              <a:rPr sz="1600" b="1">
                <a:solidFill>
                  <a:srgbClr val="F0F4F8"/>
                </a:solidFill>
                <a:latin typeface="Arial"/>
              </a:rPr>
              <a:t>種別を選ぶ</a:t>
            </a:r>
          </a:p>
        </p:txBody>
      </p:sp>
      <p:sp>
        <p:nvSpPr>
          <p:cNvPr id="16" name="TextBox 15"/>
          <p:cNvSpPr txBox="1"/>
          <p:nvPr/>
        </p:nvSpPr>
        <p:spPr>
          <a:xfrm>
            <a:off x="3776472" y="3977639"/>
            <a:ext cx="2057400" cy="914400"/>
          </a:xfrm>
          <a:prstGeom prst="rect">
            <a:avLst/>
          </a:prstGeom>
          <a:noFill/>
        </p:spPr>
        <p:txBody>
          <a:bodyPr wrap="square" anchor="t" lIns="0" rIns="0" tIns="0" bIns="0">
            <a:spAutoFit/>
          </a:bodyPr>
          <a:lstStyle/>
          <a:p>
            <a:pPr algn="l">
              <a:lnSpc>
                <a:spcPct val="120000"/>
              </a:lnSpc>
            </a:pPr>
            <a:r>
              <a:rPr sz="1200" b="0">
                <a:solidFill>
                  <a:srgbClr val="8899AA"/>
                </a:solidFill>
                <a:latin typeface="Arial"/>
              </a:rPr>
              <a:t>訪問アポ / ついで / 電話 / メモ</a:t>
            </a:r>
          </a:p>
        </p:txBody>
      </p:sp>
      <p:sp>
        <p:nvSpPr>
          <p:cNvPr id="17" name="TextBox 16"/>
          <p:cNvSpPr txBox="1"/>
          <p:nvPr/>
        </p:nvSpPr>
        <p:spPr>
          <a:xfrm>
            <a:off x="5833872" y="3017520"/>
            <a:ext cx="365760" cy="548640"/>
          </a:xfrm>
          <a:prstGeom prst="rect">
            <a:avLst/>
          </a:prstGeom>
          <a:noFill/>
        </p:spPr>
        <p:txBody>
          <a:bodyPr wrap="square" anchor="t" lIns="0" rIns="0" tIns="0" bIns="0">
            <a:spAutoFit/>
          </a:bodyPr>
          <a:lstStyle/>
          <a:p>
            <a:pPr algn="ctr">
              <a:lnSpc>
                <a:spcPct val="100000"/>
              </a:lnSpc>
            </a:pPr>
            <a:r>
              <a:rPr sz="2600" b="1">
                <a:solidFill>
                  <a:srgbClr val="00D4FF"/>
                </a:solidFill>
                <a:latin typeface="Arial"/>
              </a:rPr>
              <a:t>›</a:t>
            </a:r>
          </a:p>
        </p:txBody>
      </p:sp>
      <p:sp>
        <p:nvSpPr>
          <p:cNvPr id="18" name="Rounded Rectangle 17"/>
          <p:cNvSpPr/>
          <p:nvPr/>
        </p:nvSpPr>
        <p:spPr>
          <a:xfrm>
            <a:off x="6181344" y="2194560"/>
            <a:ext cx="2542032" cy="265176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5664" y="2468880"/>
            <a:ext cx="640080" cy="6400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487168"/>
            <a:ext cx="640080" cy="603504"/>
          </a:xfrm>
          <a:prstGeom prst="rect">
            <a:avLst/>
          </a:prstGeom>
          <a:noFill/>
        </p:spPr>
        <p:txBody>
          <a:bodyPr wrap="square" anchor="ctr" lIns="0" rIns="0" tIns="0" bIns="0">
            <a:spAutoFit/>
          </a:bodyPr>
          <a:lstStyle/>
          <a:p>
            <a:pPr algn="ctr">
              <a:lnSpc>
                <a:spcPct val="100000"/>
              </a:lnSpc>
            </a:pPr>
            <a:r>
              <a:rPr sz="2200" b="1">
                <a:solidFill>
                  <a:srgbClr val="0F1923"/>
                </a:solidFill>
                <a:latin typeface="Arial Black"/>
              </a:rPr>
              <a:t>3</a:t>
            </a:r>
          </a:p>
        </p:txBody>
      </p:sp>
      <p:sp>
        <p:nvSpPr>
          <p:cNvPr id="21" name="TextBox 20"/>
          <p:cNvSpPr txBox="1"/>
          <p:nvPr/>
        </p:nvSpPr>
        <p:spPr>
          <a:xfrm>
            <a:off x="6455664" y="3291840"/>
            <a:ext cx="2011680" cy="548640"/>
          </a:xfrm>
          <a:prstGeom prst="rect">
            <a:avLst/>
          </a:prstGeom>
          <a:noFill/>
        </p:spPr>
        <p:txBody>
          <a:bodyPr wrap="square" anchor="t" lIns="0" rIns="0" tIns="0" bIns="0">
            <a:spAutoFit/>
          </a:bodyPr>
          <a:lstStyle/>
          <a:p>
            <a:pPr algn="l">
              <a:lnSpc>
                <a:spcPct val="105000"/>
              </a:lnSpc>
            </a:pPr>
            <a:r>
              <a:rPr sz="1600" b="1">
                <a:solidFill>
                  <a:srgbClr val="F0F4F8"/>
                </a:solidFill>
                <a:latin typeface="Arial"/>
              </a:rPr>
              <a:t>録音 or テキスト</a:t>
            </a:r>
          </a:p>
        </p:txBody>
      </p:sp>
      <p:sp>
        <p:nvSpPr>
          <p:cNvPr id="22" name="TextBox 21"/>
          <p:cNvSpPr txBox="1"/>
          <p:nvPr/>
        </p:nvSpPr>
        <p:spPr>
          <a:xfrm>
            <a:off x="6455664" y="3977639"/>
            <a:ext cx="2057400" cy="914400"/>
          </a:xfrm>
          <a:prstGeom prst="rect">
            <a:avLst/>
          </a:prstGeom>
          <a:noFill/>
        </p:spPr>
        <p:txBody>
          <a:bodyPr wrap="square" anchor="t" lIns="0" rIns="0" tIns="0" bIns="0">
            <a:spAutoFit/>
          </a:bodyPr>
          <a:lstStyle/>
          <a:p>
            <a:pPr algn="l">
              <a:lnSpc>
                <a:spcPct val="120000"/>
              </a:lnSpc>
            </a:pPr>
            <a:r>
              <a:rPr sz="1200" b="0">
                <a:solidFill>
                  <a:srgbClr val="8899AA"/>
                </a:solidFill>
                <a:latin typeface="Arial"/>
              </a:rPr>
              <a:t>その場で音声 or 後で貼付け</a:t>
            </a:r>
          </a:p>
        </p:txBody>
      </p:sp>
      <p:sp>
        <p:nvSpPr>
          <p:cNvPr id="23" name="TextBox 22"/>
          <p:cNvSpPr txBox="1"/>
          <p:nvPr/>
        </p:nvSpPr>
        <p:spPr>
          <a:xfrm>
            <a:off x="8513063" y="3017520"/>
            <a:ext cx="365760" cy="548640"/>
          </a:xfrm>
          <a:prstGeom prst="rect">
            <a:avLst/>
          </a:prstGeom>
          <a:noFill/>
        </p:spPr>
        <p:txBody>
          <a:bodyPr wrap="square" anchor="t" lIns="0" rIns="0" tIns="0" bIns="0">
            <a:spAutoFit/>
          </a:bodyPr>
          <a:lstStyle/>
          <a:p>
            <a:pPr algn="ctr">
              <a:lnSpc>
                <a:spcPct val="100000"/>
              </a:lnSpc>
            </a:pPr>
            <a:r>
              <a:rPr sz="2600" b="1">
                <a:solidFill>
                  <a:srgbClr val="00D4FF"/>
                </a:solidFill>
                <a:latin typeface="Arial"/>
              </a:rPr>
              <a:t>›</a:t>
            </a:r>
          </a:p>
        </p:txBody>
      </p:sp>
      <p:sp>
        <p:nvSpPr>
          <p:cNvPr id="24" name="Rounded Rectangle 23"/>
          <p:cNvSpPr/>
          <p:nvPr/>
        </p:nvSpPr>
        <p:spPr>
          <a:xfrm>
            <a:off x="8860536" y="2194560"/>
            <a:ext cx="2542032" cy="265176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34856" y="2468880"/>
            <a:ext cx="640080" cy="6400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34856" y="2487168"/>
            <a:ext cx="640080" cy="603504"/>
          </a:xfrm>
          <a:prstGeom prst="rect">
            <a:avLst/>
          </a:prstGeom>
          <a:noFill/>
        </p:spPr>
        <p:txBody>
          <a:bodyPr wrap="square" anchor="ctr" lIns="0" rIns="0" tIns="0" bIns="0">
            <a:spAutoFit/>
          </a:bodyPr>
          <a:lstStyle/>
          <a:p>
            <a:pPr algn="ctr">
              <a:lnSpc>
                <a:spcPct val="100000"/>
              </a:lnSpc>
            </a:pPr>
            <a:r>
              <a:rPr sz="2200" b="1">
                <a:solidFill>
                  <a:srgbClr val="0F1923"/>
                </a:solidFill>
                <a:latin typeface="Arial Black"/>
              </a:rPr>
              <a:t>4</a:t>
            </a:r>
          </a:p>
        </p:txBody>
      </p:sp>
      <p:sp>
        <p:nvSpPr>
          <p:cNvPr id="27" name="TextBox 26"/>
          <p:cNvSpPr txBox="1"/>
          <p:nvPr/>
        </p:nvSpPr>
        <p:spPr>
          <a:xfrm>
            <a:off x="9134856" y="3291840"/>
            <a:ext cx="2011680" cy="548640"/>
          </a:xfrm>
          <a:prstGeom prst="rect">
            <a:avLst/>
          </a:prstGeom>
          <a:noFill/>
        </p:spPr>
        <p:txBody>
          <a:bodyPr wrap="square" anchor="t" lIns="0" rIns="0" tIns="0" bIns="0">
            <a:spAutoFit/>
          </a:bodyPr>
          <a:lstStyle/>
          <a:p>
            <a:pPr algn="l">
              <a:lnSpc>
                <a:spcPct val="105000"/>
              </a:lnSpc>
            </a:pPr>
            <a:r>
              <a:rPr sz="1600" b="1">
                <a:solidFill>
                  <a:srgbClr val="F0F4F8"/>
                </a:solidFill>
                <a:latin typeface="Arial"/>
              </a:rPr>
              <a:t>✨ AIが提案</a:t>
            </a:r>
          </a:p>
        </p:txBody>
      </p:sp>
      <p:sp>
        <p:nvSpPr>
          <p:cNvPr id="28" name="TextBox 27"/>
          <p:cNvSpPr txBox="1"/>
          <p:nvPr/>
        </p:nvSpPr>
        <p:spPr>
          <a:xfrm>
            <a:off x="9134856" y="3977639"/>
            <a:ext cx="2057400" cy="914400"/>
          </a:xfrm>
          <a:prstGeom prst="rect">
            <a:avLst/>
          </a:prstGeom>
          <a:noFill/>
        </p:spPr>
        <p:txBody>
          <a:bodyPr wrap="square" anchor="t" lIns="0" rIns="0" tIns="0" bIns="0">
            <a:spAutoFit/>
          </a:bodyPr>
          <a:lstStyle/>
          <a:p>
            <a:pPr algn="l">
              <a:lnSpc>
                <a:spcPct val="120000"/>
              </a:lnSpc>
            </a:pPr>
            <a:r>
              <a:rPr sz="1200" b="0">
                <a:solidFill>
                  <a:srgbClr val="8899AA"/>
                </a:solidFill>
                <a:latin typeface="Arial"/>
              </a:rPr>
              <a:t>要約・次回フォロー日・メモを自動更新</a:t>
            </a:r>
          </a:p>
        </p:txBody>
      </p:sp>
      <p:sp>
        <p:nvSpPr>
          <p:cNvPr id="29" name="TextBox 28"/>
          <p:cNvSpPr txBox="1"/>
          <p:nvPr/>
        </p:nvSpPr>
        <p:spPr>
          <a:xfrm>
            <a:off x="822960" y="5212080"/>
            <a:ext cx="10515600" cy="548640"/>
          </a:xfrm>
          <a:prstGeom prst="rect">
            <a:avLst/>
          </a:prstGeom>
          <a:noFill/>
        </p:spPr>
        <p:txBody>
          <a:bodyPr wrap="square" anchor="t" lIns="0" rIns="0" tIns="0" bIns="0">
            <a:spAutoFit/>
          </a:bodyPr>
          <a:lstStyle/>
          <a:p>
            <a:pPr algn="l">
              <a:lnSpc>
                <a:spcPct val="100000"/>
              </a:lnSpc>
            </a:pPr>
            <a:r>
              <a:rPr sz="1400" b="0">
                <a:solidFill>
                  <a:srgbClr val="8899AA"/>
                </a:solidFill>
                <a:latin typeface="Arial"/>
              </a:rPr>
              <a:t>名刺交換の直後に最小項目だけ登録 → 詳細は後でPCから補完。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594360"/>
            <a:ext cx="1353312" cy="384048"/>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12648"/>
            <a:ext cx="1353312" cy="347472"/>
          </a:xfrm>
          <a:prstGeom prst="rect">
            <a:avLst/>
          </a:prstGeom>
          <a:noFill/>
        </p:spPr>
        <p:txBody>
          <a:bodyPr wrap="square" anchor="ctr" lIns="0" rIns="0" tIns="0" bIns="0">
            <a:spAutoFit/>
          </a:bodyPr>
          <a:lstStyle/>
          <a:p>
            <a:pPr algn="ctr">
              <a:lnSpc>
                <a:spcPct val="100000"/>
              </a:lnSpc>
            </a:pPr>
            <a:r>
              <a:rPr sz="1200" b="1">
                <a:solidFill>
                  <a:srgbClr val="0F1923"/>
                </a:solidFill>
                <a:latin typeface="Arial"/>
              </a:rPr>
              <a:t>DEMO ②</a:t>
            </a:r>
          </a:p>
        </p:txBody>
      </p:sp>
      <p:sp>
        <p:nvSpPr>
          <p:cNvPr id="5" name="TextBox 4"/>
          <p:cNvSpPr txBox="1"/>
          <p:nvPr/>
        </p:nvSpPr>
        <p:spPr>
          <a:xfrm>
            <a:off x="822960" y="1097280"/>
            <a:ext cx="10515600" cy="731520"/>
          </a:xfrm>
          <a:prstGeom prst="rect">
            <a:avLst/>
          </a:prstGeom>
          <a:noFill/>
        </p:spPr>
        <p:txBody>
          <a:bodyPr wrap="square" anchor="t" lIns="0" rIns="0" tIns="0" bIns="0">
            <a:spAutoFit/>
          </a:bodyPr>
          <a:lstStyle/>
          <a:p>
            <a:pPr algn="l">
              <a:lnSpc>
                <a:spcPct val="100000"/>
              </a:lnSpc>
            </a:pPr>
            <a:r>
              <a:rPr sz="3200" b="1">
                <a:solidFill>
                  <a:srgbClr val="F0F4F8"/>
                </a:solidFill>
                <a:latin typeface="Arial Black"/>
              </a:rPr>
              <a:t>ボタン1つで、相手に響くメールをAIが下書き</a:t>
            </a:r>
          </a:p>
        </p:txBody>
      </p:sp>
      <p:sp>
        <p:nvSpPr>
          <p:cNvPr id="6" name="TextBox 5"/>
          <p:cNvSpPr txBox="1"/>
          <p:nvPr/>
        </p:nvSpPr>
        <p:spPr>
          <a:xfrm>
            <a:off x="822960" y="2286000"/>
            <a:ext cx="5029200" cy="2926080"/>
          </a:xfrm>
          <a:prstGeom prst="rect">
            <a:avLst/>
          </a:prstGeom>
          <a:noFill/>
        </p:spPr>
        <p:txBody>
          <a:bodyPr wrap="square" anchor="t" lIns="0" rIns="0" tIns="0" bIns="0">
            <a:spAutoFit/>
          </a:bodyPr>
          <a:lstStyle/>
          <a:p>
            <a:pPr algn="l">
              <a:lnSpc>
                <a:spcPct val="125000"/>
              </a:lnSpc>
            </a:pPr>
            <a:r>
              <a:rPr sz="1600" b="1">
                <a:solidFill>
                  <a:srgbClr val="F0F4F8"/>
                </a:solidFill>
                <a:latin typeface="Arial"/>
              </a:rPr>
              <a:t>顧客情報・訪問履歴・人となり</a:t>
            </a:r>
          </a:p>
          <a:p>
            <a:pPr algn="l">
              <a:lnSpc>
                <a:spcPct val="125000"/>
              </a:lnSpc>
            </a:pPr>
            <a:r>
              <a:rPr sz="1600" b="1">
                <a:solidFill>
                  <a:srgbClr val="F0F4F8"/>
                </a:solidFill>
                <a:latin typeface="Arial"/>
              </a:rPr>
              <a:t>（趣味・誕生日・前回の会話）を</a:t>
            </a:r>
          </a:p>
          <a:p>
            <a:pPr algn="l">
              <a:lnSpc>
                <a:spcPct val="125000"/>
              </a:lnSpc>
            </a:pPr>
            <a:r>
              <a:rPr sz="1600" b="1">
                <a:solidFill>
                  <a:srgbClr val="F0F4F8"/>
                </a:solidFill>
                <a:latin typeface="Arial"/>
              </a:rPr>
              <a:t>AIが踏まえて文面を生成。</a:t>
            </a:r>
          </a:p>
          <a:p>
            <a:pPr algn="l">
              <a:lnSpc>
                <a:spcPct val="125000"/>
              </a:lnSpc>
            </a:pPr>
            <a:r>
              <a:rPr sz="800" b="0">
                <a:solidFill>
                  <a:srgbClr val="F0F4F8"/>
                </a:solidFill>
                <a:latin typeface="Arial"/>
              </a:rPr>
              <a:t/>
            </a:r>
          </a:p>
          <a:p>
            <a:pPr algn="l">
              <a:lnSpc>
                <a:spcPct val="125000"/>
              </a:lnSpc>
            </a:pPr>
            <a:r>
              <a:rPr sz="1400" b="0">
                <a:solidFill>
                  <a:srgbClr val="8899AA"/>
                </a:solidFill>
                <a:latin typeface="Arial"/>
              </a:rPr>
              <a:t>「息子さんの野球、準優勝おめでとう</a:t>
            </a:r>
          </a:p>
          <a:p>
            <a:pPr algn="l">
              <a:lnSpc>
                <a:spcPct val="125000"/>
              </a:lnSpc>
            </a:pPr>
            <a:r>
              <a:rPr sz="1400" b="0">
                <a:solidFill>
                  <a:srgbClr val="8899AA"/>
                </a:solidFill>
                <a:latin typeface="Arial"/>
              </a:rPr>
              <a:t>ございます」——</a:t>
            </a:r>
          </a:p>
          <a:p>
            <a:pPr algn="l">
              <a:lnSpc>
                <a:spcPct val="125000"/>
              </a:lnSpc>
            </a:pPr>
            <a:r>
              <a:rPr sz="1400" b="0">
                <a:solidFill>
                  <a:srgbClr val="8899AA"/>
                </a:solidFill>
                <a:latin typeface="Arial"/>
              </a:rPr>
              <a:t>そんな一言まで自動で添える。</a:t>
            </a:r>
          </a:p>
          <a:p>
            <a:pPr algn="l">
              <a:lnSpc>
                <a:spcPct val="125000"/>
              </a:lnSpc>
            </a:pPr>
            <a:r>
              <a:rPr sz="800" b="0">
                <a:solidFill>
                  <a:srgbClr val="F0F4F8"/>
                </a:solidFill>
                <a:latin typeface="Arial"/>
              </a:rPr>
              <a:t/>
            </a:r>
          </a:p>
          <a:p>
            <a:pPr algn="l">
              <a:lnSpc>
                <a:spcPct val="125000"/>
              </a:lnSpc>
            </a:pPr>
            <a:r>
              <a:rPr sz="1500" b="1">
                <a:solidFill>
                  <a:srgbClr val="00D4FF"/>
                </a:solidFill>
                <a:latin typeface="Arial"/>
              </a:rPr>
              <a:t>関係構築型の営業と相性抜群。</a:t>
            </a:r>
          </a:p>
        </p:txBody>
      </p:sp>
      <p:sp>
        <p:nvSpPr>
          <p:cNvPr id="7" name="Rounded Rectangle 6"/>
          <p:cNvSpPr/>
          <p:nvPr/>
        </p:nvSpPr>
        <p:spPr>
          <a:xfrm>
            <a:off x="6126480" y="2194560"/>
            <a:ext cx="5212080" cy="365760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468880"/>
            <a:ext cx="4572000" cy="365760"/>
          </a:xfrm>
          <a:prstGeom prst="rect">
            <a:avLst/>
          </a:prstGeom>
          <a:noFill/>
        </p:spPr>
        <p:txBody>
          <a:bodyPr wrap="square" anchor="t" lIns="0" rIns="0" tIns="0" bIns="0">
            <a:spAutoFit/>
          </a:bodyPr>
          <a:lstStyle/>
          <a:p>
            <a:pPr algn="l">
              <a:lnSpc>
                <a:spcPct val="100000"/>
              </a:lnSpc>
            </a:pPr>
            <a:r>
              <a:rPr sz="1300" b="1">
                <a:solidFill>
                  <a:srgbClr val="00D4FF"/>
                </a:solidFill>
                <a:latin typeface="Arial"/>
              </a:rPr>
              <a:t>📧  下書きプレビュー</a:t>
            </a:r>
          </a:p>
        </p:txBody>
      </p:sp>
      <p:sp>
        <p:nvSpPr>
          <p:cNvPr id="9" name="Rounded Rectangle 8"/>
          <p:cNvSpPr/>
          <p:nvPr/>
        </p:nvSpPr>
        <p:spPr>
          <a:xfrm>
            <a:off x="6446520" y="2926080"/>
            <a:ext cx="4572000" cy="457200"/>
          </a:xfrm>
          <a:prstGeom prst="roundRect">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990088"/>
            <a:ext cx="4389120" cy="365760"/>
          </a:xfrm>
          <a:prstGeom prst="rect">
            <a:avLst/>
          </a:prstGeom>
          <a:noFill/>
        </p:spPr>
        <p:txBody>
          <a:bodyPr wrap="square" anchor="ctr" lIns="0" rIns="0" tIns="0" bIns="0">
            <a:spAutoFit/>
          </a:bodyPr>
          <a:lstStyle/>
          <a:p>
            <a:pPr algn="l">
              <a:lnSpc>
                <a:spcPct val="100000"/>
              </a:lnSpc>
            </a:pPr>
            <a:r>
              <a:rPr sz="1200" b="0">
                <a:solidFill>
                  <a:srgbClr val="F0F4F8"/>
                </a:solidFill>
                <a:latin typeface="Arial"/>
              </a:rPr>
              <a:t>件名：先日はありがとうございました</a:t>
            </a:r>
          </a:p>
        </p:txBody>
      </p:sp>
      <p:sp>
        <p:nvSpPr>
          <p:cNvPr id="11" name="TextBox 10"/>
          <p:cNvSpPr txBox="1"/>
          <p:nvPr/>
        </p:nvSpPr>
        <p:spPr>
          <a:xfrm>
            <a:off x="6446520" y="3520440"/>
            <a:ext cx="4617720" cy="2103120"/>
          </a:xfrm>
          <a:prstGeom prst="rect">
            <a:avLst/>
          </a:prstGeom>
          <a:noFill/>
        </p:spPr>
        <p:txBody>
          <a:bodyPr wrap="square" anchor="t" lIns="0" rIns="0" tIns="0" bIns="0">
            <a:spAutoFit/>
          </a:bodyPr>
          <a:lstStyle/>
          <a:p>
            <a:pPr algn="l">
              <a:lnSpc>
                <a:spcPct val="125000"/>
              </a:lnSpc>
            </a:pPr>
            <a:r>
              <a:rPr sz="1200" b="0">
                <a:solidFill>
                  <a:srgbClr val="F0F4F8"/>
                </a:solidFill>
                <a:latin typeface="Arial"/>
              </a:rPr>
              <a:t>田中様</a:t>
            </a:r>
          </a:p>
          <a:p>
            <a:pPr algn="l">
              <a:lnSpc>
                <a:spcPct val="125000"/>
              </a:lnSpc>
            </a:pPr>
            <a:r>
              <a:rPr sz="1200" b="0">
                <a:solidFill>
                  <a:srgbClr val="8899AA"/>
                </a:solidFill>
                <a:latin typeface="Arial"/>
              </a:rPr>
              <a:t>先日は貴重なお時間をありがとうございました。</a:t>
            </a:r>
          </a:p>
          <a:p>
            <a:pPr algn="l">
              <a:lnSpc>
                <a:spcPct val="125000"/>
              </a:lnSpc>
            </a:pPr>
            <a:r>
              <a:rPr sz="1200" b="0">
                <a:solidFill>
                  <a:srgbClr val="8899AA"/>
                </a:solidFill>
                <a:latin typeface="Arial"/>
              </a:rPr>
              <a:t>息子さんの少年野球、地区大会準優勝、誠に</a:t>
            </a:r>
          </a:p>
          <a:p>
            <a:pPr algn="l">
              <a:lnSpc>
                <a:spcPct val="125000"/>
              </a:lnSpc>
            </a:pPr>
            <a:r>
              <a:rPr sz="1200" b="0">
                <a:solidFill>
                  <a:srgbClr val="8899AA"/>
                </a:solidFill>
                <a:latin typeface="Arial"/>
              </a:rPr>
              <a:t>おめでとうございます。</a:t>
            </a:r>
          </a:p>
          <a:p>
            <a:pPr algn="l">
              <a:lnSpc>
                <a:spcPct val="125000"/>
              </a:lnSpc>
            </a:pPr>
            <a:r>
              <a:rPr sz="1200" b="0">
                <a:solidFill>
                  <a:srgbClr val="8899AA"/>
                </a:solidFill>
                <a:latin typeface="Arial"/>
              </a:rPr>
              <a:t>秋頃に動きがありそうとのお話、ぜひ詳しく</a:t>
            </a:r>
          </a:p>
          <a:p>
            <a:pPr algn="l">
              <a:lnSpc>
                <a:spcPct val="125000"/>
              </a:lnSpc>
            </a:pPr>
            <a:r>
              <a:rPr sz="1200" b="0">
                <a:solidFill>
                  <a:srgbClr val="8899AA"/>
                </a:solidFill>
                <a:latin typeface="Arial"/>
              </a:rPr>
              <a:t>お伺いできればと存じます。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594360"/>
            <a:ext cx="1353312" cy="384048"/>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12648"/>
            <a:ext cx="1353312" cy="347472"/>
          </a:xfrm>
          <a:prstGeom prst="rect">
            <a:avLst/>
          </a:prstGeom>
          <a:noFill/>
        </p:spPr>
        <p:txBody>
          <a:bodyPr wrap="square" anchor="ctr" lIns="0" rIns="0" tIns="0" bIns="0">
            <a:spAutoFit/>
          </a:bodyPr>
          <a:lstStyle/>
          <a:p>
            <a:pPr algn="ctr">
              <a:lnSpc>
                <a:spcPct val="100000"/>
              </a:lnSpc>
            </a:pPr>
            <a:r>
              <a:rPr sz="1200" b="1">
                <a:solidFill>
                  <a:srgbClr val="0F1923"/>
                </a:solidFill>
                <a:latin typeface="Arial"/>
              </a:rPr>
              <a:t>DEMO ③</a:t>
            </a:r>
          </a:p>
        </p:txBody>
      </p:sp>
      <p:sp>
        <p:nvSpPr>
          <p:cNvPr id="5" name="TextBox 4"/>
          <p:cNvSpPr txBox="1"/>
          <p:nvPr/>
        </p:nvSpPr>
        <p:spPr>
          <a:xfrm>
            <a:off x="822960" y="1097280"/>
            <a:ext cx="10515600" cy="731520"/>
          </a:xfrm>
          <a:prstGeom prst="rect">
            <a:avLst/>
          </a:prstGeom>
          <a:noFill/>
        </p:spPr>
        <p:txBody>
          <a:bodyPr wrap="square" anchor="t" lIns="0" rIns="0" tIns="0" bIns="0">
            <a:spAutoFit/>
          </a:bodyPr>
          <a:lstStyle/>
          <a:p>
            <a:pPr algn="l">
              <a:lnSpc>
                <a:spcPct val="100000"/>
              </a:lnSpc>
            </a:pPr>
            <a:r>
              <a:rPr sz="3200" b="1">
                <a:solidFill>
                  <a:srgbClr val="F0F4F8"/>
                </a:solidFill>
                <a:latin typeface="Arial Black"/>
              </a:rPr>
              <a:t>マネジメントダッシュボード（PC）</a:t>
            </a:r>
          </a:p>
        </p:txBody>
      </p:sp>
      <p:sp>
        <p:nvSpPr>
          <p:cNvPr id="6" name="Rounded Rectangle 5"/>
          <p:cNvSpPr/>
          <p:nvPr/>
        </p:nvSpPr>
        <p:spPr>
          <a:xfrm>
            <a:off x="822960" y="2148840"/>
            <a:ext cx="2542032" cy="14173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31720"/>
            <a:ext cx="2103120" cy="365760"/>
          </a:xfrm>
          <a:prstGeom prst="rect">
            <a:avLst/>
          </a:prstGeom>
          <a:noFill/>
        </p:spPr>
        <p:txBody>
          <a:bodyPr wrap="square" anchor="t" lIns="0" rIns="0" tIns="0" bIns="0">
            <a:spAutoFit/>
          </a:bodyPr>
          <a:lstStyle/>
          <a:p>
            <a:pPr algn="l">
              <a:lnSpc>
                <a:spcPct val="100000"/>
              </a:lnSpc>
            </a:pPr>
            <a:r>
              <a:rPr sz="1200" b="1">
                <a:solidFill>
                  <a:srgbClr val="8899AA"/>
                </a:solidFill>
                <a:latin typeface="Arial"/>
              </a:rPr>
              <a:t>今月の訪問件数</a:t>
            </a:r>
          </a:p>
        </p:txBody>
      </p:sp>
      <p:sp>
        <p:nvSpPr>
          <p:cNvPr id="8" name="TextBox 7"/>
          <p:cNvSpPr txBox="1"/>
          <p:nvPr/>
        </p:nvSpPr>
        <p:spPr>
          <a:xfrm>
            <a:off x="1097280" y="2697480"/>
            <a:ext cx="2103120" cy="731520"/>
          </a:xfrm>
          <a:prstGeom prst="rect">
            <a:avLst/>
          </a:prstGeom>
          <a:noFill/>
        </p:spPr>
        <p:txBody>
          <a:bodyPr wrap="square" anchor="t" lIns="0" rIns="0" tIns="0" bIns="0">
            <a:spAutoFit/>
          </a:bodyPr>
          <a:lstStyle/>
          <a:p>
            <a:pPr algn="l">
              <a:lnSpc>
                <a:spcPct val="100000"/>
              </a:lnSpc>
            </a:pPr>
            <a:r>
              <a:rPr sz="4000" b="1">
                <a:solidFill>
                  <a:srgbClr val="00D4FF"/>
                </a:solidFill>
                <a:latin typeface="Arial Black"/>
              </a:rPr>
              <a:t>23</a:t>
            </a:r>
          </a:p>
        </p:txBody>
      </p:sp>
      <p:sp>
        <p:nvSpPr>
          <p:cNvPr id="9" name="Rounded Rectangle 8"/>
          <p:cNvSpPr/>
          <p:nvPr/>
        </p:nvSpPr>
        <p:spPr>
          <a:xfrm>
            <a:off x="3502152" y="2148840"/>
            <a:ext cx="2542032" cy="14173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6472" y="2331720"/>
            <a:ext cx="2103120" cy="365760"/>
          </a:xfrm>
          <a:prstGeom prst="rect">
            <a:avLst/>
          </a:prstGeom>
          <a:noFill/>
        </p:spPr>
        <p:txBody>
          <a:bodyPr wrap="square" anchor="t" lIns="0" rIns="0" tIns="0" bIns="0">
            <a:spAutoFit/>
          </a:bodyPr>
          <a:lstStyle/>
          <a:p>
            <a:pPr algn="l">
              <a:lnSpc>
                <a:spcPct val="100000"/>
              </a:lnSpc>
            </a:pPr>
            <a:r>
              <a:rPr sz="1200" b="1">
                <a:solidFill>
                  <a:srgbClr val="8899AA"/>
                </a:solidFill>
                <a:latin typeface="Arial"/>
              </a:rPr>
              <a:t>未フォロー件数</a:t>
            </a:r>
          </a:p>
        </p:txBody>
      </p:sp>
      <p:sp>
        <p:nvSpPr>
          <p:cNvPr id="11" name="TextBox 10"/>
          <p:cNvSpPr txBox="1"/>
          <p:nvPr/>
        </p:nvSpPr>
        <p:spPr>
          <a:xfrm>
            <a:off x="3776472" y="2697480"/>
            <a:ext cx="2103120" cy="731520"/>
          </a:xfrm>
          <a:prstGeom prst="rect">
            <a:avLst/>
          </a:prstGeom>
          <a:noFill/>
        </p:spPr>
        <p:txBody>
          <a:bodyPr wrap="square" anchor="t" lIns="0" rIns="0" tIns="0" bIns="0">
            <a:spAutoFit/>
          </a:bodyPr>
          <a:lstStyle/>
          <a:p>
            <a:pPr algn="l">
              <a:lnSpc>
                <a:spcPct val="100000"/>
              </a:lnSpc>
            </a:pPr>
            <a:r>
              <a:rPr sz="4000" b="1">
                <a:solidFill>
                  <a:srgbClr val="F0F4F8"/>
                </a:solidFill>
                <a:latin typeface="Arial Black"/>
              </a:rPr>
              <a:t>11</a:t>
            </a:r>
          </a:p>
        </p:txBody>
      </p:sp>
      <p:sp>
        <p:nvSpPr>
          <p:cNvPr id="12" name="Rounded Rectangle 11"/>
          <p:cNvSpPr/>
          <p:nvPr/>
        </p:nvSpPr>
        <p:spPr>
          <a:xfrm>
            <a:off x="6181344" y="2148840"/>
            <a:ext cx="2542032" cy="14173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2331720"/>
            <a:ext cx="2103120" cy="365760"/>
          </a:xfrm>
          <a:prstGeom prst="rect">
            <a:avLst/>
          </a:prstGeom>
          <a:noFill/>
        </p:spPr>
        <p:txBody>
          <a:bodyPr wrap="square" anchor="t" lIns="0" rIns="0" tIns="0" bIns="0">
            <a:spAutoFit/>
          </a:bodyPr>
          <a:lstStyle/>
          <a:p>
            <a:pPr algn="l">
              <a:lnSpc>
                <a:spcPct val="100000"/>
              </a:lnSpc>
            </a:pPr>
            <a:r>
              <a:rPr sz="1200" b="1">
                <a:solidFill>
                  <a:srgbClr val="8899AA"/>
                </a:solidFill>
                <a:latin typeface="Arial"/>
              </a:rPr>
              <a:t>🟡 黄アラート</a:t>
            </a:r>
          </a:p>
        </p:txBody>
      </p:sp>
      <p:sp>
        <p:nvSpPr>
          <p:cNvPr id="14" name="TextBox 13"/>
          <p:cNvSpPr txBox="1"/>
          <p:nvPr/>
        </p:nvSpPr>
        <p:spPr>
          <a:xfrm>
            <a:off x="6455664" y="2697480"/>
            <a:ext cx="2103120" cy="731520"/>
          </a:xfrm>
          <a:prstGeom prst="rect">
            <a:avLst/>
          </a:prstGeom>
          <a:noFill/>
        </p:spPr>
        <p:txBody>
          <a:bodyPr wrap="square" anchor="t" lIns="0" rIns="0" tIns="0" bIns="0">
            <a:spAutoFit/>
          </a:bodyPr>
          <a:lstStyle/>
          <a:p>
            <a:pPr algn="l">
              <a:lnSpc>
                <a:spcPct val="100000"/>
              </a:lnSpc>
            </a:pPr>
            <a:r>
              <a:rPr sz="4000" b="1">
                <a:solidFill>
                  <a:srgbClr val="FFB800"/>
                </a:solidFill>
                <a:latin typeface="Arial Black"/>
              </a:rPr>
              <a:t>8</a:t>
            </a:r>
          </a:p>
        </p:txBody>
      </p:sp>
      <p:sp>
        <p:nvSpPr>
          <p:cNvPr id="15" name="Rounded Rectangle 14"/>
          <p:cNvSpPr/>
          <p:nvPr/>
        </p:nvSpPr>
        <p:spPr>
          <a:xfrm>
            <a:off x="8860536" y="2148840"/>
            <a:ext cx="2542032" cy="14173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331720"/>
            <a:ext cx="2103120" cy="365760"/>
          </a:xfrm>
          <a:prstGeom prst="rect">
            <a:avLst/>
          </a:prstGeom>
          <a:noFill/>
        </p:spPr>
        <p:txBody>
          <a:bodyPr wrap="square" anchor="t" lIns="0" rIns="0" tIns="0" bIns="0">
            <a:spAutoFit/>
          </a:bodyPr>
          <a:lstStyle/>
          <a:p>
            <a:pPr algn="l">
              <a:lnSpc>
                <a:spcPct val="100000"/>
              </a:lnSpc>
            </a:pPr>
            <a:r>
              <a:rPr sz="1200" b="1">
                <a:solidFill>
                  <a:srgbClr val="8899AA"/>
                </a:solidFill>
                <a:latin typeface="Arial"/>
              </a:rPr>
              <a:t>🔴 赤アラート</a:t>
            </a:r>
          </a:p>
        </p:txBody>
      </p:sp>
      <p:sp>
        <p:nvSpPr>
          <p:cNvPr id="17" name="TextBox 16"/>
          <p:cNvSpPr txBox="1"/>
          <p:nvPr/>
        </p:nvSpPr>
        <p:spPr>
          <a:xfrm>
            <a:off x="9134856" y="2697480"/>
            <a:ext cx="2103120" cy="731520"/>
          </a:xfrm>
          <a:prstGeom prst="rect">
            <a:avLst/>
          </a:prstGeom>
          <a:noFill/>
        </p:spPr>
        <p:txBody>
          <a:bodyPr wrap="square" anchor="t" lIns="0" rIns="0" tIns="0" bIns="0">
            <a:spAutoFit/>
          </a:bodyPr>
          <a:lstStyle/>
          <a:p>
            <a:pPr algn="l">
              <a:lnSpc>
                <a:spcPct val="100000"/>
              </a:lnSpc>
            </a:pPr>
            <a:r>
              <a:rPr sz="4000" b="1">
                <a:solidFill>
                  <a:srgbClr val="FF4444"/>
                </a:solidFill>
                <a:latin typeface="Arial Black"/>
              </a:rPr>
              <a:t>2</a:t>
            </a:r>
          </a:p>
        </p:txBody>
      </p:sp>
      <p:sp>
        <p:nvSpPr>
          <p:cNvPr id="18" name="Rounded Rectangle 17"/>
          <p:cNvSpPr/>
          <p:nvPr/>
        </p:nvSpPr>
        <p:spPr>
          <a:xfrm>
            <a:off x="822960" y="3794760"/>
            <a:ext cx="6675120" cy="228600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977639"/>
            <a:ext cx="6217920" cy="365760"/>
          </a:xfrm>
          <a:prstGeom prst="rect">
            <a:avLst/>
          </a:prstGeom>
          <a:noFill/>
        </p:spPr>
        <p:txBody>
          <a:bodyPr wrap="square" anchor="t" lIns="0" rIns="0" tIns="0" bIns="0">
            <a:spAutoFit/>
          </a:bodyPr>
          <a:lstStyle/>
          <a:p>
            <a:pPr algn="l">
              <a:lnSpc>
                <a:spcPct val="100000"/>
              </a:lnSpc>
            </a:pPr>
            <a:r>
              <a:rPr sz="1400" b="1">
                <a:solidFill>
                  <a:srgbClr val="F0F4F8"/>
                </a:solidFill>
                <a:latin typeface="Arial"/>
              </a:rPr>
              <a:t>担当者別状況（未フォロー件数順）</a:t>
            </a:r>
          </a:p>
        </p:txBody>
      </p:sp>
      <p:sp>
        <p:nvSpPr>
          <p:cNvPr id="20" name="Rounded Rectangle 19"/>
          <p:cNvSpPr/>
          <p:nvPr/>
        </p:nvSpPr>
        <p:spPr>
          <a:xfrm>
            <a:off x="1097280" y="4480560"/>
            <a:ext cx="6126480" cy="640080"/>
          </a:xfrm>
          <a:prstGeom prst="roundRect">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80160" y="4663440"/>
            <a:ext cx="274320" cy="274320"/>
          </a:xfrm>
          <a:prstGeom prst="ellipse">
            <a:avLst/>
          </a:prstGeom>
          <a:solidFill>
            <a:srgbClr val="F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91640" y="4480560"/>
            <a:ext cx="2743200" cy="640080"/>
          </a:xfrm>
          <a:prstGeom prst="rect">
            <a:avLst/>
          </a:prstGeom>
          <a:noFill/>
        </p:spPr>
        <p:txBody>
          <a:bodyPr wrap="square" anchor="ctr" lIns="0" rIns="0" tIns="0" bIns="0">
            <a:spAutoFit/>
          </a:bodyPr>
          <a:lstStyle/>
          <a:p>
            <a:pPr algn="l">
              <a:lnSpc>
                <a:spcPct val="100000"/>
              </a:lnSpc>
            </a:pPr>
            <a:r>
              <a:rPr sz="1500" b="1">
                <a:solidFill>
                  <a:srgbClr val="F0F4F8"/>
                </a:solidFill>
                <a:latin typeface="Arial"/>
              </a:rPr>
              <a:t>佐藤</a:t>
            </a:r>
          </a:p>
        </p:txBody>
      </p:sp>
      <p:sp>
        <p:nvSpPr>
          <p:cNvPr id="23" name="TextBox 22"/>
          <p:cNvSpPr txBox="1"/>
          <p:nvPr/>
        </p:nvSpPr>
        <p:spPr>
          <a:xfrm>
            <a:off x="3657600" y="4480560"/>
            <a:ext cx="3383280" cy="640080"/>
          </a:xfrm>
          <a:prstGeom prst="rect">
            <a:avLst/>
          </a:prstGeom>
          <a:noFill/>
        </p:spPr>
        <p:txBody>
          <a:bodyPr wrap="square" anchor="ctr" lIns="0" rIns="0" tIns="0" bIns="0">
            <a:spAutoFit/>
          </a:bodyPr>
          <a:lstStyle/>
          <a:p>
            <a:pPr algn="r">
              <a:lnSpc>
                <a:spcPct val="100000"/>
              </a:lnSpc>
            </a:pPr>
            <a:r>
              <a:rPr sz="1300" b="0">
                <a:solidFill>
                  <a:srgbClr val="8899AA"/>
                </a:solidFill>
                <a:latin typeface="Arial"/>
              </a:rPr>
              <a:t>訪問14件 / 未フォロー11件</a:t>
            </a:r>
          </a:p>
        </p:txBody>
      </p:sp>
      <p:sp>
        <p:nvSpPr>
          <p:cNvPr id="24" name="Rounded Rectangle 23"/>
          <p:cNvSpPr/>
          <p:nvPr/>
        </p:nvSpPr>
        <p:spPr>
          <a:xfrm>
            <a:off x="1097280" y="5230368"/>
            <a:ext cx="6126480" cy="640080"/>
          </a:xfrm>
          <a:prstGeom prst="roundRect">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80160" y="5413248"/>
            <a:ext cx="274320" cy="274320"/>
          </a:xfrm>
          <a:prstGeom prst="ellipse">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91640" y="5230368"/>
            <a:ext cx="2743200" cy="640080"/>
          </a:xfrm>
          <a:prstGeom prst="rect">
            <a:avLst/>
          </a:prstGeom>
          <a:noFill/>
        </p:spPr>
        <p:txBody>
          <a:bodyPr wrap="square" anchor="ctr" lIns="0" rIns="0" tIns="0" bIns="0">
            <a:spAutoFit/>
          </a:bodyPr>
          <a:lstStyle/>
          <a:p>
            <a:pPr algn="l">
              <a:lnSpc>
                <a:spcPct val="100000"/>
              </a:lnSpc>
            </a:pPr>
            <a:r>
              <a:rPr sz="1500" b="1">
                <a:solidFill>
                  <a:srgbClr val="F0F4F8"/>
                </a:solidFill>
                <a:latin typeface="Arial"/>
              </a:rPr>
              <a:t>鈴木M</a:t>
            </a:r>
          </a:p>
        </p:txBody>
      </p:sp>
      <p:sp>
        <p:nvSpPr>
          <p:cNvPr id="27" name="TextBox 26"/>
          <p:cNvSpPr txBox="1"/>
          <p:nvPr/>
        </p:nvSpPr>
        <p:spPr>
          <a:xfrm>
            <a:off x="3657600" y="5230368"/>
            <a:ext cx="3383280" cy="640080"/>
          </a:xfrm>
          <a:prstGeom prst="rect">
            <a:avLst/>
          </a:prstGeom>
          <a:noFill/>
        </p:spPr>
        <p:txBody>
          <a:bodyPr wrap="square" anchor="ctr" lIns="0" rIns="0" tIns="0" bIns="0">
            <a:spAutoFit/>
          </a:bodyPr>
          <a:lstStyle/>
          <a:p>
            <a:pPr algn="r">
              <a:lnSpc>
                <a:spcPct val="100000"/>
              </a:lnSpc>
            </a:pPr>
            <a:r>
              <a:rPr sz="1300" b="0">
                <a:solidFill>
                  <a:srgbClr val="8899AA"/>
                </a:solidFill>
                <a:latin typeface="Arial"/>
              </a:rPr>
              <a:t>訪問9件 / 未フォロー7件</a:t>
            </a:r>
          </a:p>
        </p:txBody>
      </p:sp>
      <p:sp>
        <p:nvSpPr>
          <p:cNvPr id="28" name="Rounded Rectangle 27"/>
          <p:cNvSpPr/>
          <p:nvPr/>
        </p:nvSpPr>
        <p:spPr>
          <a:xfrm>
            <a:off x="7680960" y="3794760"/>
            <a:ext cx="3657600" cy="228600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79" y="3977639"/>
            <a:ext cx="3200400" cy="365760"/>
          </a:xfrm>
          <a:prstGeom prst="rect">
            <a:avLst/>
          </a:prstGeom>
          <a:noFill/>
        </p:spPr>
        <p:txBody>
          <a:bodyPr wrap="square" anchor="t" lIns="0" rIns="0" tIns="0" bIns="0">
            <a:spAutoFit/>
          </a:bodyPr>
          <a:lstStyle/>
          <a:p>
            <a:pPr algn="l">
              <a:lnSpc>
                <a:spcPct val="100000"/>
              </a:lnSpc>
            </a:pPr>
            <a:r>
              <a:rPr sz="1400" b="1">
                <a:solidFill>
                  <a:srgbClr val="00D4FF"/>
                </a:solidFill>
                <a:latin typeface="Arial"/>
              </a:rPr>
              <a:t>📨 週次報告</a:t>
            </a:r>
          </a:p>
        </p:txBody>
      </p:sp>
      <p:sp>
        <p:nvSpPr>
          <p:cNvPr id="30" name="TextBox 29"/>
          <p:cNvSpPr txBox="1"/>
          <p:nvPr/>
        </p:nvSpPr>
        <p:spPr>
          <a:xfrm>
            <a:off x="7955279" y="4526280"/>
            <a:ext cx="3200400" cy="1371600"/>
          </a:xfrm>
          <a:prstGeom prst="rect">
            <a:avLst/>
          </a:prstGeom>
          <a:noFill/>
        </p:spPr>
        <p:txBody>
          <a:bodyPr wrap="square" anchor="t" lIns="0" rIns="0" tIns="0" bIns="0">
            <a:spAutoFit/>
          </a:bodyPr>
          <a:lstStyle/>
          <a:p>
            <a:pPr algn="l">
              <a:lnSpc>
                <a:spcPct val="130000"/>
              </a:lnSpc>
            </a:pPr>
            <a:r>
              <a:rPr sz="1300" b="0">
                <a:solidFill>
                  <a:srgbClr val="8899AA"/>
                </a:solidFill>
                <a:latin typeface="Arial"/>
              </a:rPr>
              <a:t>毎週</a:t>
            </a:r>
            <a:r>
              <a:rPr sz="1300" b="1">
                <a:solidFill>
                  <a:srgbClr val="F0F4F8"/>
                </a:solidFill>
                <a:latin typeface="Arial"/>
              </a:rPr>
              <a:t>火曜13:00</a:t>
            </a:r>
            <a:r>
              <a:rPr sz="1300" b="0">
                <a:solidFill>
                  <a:srgbClr val="8899AA"/>
                </a:solidFill>
                <a:latin typeface="Arial"/>
              </a:rPr>
              <a:t>に</a:t>
            </a:r>
          </a:p>
          <a:p>
            <a:pPr algn="l">
              <a:lnSpc>
                <a:spcPct val="130000"/>
              </a:lnSpc>
            </a:pPr>
            <a:r>
              <a:rPr sz="1300" b="0">
                <a:solidFill>
                  <a:srgbClr val="8899AA"/>
                </a:solidFill>
                <a:latin typeface="Arial"/>
              </a:rPr>
              <a:t>サマリーを管理者へTeams自動送信。</a:t>
            </a:r>
          </a:p>
          <a:p>
            <a:pPr algn="l">
              <a:lnSpc>
                <a:spcPct val="130000"/>
              </a:lnSpc>
            </a:pPr>
            <a:r>
              <a:rPr sz="1300" b="0">
                <a:solidFill>
                  <a:srgbClr val="8899AA"/>
                </a:solidFill>
                <a:latin typeface="Arial"/>
              </a:rPr>
              <a:t>水曜の会議前に状況把握。</a:t>
            </a:r>
          </a:p>
          <a:p>
            <a:pPr algn="l">
              <a:lnSpc>
                <a:spcPct val="130000"/>
              </a:lnSpc>
            </a:pPr>
            <a:r>
              <a:rPr sz="1200" b="0">
                <a:solidFill>
                  <a:srgbClr val="0099CC"/>
                </a:solidFill>
                <a:latin typeface="Arial"/>
              </a:rPr>
              <a:t>曜日・時刻は設定で変更可。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なぜ追加コストゼロで作れるのか</a:t>
            </a:r>
          </a:p>
        </p:txBody>
      </p:sp>
      <p:sp>
        <p:nvSpPr>
          <p:cNvPr id="4" name="TextBox 3"/>
          <p:cNvSpPr txBox="1"/>
          <p:nvPr/>
        </p:nvSpPr>
        <p:spPr>
          <a:xfrm>
            <a:off x="822960" y="1554480"/>
            <a:ext cx="10515600" cy="548640"/>
          </a:xfrm>
          <a:prstGeom prst="rect">
            <a:avLst/>
          </a:prstGeom>
          <a:noFill/>
        </p:spPr>
        <p:txBody>
          <a:bodyPr wrap="square" anchor="t" lIns="0" rIns="0" tIns="0" bIns="0">
            <a:spAutoFit/>
          </a:bodyPr>
          <a:lstStyle/>
          <a:p>
            <a:pPr algn="l">
              <a:lnSpc>
                <a:spcPct val="100000"/>
              </a:lnSpc>
            </a:pPr>
            <a:r>
              <a:rPr sz="1500" b="0">
                <a:solidFill>
                  <a:srgbClr val="8899AA"/>
                </a:solidFill>
                <a:latin typeface="Arial"/>
              </a:rPr>
              <a:t>すでに契約済みの Microsoft 365 上で構築。新しいシステムの購入は不要。</a:t>
            </a:r>
          </a:p>
        </p:txBody>
      </p:sp>
      <p:sp>
        <p:nvSpPr>
          <p:cNvPr id="5" name="Rounded Rectangle 4"/>
          <p:cNvSpPr/>
          <p:nvPr/>
        </p:nvSpPr>
        <p:spPr>
          <a:xfrm>
            <a:off x="822960" y="2377440"/>
            <a:ext cx="6400800" cy="713232"/>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377440"/>
            <a:ext cx="109728" cy="71323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377440"/>
            <a:ext cx="2194560" cy="713232"/>
          </a:xfrm>
          <a:prstGeom prst="rect">
            <a:avLst/>
          </a:prstGeom>
          <a:noFill/>
        </p:spPr>
        <p:txBody>
          <a:bodyPr wrap="square" anchor="ctr" lIns="0" rIns="0" tIns="0" bIns="0">
            <a:spAutoFit/>
          </a:bodyPr>
          <a:lstStyle/>
          <a:p>
            <a:pPr algn="l">
              <a:lnSpc>
                <a:spcPct val="100000"/>
              </a:lnSpc>
            </a:pPr>
            <a:r>
              <a:rPr sz="1600" b="1">
                <a:solidFill>
                  <a:srgbClr val="00D4FF"/>
                </a:solidFill>
                <a:latin typeface="Arial"/>
              </a:rPr>
              <a:t>Power Apps</a:t>
            </a:r>
          </a:p>
        </p:txBody>
      </p:sp>
      <p:sp>
        <p:nvSpPr>
          <p:cNvPr id="8" name="TextBox 7"/>
          <p:cNvSpPr txBox="1"/>
          <p:nvPr/>
        </p:nvSpPr>
        <p:spPr>
          <a:xfrm>
            <a:off x="3291840" y="2377440"/>
            <a:ext cx="3749039" cy="713232"/>
          </a:xfrm>
          <a:prstGeom prst="rect">
            <a:avLst/>
          </a:prstGeom>
          <a:noFill/>
        </p:spPr>
        <p:txBody>
          <a:bodyPr wrap="square" anchor="ctr" lIns="0" rIns="0" tIns="0" bIns="0">
            <a:spAutoFit/>
          </a:bodyPr>
          <a:lstStyle/>
          <a:p>
            <a:pPr algn="l">
              <a:lnSpc>
                <a:spcPct val="100000"/>
              </a:lnSpc>
            </a:pPr>
            <a:r>
              <a:rPr sz="1300" b="0">
                <a:solidFill>
                  <a:srgbClr val="F0F4F8"/>
                </a:solidFill>
                <a:latin typeface="Arial"/>
              </a:rPr>
              <a:t>アプリのUI（スマホ・PC両対応）</a:t>
            </a:r>
          </a:p>
        </p:txBody>
      </p:sp>
      <p:sp>
        <p:nvSpPr>
          <p:cNvPr id="9" name="Rounded Rectangle 8"/>
          <p:cNvSpPr/>
          <p:nvPr/>
        </p:nvSpPr>
        <p:spPr>
          <a:xfrm>
            <a:off x="822960" y="3218688"/>
            <a:ext cx="6400800" cy="713232"/>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18688"/>
            <a:ext cx="109728" cy="71323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218688"/>
            <a:ext cx="2194560" cy="713232"/>
          </a:xfrm>
          <a:prstGeom prst="rect">
            <a:avLst/>
          </a:prstGeom>
          <a:noFill/>
        </p:spPr>
        <p:txBody>
          <a:bodyPr wrap="square" anchor="ctr" lIns="0" rIns="0" tIns="0" bIns="0">
            <a:spAutoFit/>
          </a:bodyPr>
          <a:lstStyle/>
          <a:p>
            <a:pPr algn="l">
              <a:lnSpc>
                <a:spcPct val="100000"/>
              </a:lnSpc>
            </a:pPr>
            <a:r>
              <a:rPr sz="1600" b="1">
                <a:solidFill>
                  <a:srgbClr val="00D4FF"/>
                </a:solidFill>
                <a:latin typeface="Arial"/>
              </a:rPr>
              <a:t>SharePoint</a:t>
            </a:r>
          </a:p>
        </p:txBody>
      </p:sp>
      <p:sp>
        <p:nvSpPr>
          <p:cNvPr id="12" name="TextBox 11"/>
          <p:cNvSpPr txBox="1"/>
          <p:nvPr/>
        </p:nvSpPr>
        <p:spPr>
          <a:xfrm>
            <a:off x="3291840" y="3218688"/>
            <a:ext cx="3749039" cy="713232"/>
          </a:xfrm>
          <a:prstGeom prst="rect">
            <a:avLst/>
          </a:prstGeom>
          <a:noFill/>
        </p:spPr>
        <p:txBody>
          <a:bodyPr wrap="square" anchor="ctr" lIns="0" rIns="0" tIns="0" bIns="0">
            <a:spAutoFit/>
          </a:bodyPr>
          <a:lstStyle/>
          <a:p>
            <a:pPr algn="l">
              <a:lnSpc>
                <a:spcPct val="100000"/>
              </a:lnSpc>
            </a:pPr>
            <a:r>
              <a:rPr sz="1300" b="0">
                <a:solidFill>
                  <a:srgbClr val="F0F4F8"/>
                </a:solidFill>
                <a:latin typeface="Arial"/>
              </a:rPr>
              <a:t>データベース（顧客・仲介・履歴）</a:t>
            </a:r>
          </a:p>
        </p:txBody>
      </p:sp>
      <p:sp>
        <p:nvSpPr>
          <p:cNvPr id="13" name="Rounded Rectangle 12"/>
          <p:cNvSpPr/>
          <p:nvPr/>
        </p:nvSpPr>
        <p:spPr>
          <a:xfrm>
            <a:off x="822960" y="4059936"/>
            <a:ext cx="6400800" cy="713232"/>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4059936"/>
            <a:ext cx="109728" cy="71323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059936"/>
            <a:ext cx="2194560" cy="713232"/>
          </a:xfrm>
          <a:prstGeom prst="rect">
            <a:avLst/>
          </a:prstGeom>
          <a:noFill/>
        </p:spPr>
        <p:txBody>
          <a:bodyPr wrap="square" anchor="ctr" lIns="0" rIns="0" tIns="0" bIns="0">
            <a:spAutoFit/>
          </a:bodyPr>
          <a:lstStyle/>
          <a:p>
            <a:pPr algn="l">
              <a:lnSpc>
                <a:spcPct val="100000"/>
              </a:lnSpc>
            </a:pPr>
            <a:r>
              <a:rPr sz="1600" b="1">
                <a:solidFill>
                  <a:srgbClr val="00D4FF"/>
                </a:solidFill>
                <a:latin typeface="Arial"/>
              </a:rPr>
              <a:t>Power Automate</a:t>
            </a:r>
          </a:p>
        </p:txBody>
      </p:sp>
      <p:sp>
        <p:nvSpPr>
          <p:cNvPr id="16" name="TextBox 15"/>
          <p:cNvSpPr txBox="1"/>
          <p:nvPr/>
        </p:nvSpPr>
        <p:spPr>
          <a:xfrm>
            <a:off x="3291840" y="4059936"/>
            <a:ext cx="3749039" cy="713232"/>
          </a:xfrm>
          <a:prstGeom prst="rect">
            <a:avLst/>
          </a:prstGeom>
          <a:noFill/>
        </p:spPr>
        <p:txBody>
          <a:bodyPr wrap="square" anchor="ctr" lIns="0" rIns="0" tIns="0" bIns="0">
            <a:spAutoFit/>
          </a:bodyPr>
          <a:lstStyle/>
          <a:p>
            <a:pPr algn="l">
              <a:lnSpc>
                <a:spcPct val="100000"/>
              </a:lnSpc>
            </a:pPr>
            <a:r>
              <a:rPr sz="1300" b="0">
                <a:solidFill>
                  <a:srgbClr val="F0F4F8"/>
                </a:solidFill>
                <a:latin typeface="Arial"/>
              </a:rPr>
              <a:t>自動化・アラート・Teams通知</a:t>
            </a:r>
          </a:p>
        </p:txBody>
      </p:sp>
      <p:sp>
        <p:nvSpPr>
          <p:cNvPr id="17" name="Rounded Rectangle 16"/>
          <p:cNvSpPr/>
          <p:nvPr/>
        </p:nvSpPr>
        <p:spPr>
          <a:xfrm>
            <a:off x="822960" y="4901184"/>
            <a:ext cx="6400800" cy="713232"/>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4901184"/>
            <a:ext cx="109728" cy="71323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901184"/>
            <a:ext cx="2194560" cy="713232"/>
          </a:xfrm>
          <a:prstGeom prst="rect">
            <a:avLst/>
          </a:prstGeom>
          <a:noFill/>
        </p:spPr>
        <p:txBody>
          <a:bodyPr wrap="square" anchor="ctr" lIns="0" rIns="0" tIns="0" bIns="0">
            <a:spAutoFit/>
          </a:bodyPr>
          <a:lstStyle/>
          <a:p>
            <a:pPr algn="l">
              <a:lnSpc>
                <a:spcPct val="100000"/>
              </a:lnSpc>
            </a:pPr>
            <a:r>
              <a:rPr sz="1600" b="1">
                <a:solidFill>
                  <a:srgbClr val="00D4FF"/>
                </a:solidFill>
                <a:latin typeface="Arial"/>
              </a:rPr>
              <a:t>Copilot</a:t>
            </a:r>
          </a:p>
        </p:txBody>
      </p:sp>
      <p:sp>
        <p:nvSpPr>
          <p:cNvPr id="20" name="TextBox 19"/>
          <p:cNvSpPr txBox="1"/>
          <p:nvPr/>
        </p:nvSpPr>
        <p:spPr>
          <a:xfrm>
            <a:off x="3291840" y="4901184"/>
            <a:ext cx="3749039" cy="713232"/>
          </a:xfrm>
          <a:prstGeom prst="rect">
            <a:avLst/>
          </a:prstGeom>
          <a:noFill/>
        </p:spPr>
        <p:txBody>
          <a:bodyPr wrap="square" anchor="ctr" lIns="0" rIns="0" tIns="0" bIns="0">
            <a:spAutoFit/>
          </a:bodyPr>
          <a:lstStyle/>
          <a:p>
            <a:pPr algn="l">
              <a:lnSpc>
                <a:spcPct val="100000"/>
              </a:lnSpc>
            </a:pPr>
            <a:r>
              <a:rPr sz="1300" b="0">
                <a:solidFill>
                  <a:srgbClr val="F0F4F8"/>
                </a:solidFill>
                <a:latin typeface="Arial"/>
              </a:rPr>
              <a:t>AI要約・メール下書き生成</a:t>
            </a:r>
          </a:p>
        </p:txBody>
      </p:sp>
      <p:sp>
        <p:nvSpPr>
          <p:cNvPr id="21" name="Rounded Rectangle 20"/>
          <p:cNvSpPr/>
          <p:nvPr/>
        </p:nvSpPr>
        <p:spPr>
          <a:xfrm>
            <a:off x="7589520" y="2377440"/>
            <a:ext cx="3749039" cy="3383280"/>
          </a:xfrm>
          <a:prstGeom prst="roundRect">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2697480"/>
            <a:ext cx="3200400" cy="457200"/>
          </a:xfrm>
          <a:prstGeom prst="rect">
            <a:avLst/>
          </a:prstGeom>
          <a:noFill/>
        </p:spPr>
        <p:txBody>
          <a:bodyPr wrap="square" anchor="t" lIns="0" rIns="0" tIns="0" bIns="0">
            <a:spAutoFit/>
          </a:bodyPr>
          <a:lstStyle/>
          <a:p>
            <a:pPr algn="l">
              <a:lnSpc>
                <a:spcPct val="100000"/>
              </a:lnSpc>
            </a:pPr>
            <a:r>
              <a:rPr sz="1400" b="1">
                <a:solidFill>
                  <a:srgbClr val="00CC88"/>
                </a:solidFill>
                <a:latin typeface="Arial"/>
              </a:rPr>
              <a:t>テスト段階</a:t>
            </a:r>
          </a:p>
        </p:txBody>
      </p:sp>
      <p:sp>
        <p:nvSpPr>
          <p:cNvPr id="23" name="TextBox 22"/>
          <p:cNvSpPr txBox="1"/>
          <p:nvPr/>
        </p:nvSpPr>
        <p:spPr>
          <a:xfrm>
            <a:off x="7863840" y="3108960"/>
            <a:ext cx="3291840" cy="822960"/>
          </a:xfrm>
          <a:prstGeom prst="rect">
            <a:avLst/>
          </a:prstGeom>
          <a:noFill/>
        </p:spPr>
        <p:txBody>
          <a:bodyPr wrap="square" anchor="t" lIns="0" rIns="0" tIns="0" bIns="0">
            <a:spAutoFit/>
          </a:bodyPr>
          <a:lstStyle/>
          <a:p>
            <a:pPr algn="l">
              <a:lnSpc>
                <a:spcPct val="100000"/>
              </a:lnSpc>
            </a:pPr>
            <a:r>
              <a:rPr sz="5200" b="1">
                <a:solidFill>
                  <a:srgbClr val="00CC88"/>
                </a:solidFill>
                <a:latin typeface="Arial Black"/>
              </a:rPr>
              <a:t>¥0</a:t>
            </a:r>
          </a:p>
        </p:txBody>
      </p:sp>
      <p:sp>
        <p:nvSpPr>
          <p:cNvPr id="24" name="TextBox 23"/>
          <p:cNvSpPr txBox="1"/>
          <p:nvPr/>
        </p:nvSpPr>
        <p:spPr>
          <a:xfrm>
            <a:off x="7863840" y="4069080"/>
            <a:ext cx="3200400" cy="365760"/>
          </a:xfrm>
          <a:prstGeom prst="rect">
            <a:avLst/>
          </a:prstGeom>
          <a:noFill/>
        </p:spPr>
        <p:txBody>
          <a:bodyPr wrap="square" anchor="t" lIns="0" rIns="0" tIns="0" bIns="0">
            <a:spAutoFit/>
          </a:bodyPr>
          <a:lstStyle/>
          <a:p>
            <a:pPr algn="l">
              <a:lnSpc>
                <a:spcPct val="100000"/>
              </a:lnSpc>
            </a:pPr>
            <a:r>
              <a:rPr sz="1300" b="1">
                <a:solidFill>
                  <a:srgbClr val="8899AA"/>
                </a:solidFill>
                <a:latin typeface="Arial"/>
              </a:rPr>
              <a:t>本番展開（営業のみ）</a:t>
            </a:r>
          </a:p>
        </p:txBody>
      </p:sp>
      <p:sp>
        <p:nvSpPr>
          <p:cNvPr id="25" name="TextBox 24"/>
          <p:cNvSpPr txBox="1"/>
          <p:nvPr/>
        </p:nvSpPr>
        <p:spPr>
          <a:xfrm>
            <a:off x="7863840" y="4480560"/>
            <a:ext cx="3291840" cy="82296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約750</a:t>
            </a:r>
            <a:r>
              <a:rPr sz="1400" b="0">
                <a:solidFill>
                  <a:srgbClr val="8899AA"/>
                </a:solidFill>
                <a:latin typeface="Arial"/>
              </a:rPr>
              <a:t>円/人・月</a:t>
            </a:r>
          </a:p>
        </p:txBody>
      </p:sp>
      <p:sp>
        <p:nvSpPr>
          <p:cNvPr id="26" name="TextBox 25"/>
          <p:cNvSpPr txBox="1"/>
          <p:nvPr/>
        </p:nvSpPr>
        <p:spPr>
          <a:xfrm>
            <a:off x="7863840" y="5257800"/>
            <a:ext cx="3291840" cy="457200"/>
          </a:xfrm>
          <a:prstGeom prst="rect">
            <a:avLst/>
          </a:prstGeom>
          <a:noFill/>
        </p:spPr>
        <p:txBody>
          <a:bodyPr wrap="square" anchor="t" lIns="0" rIns="0" tIns="0" bIns="0">
            <a:spAutoFit/>
          </a:bodyPr>
          <a:lstStyle/>
          <a:p>
            <a:pPr algn="l">
              <a:lnSpc>
                <a:spcPct val="100000"/>
              </a:lnSpc>
            </a:pPr>
            <a:r>
              <a:rPr sz="1300" b="1">
                <a:solidFill>
                  <a:srgbClr val="0099CC"/>
                </a:solidFill>
                <a:latin typeface="Arial"/>
              </a:rPr>
              <a:t>例）営業3名 = 約2,250円/月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段階的に、リスクなく広げる</a:t>
            </a:r>
          </a:p>
        </p:txBody>
      </p:sp>
      <p:sp>
        <p:nvSpPr>
          <p:cNvPr id="4" name="Rounded Rectangle 3"/>
          <p:cNvSpPr/>
          <p:nvPr/>
        </p:nvSpPr>
        <p:spPr>
          <a:xfrm>
            <a:off x="822960" y="2194560"/>
            <a:ext cx="3456432" cy="30175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43000" y="2514600"/>
            <a:ext cx="777240" cy="77724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587752"/>
            <a:ext cx="777240" cy="640080"/>
          </a:xfrm>
          <a:prstGeom prst="rect">
            <a:avLst/>
          </a:prstGeom>
          <a:noFill/>
        </p:spPr>
        <p:txBody>
          <a:bodyPr wrap="square" anchor="ctr" lIns="0" rIns="0" tIns="0" bIns="0">
            <a:spAutoFit/>
          </a:bodyPr>
          <a:lstStyle/>
          <a:p>
            <a:pPr algn="ctr">
              <a:lnSpc>
                <a:spcPct val="100000"/>
              </a:lnSpc>
            </a:pPr>
            <a:r>
              <a:rPr sz="2800" b="1">
                <a:solidFill>
                  <a:srgbClr val="0F1923"/>
                </a:solidFill>
                <a:latin typeface="Arial Black"/>
              </a:rPr>
              <a:t>1</a:t>
            </a:r>
          </a:p>
        </p:txBody>
      </p:sp>
      <p:sp>
        <p:nvSpPr>
          <p:cNvPr id="7" name="TextBox 6"/>
          <p:cNvSpPr txBox="1"/>
          <p:nvPr/>
        </p:nvSpPr>
        <p:spPr>
          <a:xfrm>
            <a:off x="1143000" y="3520440"/>
            <a:ext cx="2834640" cy="457200"/>
          </a:xfrm>
          <a:prstGeom prst="rect">
            <a:avLst/>
          </a:prstGeom>
          <a:noFill/>
        </p:spPr>
        <p:txBody>
          <a:bodyPr wrap="square" anchor="t" lIns="0" rIns="0" tIns="0" bIns="0">
            <a:spAutoFit/>
          </a:bodyPr>
          <a:lstStyle/>
          <a:p>
            <a:pPr algn="l">
              <a:lnSpc>
                <a:spcPct val="100000"/>
              </a:lnSpc>
            </a:pPr>
            <a:r>
              <a:rPr sz="1800" b="1">
                <a:solidFill>
                  <a:srgbClr val="F0F4F8"/>
                </a:solidFill>
                <a:latin typeface="Arial"/>
              </a:rPr>
              <a:t>フェーズ 1</a:t>
            </a:r>
          </a:p>
        </p:txBody>
      </p:sp>
      <p:sp>
        <p:nvSpPr>
          <p:cNvPr id="8" name="Rounded Rectangle 7"/>
          <p:cNvSpPr/>
          <p:nvPr/>
        </p:nvSpPr>
        <p:spPr>
          <a:xfrm>
            <a:off x="1143000" y="4023360"/>
            <a:ext cx="859536" cy="384048"/>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4041648"/>
            <a:ext cx="859536" cy="347472"/>
          </a:xfrm>
          <a:prstGeom prst="rect">
            <a:avLst/>
          </a:prstGeom>
          <a:noFill/>
        </p:spPr>
        <p:txBody>
          <a:bodyPr wrap="square" anchor="ctr" lIns="0" rIns="0" tIns="0" bIns="0">
            <a:spAutoFit/>
          </a:bodyPr>
          <a:lstStyle/>
          <a:p>
            <a:pPr algn="ctr">
              <a:lnSpc>
                <a:spcPct val="100000"/>
              </a:lnSpc>
            </a:pPr>
            <a:r>
              <a:rPr sz="1200" b="1">
                <a:solidFill>
                  <a:srgbClr val="0F1923"/>
                </a:solidFill>
                <a:latin typeface="Arial"/>
              </a:rPr>
              <a:t>今ここ</a:t>
            </a:r>
          </a:p>
        </p:txBody>
      </p:sp>
      <p:sp>
        <p:nvSpPr>
          <p:cNvPr id="10" name="TextBox 9"/>
          <p:cNvSpPr txBox="1"/>
          <p:nvPr/>
        </p:nvSpPr>
        <p:spPr>
          <a:xfrm>
            <a:off x="1143000" y="4572000"/>
            <a:ext cx="2834640" cy="914400"/>
          </a:xfrm>
          <a:prstGeom prst="rect">
            <a:avLst/>
          </a:prstGeom>
          <a:noFill/>
        </p:spPr>
        <p:txBody>
          <a:bodyPr wrap="square" anchor="t" lIns="0" rIns="0" tIns="0" bIns="0">
            <a:spAutoFit/>
          </a:bodyPr>
          <a:lstStyle/>
          <a:p>
            <a:pPr algn="l">
              <a:lnSpc>
                <a:spcPct val="125000"/>
              </a:lnSpc>
            </a:pPr>
            <a:r>
              <a:rPr sz="1300" b="0">
                <a:solidFill>
                  <a:srgbClr val="8899AA"/>
                </a:solidFill>
                <a:latin typeface="Arial"/>
              </a:rPr>
              <a:t>テスト版で検証（1人）。動作と効果を確認。</a:t>
            </a:r>
          </a:p>
        </p:txBody>
      </p:sp>
      <p:sp>
        <p:nvSpPr>
          <p:cNvPr id="11" name="TextBox 10"/>
          <p:cNvSpPr txBox="1"/>
          <p:nvPr/>
        </p:nvSpPr>
        <p:spPr>
          <a:xfrm>
            <a:off x="4069080" y="3291840"/>
            <a:ext cx="365760" cy="548640"/>
          </a:xfrm>
          <a:prstGeom prst="rect">
            <a:avLst/>
          </a:prstGeom>
          <a:noFill/>
        </p:spPr>
        <p:txBody>
          <a:bodyPr wrap="square" anchor="t" lIns="0" rIns="0" tIns="0" bIns="0">
            <a:spAutoFit/>
          </a:bodyPr>
          <a:lstStyle/>
          <a:p>
            <a:pPr algn="ctr">
              <a:lnSpc>
                <a:spcPct val="100000"/>
              </a:lnSpc>
            </a:pPr>
            <a:r>
              <a:rPr sz="2400" b="1">
                <a:solidFill>
                  <a:srgbClr val="00D4FF"/>
                </a:solidFill>
                <a:latin typeface="Arial"/>
              </a:rPr>
              <a:t>→</a:t>
            </a:r>
          </a:p>
        </p:txBody>
      </p:sp>
      <p:sp>
        <p:nvSpPr>
          <p:cNvPr id="12" name="Rounded Rectangle 11"/>
          <p:cNvSpPr/>
          <p:nvPr/>
        </p:nvSpPr>
        <p:spPr>
          <a:xfrm>
            <a:off x="4526280" y="2194560"/>
            <a:ext cx="3456432" cy="30175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46320" y="2514600"/>
            <a:ext cx="777240" cy="777240"/>
          </a:xfrm>
          <a:prstGeom prst="ellipse">
            <a:avLst/>
          </a:prstGeom>
          <a:solidFill>
            <a:srgbClr val="00C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2587752"/>
            <a:ext cx="777240" cy="640080"/>
          </a:xfrm>
          <a:prstGeom prst="rect">
            <a:avLst/>
          </a:prstGeom>
          <a:noFill/>
        </p:spPr>
        <p:txBody>
          <a:bodyPr wrap="square" anchor="ctr" lIns="0" rIns="0" tIns="0" bIns="0">
            <a:spAutoFit/>
          </a:bodyPr>
          <a:lstStyle/>
          <a:p>
            <a:pPr algn="ctr">
              <a:lnSpc>
                <a:spcPct val="100000"/>
              </a:lnSpc>
            </a:pPr>
            <a:r>
              <a:rPr sz="2800" b="1">
                <a:solidFill>
                  <a:srgbClr val="0F1923"/>
                </a:solidFill>
                <a:latin typeface="Arial Black"/>
              </a:rPr>
              <a:t>2</a:t>
            </a:r>
          </a:p>
        </p:txBody>
      </p:sp>
      <p:sp>
        <p:nvSpPr>
          <p:cNvPr id="15" name="TextBox 14"/>
          <p:cNvSpPr txBox="1"/>
          <p:nvPr/>
        </p:nvSpPr>
        <p:spPr>
          <a:xfrm>
            <a:off x="4846320" y="3520440"/>
            <a:ext cx="2834640" cy="457200"/>
          </a:xfrm>
          <a:prstGeom prst="rect">
            <a:avLst/>
          </a:prstGeom>
          <a:noFill/>
        </p:spPr>
        <p:txBody>
          <a:bodyPr wrap="square" anchor="t" lIns="0" rIns="0" tIns="0" bIns="0">
            <a:spAutoFit/>
          </a:bodyPr>
          <a:lstStyle/>
          <a:p>
            <a:pPr algn="l">
              <a:lnSpc>
                <a:spcPct val="100000"/>
              </a:lnSpc>
            </a:pPr>
            <a:r>
              <a:rPr sz="1800" b="1">
                <a:solidFill>
                  <a:srgbClr val="F0F4F8"/>
                </a:solidFill>
                <a:latin typeface="Arial"/>
              </a:rPr>
              <a:t>フェーズ 2</a:t>
            </a:r>
          </a:p>
        </p:txBody>
      </p:sp>
      <p:sp>
        <p:nvSpPr>
          <p:cNvPr id="16" name="Rounded Rectangle 15"/>
          <p:cNvSpPr/>
          <p:nvPr/>
        </p:nvSpPr>
        <p:spPr>
          <a:xfrm>
            <a:off x="4846320" y="4023360"/>
            <a:ext cx="859536" cy="384048"/>
          </a:xfrm>
          <a:prstGeom prst="roundRect">
            <a:avLst/>
          </a:prstGeom>
          <a:solidFill>
            <a:srgbClr val="00C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4041648"/>
            <a:ext cx="859536" cy="347472"/>
          </a:xfrm>
          <a:prstGeom prst="rect">
            <a:avLst/>
          </a:prstGeom>
          <a:noFill/>
        </p:spPr>
        <p:txBody>
          <a:bodyPr wrap="square" anchor="ctr" lIns="0" rIns="0" tIns="0" bIns="0">
            <a:spAutoFit/>
          </a:bodyPr>
          <a:lstStyle/>
          <a:p>
            <a:pPr algn="ctr">
              <a:lnSpc>
                <a:spcPct val="100000"/>
              </a:lnSpc>
            </a:pPr>
            <a:r>
              <a:rPr sz="1200" b="1">
                <a:solidFill>
                  <a:srgbClr val="0F1923"/>
                </a:solidFill>
                <a:latin typeface="Arial"/>
              </a:rPr>
              <a:t>承認後</a:t>
            </a:r>
          </a:p>
        </p:txBody>
      </p:sp>
      <p:sp>
        <p:nvSpPr>
          <p:cNvPr id="18" name="TextBox 17"/>
          <p:cNvSpPr txBox="1"/>
          <p:nvPr/>
        </p:nvSpPr>
        <p:spPr>
          <a:xfrm>
            <a:off x="4846320" y="4572000"/>
            <a:ext cx="2834640" cy="914400"/>
          </a:xfrm>
          <a:prstGeom prst="rect">
            <a:avLst/>
          </a:prstGeom>
          <a:noFill/>
        </p:spPr>
        <p:txBody>
          <a:bodyPr wrap="square" anchor="t" lIns="0" rIns="0" tIns="0" bIns="0">
            <a:spAutoFit/>
          </a:bodyPr>
          <a:lstStyle/>
          <a:p>
            <a:pPr algn="l">
              <a:lnSpc>
                <a:spcPct val="125000"/>
              </a:lnSpc>
            </a:pPr>
            <a:r>
              <a:rPr sz="1300" b="0">
                <a:solidFill>
                  <a:srgbClr val="8899AA"/>
                </a:solidFill>
                <a:latin typeface="Arial"/>
              </a:rPr>
              <a:t>営業チームへ展開。ライセンスを人数分追加。</a:t>
            </a:r>
          </a:p>
        </p:txBody>
      </p:sp>
      <p:sp>
        <p:nvSpPr>
          <p:cNvPr id="19" name="TextBox 18"/>
          <p:cNvSpPr txBox="1"/>
          <p:nvPr/>
        </p:nvSpPr>
        <p:spPr>
          <a:xfrm>
            <a:off x="7772400" y="3291840"/>
            <a:ext cx="365760" cy="548640"/>
          </a:xfrm>
          <a:prstGeom prst="rect">
            <a:avLst/>
          </a:prstGeom>
          <a:noFill/>
        </p:spPr>
        <p:txBody>
          <a:bodyPr wrap="square" anchor="t" lIns="0" rIns="0" tIns="0" bIns="0">
            <a:spAutoFit/>
          </a:bodyPr>
          <a:lstStyle/>
          <a:p>
            <a:pPr algn="ctr">
              <a:lnSpc>
                <a:spcPct val="100000"/>
              </a:lnSpc>
            </a:pPr>
            <a:r>
              <a:rPr sz="2400" b="1">
                <a:solidFill>
                  <a:srgbClr val="00CC88"/>
                </a:solidFill>
                <a:latin typeface="Arial"/>
              </a:rPr>
              <a:t>→</a:t>
            </a:r>
          </a:p>
        </p:txBody>
      </p:sp>
      <p:sp>
        <p:nvSpPr>
          <p:cNvPr id="20" name="Rounded Rectangle 19"/>
          <p:cNvSpPr/>
          <p:nvPr/>
        </p:nvSpPr>
        <p:spPr>
          <a:xfrm>
            <a:off x="8229600" y="2194560"/>
            <a:ext cx="3456432" cy="30175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549640" y="2514600"/>
            <a:ext cx="777240" cy="777240"/>
          </a:xfrm>
          <a:prstGeom prst="ellipse">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2587752"/>
            <a:ext cx="777240" cy="640080"/>
          </a:xfrm>
          <a:prstGeom prst="rect">
            <a:avLst/>
          </a:prstGeom>
          <a:noFill/>
        </p:spPr>
        <p:txBody>
          <a:bodyPr wrap="square" anchor="ctr" lIns="0" rIns="0" tIns="0" bIns="0">
            <a:spAutoFit/>
          </a:bodyPr>
          <a:lstStyle/>
          <a:p>
            <a:pPr algn="ctr">
              <a:lnSpc>
                <a:spcPct val="100000"/>
              </a:lnSpc>
            </a:pPr>
            <a:r>
              <a:rPr sz="2800" b="1">
                <a:solidFill>
                  <a:srgbClr val="0F1923"/>
                </a:solidFill>
                <a:latin typeface="Arial Black"/>
              </a:rPr>
              <a:t>3</a:t>
            </a:r>
          </a:p>
        </p:txBody>
      </p:sp>
      <p:sp>
        <p:nvSpPr>
          <p:cNvPr id="23" name="TextBox 22"/>
          <p:cNvSpPr txBox="1"/>
          <p:nvPr/>
        </p:nvSpPr>
        <p:spPr>
          <a:xfrm>
            <a:off x="8549640" y="3520440"/>
            <a:ext cx="2834640" cy="457200"/>
          </a:xfrm>
          <a:prstGeom prst="rect">
            <a:avLst/>
          </a:prstGeom>
          <a:noFill/>
        </p:spPr>
        <p:txBody>
          <a:bodyPr wrap="square" anchor="t" lIns="0" rIns="0" tIns="0" bIns="0">
            <a:spAutoFit/>
          </a:bodyPr>
          <a:lstStyle/>
          <a:p>
            <a:pPr algn="l">
              <a:lnSpc>
                <a:spcPct val="100000"/>
              </a:lnSpc>
            </a:pPr>
            <a:r>
              <a:rPr sz="1800" b="1">
                <a:solidFill>
                  <a:srgbClr val="F0F4F8"/>
                </a:solidFill>
                <a:latin typeface="Arial"/>
              </a:rPr>
              <a:t>フェーズ 3</a:t>
            </a:r>
          </a:p>
        </p:txBody>
      </p:sp>
      <p:sp>
        <p:nvSpPr>
          <p:cNvPr id="24" name="Rounded Rectangle 23"/>
          <p:cNvSpPr/>
          <p:nvPr/>
        </p:nvSpPr>
        <p:spPr>
          <a:xfrm>
            <a:off x="8549640" y="4023360"/>
            <a:ext cx="694944" cy="384048"/>
          </a:xfrm>
          <a:prstGeom prst="round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4041648"/>
            <a:ext cx="694944" cy="347472"/>
          </a:xfrm>
          <a:prstGeom prst="rect">
            <a:avLst/>
          </a:prstGeom>
          <a:noFill/>
        </p:spPr>
        <p:txBody>
          <a:bodyPr wrap="square" anchor="ctr" lIns="0" rIns="0" tIns="0" bIns="0">
            <a:spAutoFit/>
          </a:bodyPr>
          <a:lstStyle/>
          <a:p>
            <a:pPr algn="ctr">
              <a:lnSpc>
                <a:spcPct val="100000"/>
              </a:lnSpc>
            </a:pPr>
            <a:r>
              <a:rPr sz="1200" b="1">
                <a:solidFill>
                  <a:srgbClr val="0F1923"/>
                </a:solidFill>
                <a:latin typeface="Arial"/>
              </a:rPr>
              <a:t>発展</a:t>
            </a:r>
          </a:p>
        </p:txBody>
      </p:sp>
      <p:sp>
        <p:nvSpPr>
          <p:cNvPr id="26" name="TextBox 25"/>
          <p:cNvSpPr txBox="1"/>
          <p:nvPr/>
        </p:nvSpPr>
        <p:spPr>
          <a:xfrm>
            <a:off x="8549640" y="4572000"/>
            <a:ext cx="2834640" cy="914400"/>
          </a:xfrm>
          <a:prstGeom prst="rect">
            <a:avLst/>
          </a:prstGeom>
          <a:noFill/>
        </p:spPr>
        <p:txBody>
          <a:bodyPr wrap="square" anchor="t" lIns="0" rIns="0" tIns="0" bIns="0">
            <a:spAutoFit/>
          </a:bodyPr>
          <a:lstStyle/>
          <a:p>
            <a:pPr algn="l">
              <a:lnSpc>
                <a:spcPct val="125000"/>
              </a:lnSpc>
            </a:pPr>
            <a:r>
              <a:rPr sz="1300" b="0">
                <a:solidFill>
                  <a:srgbClr val="8899AA"/>
                </a:solidFill>
                <a:latin typeface="Arial"/>
              </a:rPr>
              <a:t>AI全自動化・Kintone連携で更に省力化。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将来ロードマップ</a:t>
            </a:r>
          </a:p>
        </p:txBody>
      </p:sp>
      <p:sp>
        <p:nvSpPr>
          <p:cNvPr id="4" name="Rounded Rectangle 3"/>
          <p:cNvSpPr/>
          <p:nvPr/>
        </p:nvSpPr>
        <p:spPr>
          <a:xfrm>
            <a:off x="822960" y="1920240"/>
            <a:ext cx="10515600" cy="123444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43000" y="2240280"/>
            <a:ext cx="594360" cy="594360"/>
          </a:xfrm>
          <a:prstGeom prst="ellipse">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258568"/>
            <a:ext cx="594360" cy="548640"/>
          </a:xfrm>
          <a:prstGeom prst="rect">
            <a:avLst/>
          </a:prstGeom>
          <a:noFill/>
        </p:spPr>
        <p:txBody>
          <a:bodyPr wrap="square" anchor="ctr" lIns="0" rIns="0" tIns="0" bIns="0">
            <a:spAutoFit/>
          </a:bodyPr>
          <a:lstStyle/>
          <a:p>
            <a:pPr algn="ctr">
              <a:lnSpc>
                <a:spcPct val="100000"/>
              </a:lnSpc>
            </a:pPr>
            <a:r>
              <a:rPr sz="2200" b="0">
                <a:solidFill>
                  <a:srgbClr val="F0F4F8"/>
                </a:solidFill>
                <a:latin typeface="Arial"/>
              </a:rPr>
              <a:t>🎙</a:t>
            </a:r>
          </a:p>
        </p:txBody>
      </p:sp>
      <p:sp>
        <p:nvSpPr>
          <p:cNvPr id="7" name="TextBox 6"/>
          <p:cNvSpPr txBox="1"/>
          <p:nvPr/>
        </p:nvSpPr>
        <p:spPr>
          <a:xfrm>
            <a:off x="2011680" y="2121408"/>
            <a:ext cx="8961120" cy="457200"/>
          </a:xfrm>
          <a:prstGeom prst="rect">
            <a:avLst/>
          </a:prstGeom>
          <a:noFill/>
        </p:spPr>
        <p:txBody>
          <a:bodyPr wrap="square" anchor="t" lIns="0" rIns="0" tIns="0" bIns="0">
            <a:spAutoFit/>
          </a:bodyPr>
          <a:lstStyle/>
          <a:p>
            <a:pPr algn="l">
              <a:lnSpc>
                <a:spcPct val="100000"/>
              </a:lnSpc>
            </a:pPr>
            <a:r>
              <a:rPr sz="1800" b="1">
                <a:solidFill>
                  <a:srgbClr val="00D4FF"/>
                </a:solidFill>
                <a:latin typeface="Arial"/>
              </a:rPr>
              <a:t>音声ワンボタンで全自動</a:t>
            </a:r>
          </a:p>
        </p:txBody>
      </p:sp>
      <p:sp>
        <p:nvSpPr>
          <p:cNvPr id="8" name="TextBox 7"/>
          <p:cNvSpPr txBox="1"/>
          <p:nvPr/>
        </p:nvSpPr>
        <p:spPr>
          <a:xfrm>
            <a:off x="2011680" y="2578608"/>
            <a:ext cx="8961120" cy="457200"/>
          </a:xfrm>
          <a:prstGeom prst="rect">
            <a:avLst/>
          </a:prstGeom>
          <a:noFill/>
        </p:spPr>
        <p:txBody>
          <a:bodyPr wrap="square" anchor="t" lIns="0" rIns="0" tIns="0" bIns="0">
            <a:spAutoFit/>
          </a:bodyPr>
          <a:lstStyle/>
          <a:p>
            <a:pPr algn="l">
              <a:lnSpc>
                <a:spcPct val="100000"/>
              </a:lnSpc>
            </a:pPr>
            <a:r>
              <a:rPr sz="1300" b="0">
                <a:solidFill>
                  <a:srgbClr val="8899AA"/>
                </a:solidFill>
                <a:latin typeface="Arial"/>
              </a:rPr>
              <a:t>録音 → 自動で文字起こし・要約・情報更新（Azure AI Speech + Azure OpenAI）</a:t>
            </a:r>
          </a:p>
        </p:txBody>
      </p:sp>
      <p:sp>
        <p:nvSpPr>
          <p:cNvPr id="9" name="Rounded Rectangle 8"/>
          <p:cNvSpPr/>
          <p:nvPr/>
        </p:nvSpPr>
        <p:spPr>
          <a:xfrm>
            <a:off x="822960" y="3291840"/>
            <a:ext cx="10515600" cy="123444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 y="3611880"/>
            <a:ext cx="594360" cy="594360"/>
          </a:xfrm>
          <a:prstGeom prst="ellipse">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630168"/>
            <a:ext cx="594360" cy="548640"/>
          </a:xfrm>
          <a:prstGeom prst="rect">
            <a:avLst/>
          </a:prstGeom>
          <a:noFill/>
        </p:spPr>
        <p:txBody>
          <a:bodyPr wrap="square" anchor="ctr" lIns="0" rIns="0" tIns="0" bIns="0">
            <a:spAutoFit/>
          </a:bodyPr>
          <a:lstStyle/>
          <a:p>
            <a:pPr algn="ctr">
              <a:lnSpc>
                <a:spcPct val="100000"/>
              </a:lnSpc>
            </a:pPr>
            <a:r>
              <a:rPr sz="2200" b="0">
                <a:solidFill>
                  <a:srgbClr val="F0F4F8"/>
                </a:solidFill>
                <a:latin typeface="Arial"/>
              </a:rPr>
              <a:t>🔗</a:t>
            </a:r>
          </a:p>
        </p:txBody>
      </p:sp>
      <p:sp>
        <p:nvSpPr>
          <p:cNvPr id="12" name="TextBox 11"/>
          <p:cNvSpPr txBox="1"/>
          <p:nvPr/>
        </p:nvSpPr>
        <p:spPr>
          <a:xfrm>
            <a:off x="2011680" y="3493008"/>
            <a:ext cx="8961120" cy="457200"/>
          </a:xfrm>
          <a:prstGeom prst="rect">
            <a:avLst/>
          </a:prstGeom>
          <a:noFill/>
        </p:spPr>
        <p:txBody>
          <a:bodyPr wrap="square" anchor="t" lIns="0" rIns="0" tIns="0" bIns="0">
            <a:spAutoFit/>
          </a:bodyPr>
          <a:lstStyle/>
          <a:p>
            <a:pPr algn="l">
              <a:lnSpc>
                <a:spcPct val="100000"/>
              </a:lnSpc>
            </a:pPr>
            <a:r>
              <a:rPr sz="1800" b="1">
                <a:solidFill>
                  <a:srgbClr val="00D4FF"/>
                </a:solidFill>
                <a:latin typeface="Arial"/>
              </a:rPr>
              <a:t>Kintoneスケジュール連携</a:t>
            </a:r>
          </a:p>
        </p:txBody>
      </p:sp>
      <p:sp>
        <p:nvSpPr>
          <p:cNvPr id="13" name="TextBox 12"/>
          <p:cNvSpPr txBox="1"/>
          <p:nvPr/>
        </p:nvSpPr>
        <p:spPr>
          <a:xfrm>
            <a:off x="2011680" y="3950208"/>
            <a:ext cx="8961120" cy="457200"/>
          </a:xfrm>
          <a:prstGeom prst="rect">
            <a:avLst/>
          </a:prstGeom>
          <a:noFill/>
        </p:spPr>
        <p:txBody>
          <a:bodyPr wrap="square" anchor="t" lIns="0" rIns="0" tIns="0" bIns="0">
            <a:spAutoFit/>
          </a:bodyPr>
          <a:lstStyle/>
          <a:p>
            <a:pPr algn="l">
              <a:lnSpc>
                <a:spcPct val="100000"/>
              </a:lnSpc>
            </a:pPr>
            <a:r>
              <a:rPr sz="1300" b="0">
                <a:solidFill>
                  <a:srgbClr val="8899AA"/>
                </a:solidFill>
                <a:latin typeface="Arial"/>
              </a:rPr>
              <a:t>予定の双方向同期。技術的に実現可能なことを確認済み。</a:t>
            </a:r>
          </a:p>
        </p:txBody>
      </p:sp>
      <p:sp>
        <p:nvSpPr>
          <p:cNvPr id="14" name="Rounded Rectangle 13"/>
          <p:cNvSpPr/>
          <p:nvPr/>
        </p:nvSpPr>
        <p:spPr>
          <a:xfrm>
            <a:off x="822960" y="4663440"/>
            <a:ext cx="10515600" cy="123444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3000" y="4983479"/>
            <a:ext cx="594360" cy="594360"/>
          </a:xfrm>
          <a:prstGeom prst="ellipse">
            <a:avLst/>
          </a:prstGeom>
          <a:solidFill>
            <a:srgbClr val="212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001768"/>
            <a:ext cx="594360" cy="548640"/>
          </a:xfrm>
          <a:prstGeom prst="rect">
            <a:avLst/>
          </a:prstGeom>
          <a:noFill/>
        </p:spPr>
        <p:txBody>
          <a:bodyPr wrap="square" anchor="ctr" lIns="0" rIns="0" tIns="0" bIns="0">
            <a:spAutoFit/>
          </a:bodyPr>
          <a:lstStyle/>
          <a:p>
            <a:pPr algn="ctr">
              <a:lnSpc>
                <a:spcPct val="100000"/>
              </a:lnSpc>
            </a:pPr>
            <a:r>
              <a:rPr sz="2200" b="0">
                <a:solidFill>
                  <a:srgbClr val="F0F4F8"/>
                </a:solidFill>
                <a:latin typeface="Arial"/>
              </a:rPr>
              <a:t>📈</a:t>
            </a:r>
          </a:p>
        </p:txBody>
      </p:sp>
      <p:sp>
        <p:nvSpPr>
          <p:cNvPr id="17" name="TextBox 16"/>
          <p:cNvSpPr txBox="1"/>
          <p:nvPr/>
        </p:nvSpPr>
        <p:spPr>
          <a:xfrm>
            <a:off x="2011680" y="4864607"/>
            <a:ext cx="8961120" cy="457200"/>
          </a:xfrm>
          <a:prstGeom prst="rect">
            <a:avLst/>
          </a:prstGeom>
          <a:noFill/>
        </p:spPr>
        <p:txBody>
          <a:bodyPr wrap="square" anchor="t" lIns="0" rIns="0" tIns="0" bIns="0">
            <a:spAutoFit/>
          </a:bodyPr>
          <a:lstStyle/>
          <a:p>
            <a:pPr algn="l">
              <a:lnSpc>
                <a:spcPct val="100000"/>
              </a:lnSpc>
            </a:pPr>
            <a:r>
              <a:rPr sz="1800" b="1">
                <a:solidFill>
                  <a:srgbClr val="00D4FF"/>
                </a:solidFill>
                <a:latin typeface="Arial"/>
              </a:rPr>
              <a:t>紹介経路の分析</a:t>
            </a:r>
          </a:p>
        </p:txBody>
      </p:sp>
      <p:sp>
        <p:nvSpPr>
          <p:cNvPr id="18" name="TextBox 17"/>
          <p:cNvSpPr txBox="1"/>
          <p:nvPr/>
        </p:nvSpPr>
        <p:spPr>
          <a:xfrm>
            <a:off x="2011680" y="5321807"/>
            <a:ext cx="8961120" cy="457200"/>
          </a:xfrm>
          <a:prstGeom prst="rect">
            <a:avLst/>
          </a:prstGeom>
          <a:noFill/>
        </p:spPr>
        <p:txBody>
          <a:bodyPr wrap="square" anchor="t" lIns="0" rIns="0" tIns="0" bIns="0">
            <a:spAutoFit/>
          </a:bodyPr>
          <a:lstStyle/>
          <a:p>
            <a:pPr algn="l">
              <a:lnSpc>
                <a:spcPct val="100000"/>
              </a:lnSpc>
            </a:pPr>
            <a:r>
              <a:rPr sz="1300" b="0">
                <a:solidFill>
                  <a:srgbClr val="8899AA"/>
                </a:solidFill>
                <a:latin typeface="Arial"/>
              </a:rPr>
              <a:t>直接 vs 仲介、成約率や貢献度をデータで把握。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0" rIns="0" tIns="0" bIns="0">
            <a:spAutoFit/>
          </a:bodyPr>
          <a:lstStyle/>
          <a:p>
            <a:pPr algn="l">
              <a:lnSpc>
                <a:spcPct val="100000"/>
              </a:lnSpc>
            </a:pPr>
            <a:r>
              <a:rPr sz="3400" b="1">
                <a:solidFill>
                  <a:srgbClr val="F0F4F8"/>
                </a:solidFill>
                <a:latin typeface="Arial Black"/>
              </a:rPr>
              <a:t>期待される効果</a:t>
            </a:r>
          </a:p>
        </p:txBody>
      </p:sp>
      <p:sp>
        <p:nvSpPr>
          <p:cNvPr id="4" name="Rounded Rectangle 3"/>
          <p:cNvSpPr/>
          <p:nvPr/>
        </p:nvSpPr>
        <p:spPr>
          <a:xfrm>
            <a:off x="822960" y="1920240"/>
            <a:ext cx="10515600" cy="11887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286000"/>
            <a:ext cx="457200" cy="457200"/>
          </a:xfrm>
          <a:prstGeom prst="ellipse">
            <a:avLst/>
          </a:prstGeom>
          <a:solidFill>
            <a:srgbClr val="00C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61872" y="2304288"/>
            <a:ext cx="457200" cy="420624"/>
          </a:xfrm>
          <a:prstGeom prst="rect">
            <a:avLst/>
          </a:prstGeom>
          <a:noFill/>
        </p:spPr>
        <p:txBody>
          <a:bodyPr wrap="square" anchor="ctr" lIns="0" rIns="0" tIns="0" bIns="0">
            <a:spAutoFit/>
          </a:bodyPr>
          <a:lstStyle/>
          <a:p>
            <a:pPr algn="ctr">
              <a:lnSpc>
                <a:spcPct val="100000"/>
              </a:lnSpc>
            </a:pPr>
            <a:r>
              <a:rPr sz="1800" b="1">
                <a:solidFill>
                  <a:srgbClr val="0F1923"/>
                </a:solidFill>
                <a:latin typeface="Arial"/>
              </a:rPr>
              <a:t>✓</a:t>
            </a:r>
          </a:p>
        </p:txBody>
      </p:sp>
      <p:sp>
        <p:nvSpPr>
          <p:cNvPr id="7" name="TextBox 6"/>
          <p:cNvSpPr txBox="1"/>
          <p:nvPr/>
        </p:nvSpPr>
        <p:spPr>
          <a:xfrm>
            <a:off x="2011680" y="2148840"/>
            <a:ext cx="8961120" cy="457200"/>
          </a:xfrm>
          <a:prstGeom prst="rect">
            <a:avLst/>
          </a:prstGeom>
          <a:noFill/>
        </p:spPr>
        <p:txBody>
          <a:bodyPr wrap="square" anchor="t" lIns="0" rIns="0" tIns="0" bIns="0">
            <a:spAutoFit/>
          </a:bodyPr>
          <a:lstStyle/>
          <a:p>
            <a:pPr algn="l">
              <a:lnSpc>
                <a:spcPct val="100000"/>
              </a:lnSpc>
            </a:pPr>
            <a:r>
              <a:rPr sz="1900" b="1">
                <a:solidFill>
                  <a:srgbClr val="F0F4F8"/>
                </a:solidFill>
                <a:latin typeface="Arial"/>
              </a:rPr>
              <a:t>フォロー漏れの削減</a:t>
            </a:r>
          </a:p>
        </p:txBody>
      </p:sp>
      <p:sp>
        <p:nvSpPr>
          <p:cNvPr id="8" name="TextBox 7"/>
          <p:cNvSpPr txBox="1"/>
          <p:nvPr/>
        </p:nvSpPr>
        <p:spPr>
          <a:xfrm>
            <a:off x="2011680" y="2606040"/>
            <a:ext cx="8961120" cy="411480"/>
          </a:xfrm>
          <a:prstGeom prst="rect">
            <a:avLst/>
          </a:prstGeom>
          <a:noFill/>
        </p:spPr>
        <p:txBody>
          <a:bodyPr wrap="square" anchor="t" lIns="0" rIns="0" tIns="0" bIns="0">
            <a:spAutoFit/>
          </a:bodyPr>
          <a:lstStyle/>
          <a:p>
            <a:pPr algn="l">
              <a:lnSpc>
                <a:spcPct val="100000"/>
              </a:lnSpc>
            </a:pPr>
            <a:r>
              <a:rPr sz="1400" b="0">
                <a:solidFill>
                  <a:srgbClr val="8899AA"/>
                </a:solidFill>
                <a:latin typeface="Arial"/>
              </a:rPr>
              <a:t>放置されている相手が自動で可視化され、機会損失を防ぐ。</a:t>
            </a:r>
          </a:p>
        </p:txBody>
      </p:sp>
      <p:sp>
        <p:nvSpPr>
          <p:cNvPr id="9" name="Rounded Rectangle 8"/>
          <p:cNvSpPr/>
          <p:nvPr/>
        </p:nvSpPr>
        <p:spPr>
          <a:xfrm>
            <a:off x="822960" y="3291840"/>
            <a:ext cx="10515600" cy="11887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88720" y="3657600"/>
            <a:ext cx="457200" cy="457200"/>
          </a:xfrm>
          <a:prstGeom prst="ellipse">
            <a:avLst/>
          </a:prstGeom>
          <a:solidFill>
            <a:srgbClr val="00C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1872" y="3675888"/>
            <a:ext cx="457200" cy="420624"/>
          </a:xfrm>
          <a:prstGeom prst="rect">
            <a:avLst/>
          </a:prstGeom>
          <a:noFill/>
        </p:spPr>
        <p:txBody>
          <a:bodyPr wrap="square" anchor="ctr" lIns="0" rIns="0" tIns="0" bIns="0">
            <a:spAutoFit/>
          </a:bodyPr>
          <a:lstStyle/>
          <a:p>
            <a:pPr algn="ctr">
              <a:lnSpc>
                <a:spcPct val="100000"/>
              </a:lnSpc>
            </a:pPr>
            <a:r>
              <a:rPr sz="1800" b="1">
                <a:solidFill>
                  <a:srgbClr val="0F1923"/>
                </a:solidFill>
                <a:latin typeface="Arial"/>
              </a:rPr>
              <a:t>✓</a:t>
            </a:r>
          </a:p>
        </p:txBody>
      </p:sp>
      <p:sp>
        <p:nvSpPr>
          <p:cNvPr id="12" name="TextBox 11"/>
          <p:cNvSpPr txBox="1"/>
          <p:nvPr/>
        </p:nvSpPr>
        <p:spPr>
          <a:xfrm>
            <a:off x="2011680" y="3520440"/>
            <a:ext cx="8961120" cy="457200"/>
          </a:xfrm>
          <a:prstGeom prst="rect">
            <a:avLst/>
          </a:prstGeom>
          <a:noFill/>
        </p:spPr>
        <p:txBody>
          <a:bodyPr wrap="square" anchor="t" lIns="0" rIns="0" tIns="0" bIns="0">
            <a:spAutoFit/>
          </a:bodyPr>
          <a:lstStyle/>
          <a:p>
            <a:pPr algn="l">
              <a:lnSpc>
                <a:spcPct val="100000"/>
              </a:lnSpc>
            </a:pPr>
            <a:r>
              <a:rPr sz="1900" b="1">
                <a:solidFill>
                  <a:srgbClr val="F0F4F8"/>
                </a:solidFill>
                <a:latin typeface="Arial"/>
              </a:rPr>
              <a:t>抜け漏れの早期発見</a:t>
            </a:r>
          </a:p>
        </p:txBody>
      </p:sp>
      <p:sp>
        <p:nvSpPr>
          <p:cNvPr id="13" name="TextBox 12"/>
          <p:cNvSpPr txBox="1"/>
          <p:nvPr/>
        </p:nvSpPr>
        <p:spPr>
          <a:xfrm>
            <a:off x="2011680" y="3977639"/>
            <a:ext cx="8961120" cy="411480"/>
          </a:xfrm>
          <a:prstGeom prst="rect">
            <a:avLst/>
          </a:prstGeom>
          <a:noFill/>
        </p:spPr>
        <p:txBody>
          <a:bodyPr wrap="square" anchor="t" lIns="0" rIns="0" tIns="0" bIns="0">
            <a:spAutoFit/>
          </a:bodyPr>
          <a:lstStyle/>
          <a:p>
            <a:pPr algn="l">
              <a:lnSpc>
                <a:spcPct val="100000"/>
              </a:lnSpc>
            </a:pPr>
            <a:r>
              <a:rPr sz="1400" b="0">
                <a:solidFill>
                  <a:srgbClr val="8899AA"/>
                </a:solidFill>
                <a:latin typeface="Arial"/>
              </a:rPr>
              <a:t>『誰がフォローできていないか』が一目で分かる。</a:t>
            </a:r>
          </a:p>
        </p:txBody>
      </p:sp>
      <p:sp>
        <p:nvSpPr>
          <p:cNvPr id="14" name="Rounded Rectangle 13"/>
          <p:cNvSpPr/>
          <p:nvPr/>
        </p:nvSpPr>
        <p:spPr>
          <a:xfrm>
            <a:off x="822960" y="4663440"/>
            <a:ext cx="10515600" cy="118872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5029200"/>
            <a:ext cx="457200" cy="457200"/>
          </a:xfrm>
          <a:prstGeom prst="ellipse">
            <a:avLst/>
          </a:prstGeom>
          <a:solidFill>
            <a:srgbClr val="00C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 y="5047488"/>
            <a:ext cx="457200" cy="420624"/>
          </a:xfrm>
          <a:prstGeom prst="rect">
            <a:avLst/>
          </a:prstGeom>
          <a:noFill/>
        </p:spPr>
        <p:txBody>
          <a:bodyPr wrap="square" anchor="ctr" lIns="0" rIns="0" tIns="0" bIns="0">
            <a:spAutoFit/>
          </a:bodyPr>
          <a:lstStyle/>
          <a:p>
            <a:pPr algn="ctr">
              <a:lnSpc>
                <a:spcPct val="100000"/>
              </a:lnSpc>
            </a:pPr>
            <a:r>
              <a:rPr sz="1800" b="1">
                <a:solidFill>
                  <a:srgbClr val="0F1923"/>
                </a:solidFill>
                <a:latin typeface="Arial"/>
              </a:rPr>
              <a:t>✓</a:t>
            </a:r>
          </a:p>
        </p:txBody>
      </p:sp>
      <p:sp>
        <p:nvSpPr>
          <p:cNvPr id="17" name="TextBox 16"/>
          <p:cNvSpPr txBox="1"/>
          <p:nvPr/>
        </p:nvSpPr>
        <p:spPr>
          <a:xfrm>
            <a:off x="2011680" y="4892040"/>
            <a:ext cx="8961120" cy="457200"/>
          </a:xfrm>
          <a:prstGeom prst="rect">
            <a:avLst/>
          </a:prstGeom>
          <a:noFill/>
        </p:spPr>
        <p:txBody>
          <a:bodyPr wrap="square" anchor="t" lIns="0" rIns="0" tIns="0" bIns="0">
            <a:spAutoFit/>
          </a:bodyPr>
          <a:lstStyle/>
          <a:p>
            <a:pPr algn="l">
              <a:lnSpc>
                <a:spcPct val="100000"/>
              </a:lnSpc>
            </a:pPr>
            <a:r>
              <a:rPr sz="1900" b="1">
                <a:solidFill>
                  <a:srgbClr val="F0F4F8"/>
                </a:solidFill>
                <a:latin typeface="Arial"/>
              </a:rPr>
              <a:t>準備・引き継ぎの効率化</a:t>
            </a:r>
          </a:p>
        </p:txBody>
      </p:sp>
      <p:sp>
        <p:nvSpPr>
          <p:cNvPr id="18" name="TextBox 17"/>
          <p:cNvSpPr txBox="1"/>
          <p:nvPr/>
        </p:nvSpPr>
        <p:spPr>
          <a:xfrm>
            <a:off x="2011680" y="5349240"/>
            <a:ext cx="8961120" cy="411480"/>
          </a:xfrm>
          <a:prstGeom prst="rect">
            <a:avLst/>
          </a:prstGeom>
          <a:noFill/>
        </p:spPr>
        <p:txBody>
          <a:bodyPr wrap="square" anchor="t" lIns="0" rIns="0" tIns="0" bIns="0">
            <a:spAutoFit/>
          </a:bodyPr>
          <a:lstStyle/>
          <a:p>
            <a:pPr algn="l">
              <a:lnSpc>
                <a:spcPct val="100000"/>
              </a:lnSpc>
            </a:pPr>
            <a:r>
              <a:rPr sz="1400" b="0">
                <a:solidFill>
                  <a:srgbClr val="8899AA"/>
                </a:solidFill>
                <a:latin typeface="Arial"/>
              </a:rPr>
              <a:t>訪問前・引き継ぎ時に履歴がすべて揃っている。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19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058400" cy="640080"/>
          </a:xfrm>
          <a:prstGeom prst="rect">
            <a:avLst/>
          </a:prstGeom>
          <a:noFill/>
        </p:spPr>
        <p:txBody>
          <a:bodyPr wrap="square" anchor="t" lIns="0" rIns="0" tIns="0" bIns="0">
            <a:spAutoFit/>
          </a:bodyPr>
          <a:lstStyle/>
          <a:p>
            <a:pPr algn="l">
              <a:lnSpc>
                <a:spcPct val="100000"/>
              </a:lnSpc>
            </a:pPr>
            <a:r>
              <a:rPr sz="3600" b="1">
                <a:solidFill>
                  <a:srgbClr val="F0F4F8"/>
                </a:solidFill>
                <a:latin typeface="Arial Black"/>
              </a:rPr>
              <a:t>ご依頼事項</a:t>
            </a:r>
          </a:p>
        </p:txBody>
      </p:sp>
      <p:sp>
        <p:nvSpPr>
          <p:cNvPr id="6" name="Rounded Rectangle 5"/>
          <p:cNvSpPr/>
          <p:nvPr/>
        </p:nvSpPr>
        <p:spPr>
          <a:xfrm>
            <a:off x="914400" y="2377440"/>
            <a:ext cx="10332720" cy="137160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80160" y="2788920"/>
            <a:ext cx="548640" cy="54864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807208"/>
            <a:ext cx="548640" cy="512064"/>
          </a:xfrm>
          <a:prstGeom prst="rect">
            <a:avLst/>
          </a:prstGeom>
          <a:noFill/>
        </p:spPr>
        <p:txBody>
          <a:bodyPr wrap="square" anchor="ctr" lIns="0" rIns="0" tIns="0" bIns="0">
            <a:spAutoFit/>
          </a:bodyPr>
          <a:lstStyle/>
          <a:p>
            <a:pPr algn="ctr">
              <a:lnSpc>
                <a:spcPct val="100000"/>
              </a:lnSpc>
            </a:pPr>
            <a:r>
              <a:rPr sz="2200" b="1">
                <a:solidFill>
                  <a:srgbClr val="0F1923"/>
                </a:solidFill>
                <a:latin typeface="Arial Black"/>
              </a:rPr>
              <a:t>1</a:t>
            </a:r>
          </a:p>
        </p:txBody>
      </p:sp>
      <p:sp>
        <p:nvSpPr>
          <p:cNvPr id="9" name="TextBox 8"/>
          <p:cNvSpPr txBox="1"/>
          <p:nvPr/>
        </p:nvSpPr>
        <p:spPr>
          <a:xfrm>
            <a:off x="2103120" y="2606040"/>
            <a:ext cx="8778240" cy="914400"/>
          </a:xfrm>
          <a:prstGeom prst="rect">
            <a:avLst/>
          </a:prstGeom>
          <a:noFill/>
        </p:spPr>
        <p:txBody>
          <a:bodyPr wrap="square" anchor="t" lIns="0" rIns="0" tIns="0" bIns="0">
            <a:spAutoFit/>
          </a:bodyPr>
          <a:lstStyle/>
          <a:p>
            <a:pPr algn="l">
              <a:lnSpc>
                <a:spcPct val="130000"/>
              </a:lnSpc>
            </a:pPr>
            <a:r>
              <a:rPr sz="2000" b="1">
                <a:solidFill>
                  <a:srgbClr val="F0F4F8"/>
                </a:solidFill>
                <a:latin typeface="Arial"/>
              </a:rPr>
              <a:t>営業チームへの展開可否のご判断</a:t>
            </a:r>
          </a:p>
          <a:p>
            <a:pPr algn="l">
              <a:lnSpc>
                <a:spcPct val="130000"/>
              </a:lnSpc>
            </a:pPr>
            <a:r>
              <a:rPr sz="1300" b="0">
                <a:solidFill>
                  <a:srgbClr val="8899AA"/>
                </a:solidFill>
                <a:latin typeface="Arial"/>
              </a:rPr>
              <a:t>テスト版の動作・効果をご確認のうえ、本番展開へ進めるか。</a:t>
            </a:r>
          </a:p>
        </p:txBody>
      </p:sp>
      <p:sp>
        <p:nvSpPr>
          <p:cNvPr id="10" name="Rounded Rectangle 9"/>
          <p:cNvSpPr/>
          <p:nvPr/>
        </p:nvSpPr>
        <p:spPr>
          <a:xfrm>
            <a:off x="914400" y="3977639"/>
            <a:ext cx="10332720" cy="1371600"/>
          </a:xfrm>
          <a:prstGeom prst="roundRect">
            <a:avLst/>
          </a:prstGeom>
          <a:solidFill>
            <a:srgbClr val="1A2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80160" y="4389120"/>
            <a:ext cx="548640" cy="548640"/>
          </a:xfrm>
          <a:prstGeom prst="ellipse">
            <a:avLst/>
          </a:prstGeom>
          <a:solidFill>
            <a:srgbClr val="00C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4407408"/>
            <a:ext cx="548640" cy="512064"/>
          </a:xfrm>
          <a:prstGeom prst="rect">
            <a:avLst/>
          </a:prstGeom>
          <a:noFill/>
        </p:spPr>
        <p:txBody>
          <a:bodyPr wrap="square" anchor="ctr" lIns="0" rIns="0" tIns="0" bIns="0">
            <a:spAutoFit/>
          </a:bodyPr>
          <a:lstStyle/>
          <a:p>
            <a:pPr algn="ctr">
              <a:lnSpc>
                <a:spcPct val="100000"/>
              </a:lnSpc>
            </a:pPr>
            <a:r>
              <a:rPr sz="2200" b="1">
                <a:solidFill>
                  <a:srgbClr val="0F1923"/>
                </a:solidFill>
                <a:latin typeface="Arial Black"/>
              </a:rPr>
              <a:t>2</a:t>
            </a:r>
          </a:p>
        </p:txBody>
      </p:sp>
      <p:sp>
        <p:nvSpPr>
          <p:cNvPr id="13" name="TextBox 12"/>
          <p:cNvSpPr txBox="1"/>
          <p:nvPr/>
        </p:nvSpPr>
        <p:spPr>
          <a:xfrm>
            <a:off x="2103120" y="4206240"/>
            <a:ext cx="8778240" cy="914400"/>
          </a:xfrm>
          <a:prstGeom prst="rect">
            <a:avLst/>
          </a:prstGeom>
          <a:noFill/>
        </p:spPr>
        <p:txBody>
          <a:bodyPr wrap="square" anchor="t" lIns="0" rIns="0" tIns="0" bIns="0">
            <a:spAutoFit/>
          </a:bodyPr>
          <a:lstStyle/>
          <a:p>
            <a:pPr algn="l">
              <a:lnSpc>
                <a:spcPct val="130000"/>
              </a:lnSpc>
            </a:pPr>
            <a:r>
              <a:rPr sz="2000" b="1">
                <a:solidFill>
                  <a:srgbClr val="F0F4F8"/>
                </a:solidFill>
                <a:latin typeface="Arial"/>
              </a:rPr>
              <a:t>Power Apps ライセンス追加のご承認</a:t>
            </a:r>
          </a:p>
          <a:p>
            <a:pPr algn="l">
              <a:lnSpc>
                <a:spcPct val="130000"/>
              </a:lnSpc>
            </a:pPr>
            <a:r>
              <a:rPr sz="1300" b="0">
                <a:solidFill>
                  <a:srgbClr val="8899AA"/>
                </a:solidFill>
                <a:latin typeface="Arial"/>
              </a:rPr>
              <a:t>営業人数分（例：3名で約2,250円/月）。</a:t>
            </a:r>
          </a:p>
        </p:txBody>
      </p:sp>
      <p:sp>
        <p:nvSpPr>
          <p:cNvPr id="14" name="TextBox 13"/>
          <p:cNvSpPr txBox="1"/>
          <p:nvPr/>
        </p:nvSpPr>
        <p:spPr>
          <a:xfrm>
            <a:off x="914400" y="5852160"/>
            <a:ext cx="10058400" cy="457200"/>
          </a:xfrm>
          <a:prstGeom prst="rect">
            <a:avLst/>
          </a:prstGeom>
          <a:noFill/>
        </p:spPr>
        <p:txBody>
          <a:bodyPr wrap="square" anchor="t" lIns="0" rIns="0" tIns="0" bIns="0">
            <a:spAutoFit/>
          </a:bodyPr>
          <a:lstStyle/>
          <a:p>
            <a:pPr algn="l">
              <a:lnSpc>
                <a:spcPct val="100000"/>
              </a:lnSpc>
            </a:pPr>
            <a:r>
              <a:rPr sz="1400" b="1">
                <a:solidFill>
                  <a:srgbClr val="8899AA"/>
                </a:solidFill>
                <a:latin typeface="Arial Black"/>
              </a:rPr>
              <a:t>TRACE — </a:t>
            </a:r>
            <a:r>
              <a:rPr sz="1400" b="1">
                <a:solidFill>
                  <a:srgbClr val="00D4FF"/>
                </a:solidFill>
                <a:latin typeface="Arial"/>
              </a:rPr>
              <a:t>会ったはずの相手を、忘れない。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